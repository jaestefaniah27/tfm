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67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Soy Jorge Estefanía y presento mi TFM: el desarrollo de una plataforma de comunicación con periféricos sobre MPSoC para ordenadores de a bordo de satélite, realizado en el B105 Electronic Systems Lab dentro del proyecto LINCE. (~15 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recorrido: contexto y objetivos; el firmware, que es el grueso del trabajo; el hardware, con las tres placas; los resultados; y las conclusiones. (~10 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Empiezo por el contexto: dónde encaja este trabajo y qué se le pide. (~10 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trabajo se enmarca en LINCE, iniciativa del PERTE Aeroespacial liderada por Indra para microsatélites LEO de 100 a 200 kg, con la constelación demostradora STARTICAL. Sener aporta el firmware del OBC y traslada los requisitos de Indra; la UPM participa a través del B105, responsable del subsistema de comunicaciones del ordenador de a bordo, que es el ámbito de este trabajo. El enfoque es NewSpace: componentes comerciales COTS en lugar de rad-hard, mucho más caros, y la radiación se mitiga con redundancia. (~35 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OBC habla con propulsores, cámaras, seguidores de estrellas y sensores térmicos por enlaces serie. LINCE exige catorce simultáneos, cada uno con sus propios parámetros. El MPSoC trae dos UART nativas en el procesador, así que para catorce se queda corto: hay que construirlas en la lógica programable. Y el reparto de recursos tiene que minimizar área de FPGA y carga de CPU sin penalizar el rendimiento. (~30 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núcleos ARM y una matriz de lógica programable en el mismo chip. Los conectores FMC de la izquierda exponen los pines de la FPGA: por ahí entran las placas. (~15 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ahí salen seis objetivos específicos. Uno: un transceptor serie en VHDL configurable en tiempo de ejecución. Dos: estudiar e implementar la arquitectura de transporte de datos entre procesador y lógica programable. Tres: el driver en C sobre RTEMS 7 con una API pública sencilla. Cuatro: la placa de comunicación serie para ejercitar los catorce transceptores. Cinco: las placas CDHS y AOCS bajo especificación de Indra. Y seis: integrar y validar el conjunto. (~30 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plataforma completa. A la izquierda, el sistema de procesamiento con RTEMS 7 y la lógica programable: los catorce transceptores y el bloque de transporte, donde se implementaron las tres arquitecturas A, B y C; la C, MCDMA con puente VHDL, es la solución final. Todo sale por el conector FMC a 1,8 voltios hacia las tres placas de expansión, una cada vez. En azul, lo que es diseño propio; en verde, software y hardware externo. Los números son los seis objetivos. (~35 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al firmware, que es el grueso del trabajo. (~10 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Primer bloque de firmware: el transceptor serie en VHDL. Como el dispositivo final es desconocido a priori, se diseñó configurable: todo el formato de trama se cambia en ejecución sin resintetizar. La temporización de bit no sale de un divisor entero del reloj, así que se usa un oscilador controlado numéricamente: un acumulador de 32 bits con el incremento tabulado por baudrate, y cada desbordamiento es un tick. Uno para transmisión y otro para recepción. (~30 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Nada se integró sin verificarlo aislado antes. El NCO se midió velocidad a velocidad: 29 velocidades por dos modos, 58 medidas. El peor error es de 120 partes por millón a 3,6864 megabaudios, dos órdenes de magnitud por debajo de la tolerancia habitual del ±2 % de un UART. El canal completo se barrió entero: cinco anchuras por dos órdenes por tres configuraciones de parada por cinco de paridad son 150 configuraciones, tres tramas cada una, 450 tramas comparadas dato a dato, todas correctas. (~35 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Conviene decir qué es RTEMS, porque condiciona el diseño. Sistema operativo de tiempo real, estándar de facto en la industria aeroespacial. Lo que importa: no tiene memoria virtual, así que la latencia de interrupción es baja y determinista. El precio es que no hay driver hecho para periféricos propios. (~20 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lado del procesador, el driver en C sobre RTEMS 7. La API pública son seis funciones y abstrae por completo del hardware. Dos decisiones de diseño. Primera: no hay ninguna dirección fija en el código, se descubren en arranque, así que el mismo binario sirve de uno a catorce canales. Segunda: procesado diferido, la rutina de interrupción delega en una tarea worker y la latencia no depende del volumen de datos. (~30 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catorce canales, lo que limita el rendimiento es el camino de los bytes entre memoria y FPGA. Una interrupción cuesta microsegundos, y ese coste no depende de los bytes que mueva. Interrumpiendo una vez por byte aparece un umbral de saturación, y con catorce enlaces llega catorce veces antes. La salida es interrumpir por paquete: DMA. (~25 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lugar de elegir sobre el papel, se implementaron las tres completas y se midieron con el mismo programa. Las veo una a una en las próximas diapositivas. (~10 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A es la de partida: un AXI GPIO por canal, y el procesador leyendo y escribiendo esos registros por AXI-Lite. Aquí no hay ningún maestro que toque la memoria: el dato pasa siempre por la CPU. Es la más ligera, cuatrocientas sesenta LUT por canal, pero el defecto es estructural: mil doscientas cincuenta interrupciones por kilobyte, y se queda en el treinta por ciento del techo. (~30 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 saca a la CPU del camino de datos con un motor DMA por canal. Funciona, pero replicarlo catorce veces cuesta casi siete veces la huella de GPIO. Y hay un límite duro: cada DMA expone dos líneas de interrupción, catorce son veintiocho, y el procesador ofrece ocho. (~20 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variante C comparte un único motor multicanal entre los catorce canales, y entre el motor y los transceptores va un puente en VHDL de diseño propio. Es la única variante con lógica propia en lugar de solo IP de terceros. Sale por mil catorce LUT por canal, menos de la mitad que la B, tres líneas de interrupción de las ocho disponibles y tres interrupciones por kilobyte. Es la que se adopta. (~30 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reparto es asimétrico por una razón física. En transmisión basta un canal: el destino viaja en el dato, en una cabecera de dos bytes. En recepción hacen falta catorce, porque cada UART habla cuando quiere. Quien decide el buffer es TDEST; sin esa etiqueta todo cae en el canal cero, que fue el síntoma en placa. (~25 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parte más costosa fue depurar el bus AXI-Stream contra el motor DMA. No hay observabilidad desde software: ni bit de estado, ni interrupción, ni descriptor marcado; el motor deja de aceptar datos y el canal enmudece. Hubo que reproducirlo en simulación con contrapresión y ráfagas solapadas. De ahí salieron los dos invariantes estructurales que veis aquí, y los dos nacen de la misma causa: el motor de recepción trabaja en store-and-forward sobre un buffer de 512 bytes. Con las correcciones, la batería en placa pasó de 0 de 36 a 36 de 36. (~40 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Segundo bloque: el hardware del banco. (~10 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al hardware. Se diseñaron y fabricaron tres placas de expansión de la ZCU102 en Altium: la placa de comunicación serie, con los catorce transceptores, que es la de diseño libre; y las placas CDHS y AOCS, bajo especificación de Indra. Las reglas de diseño se ciñeron a las capacidades de PCBWay, el fabricante, en lugar de usar un conjunto propio: eso garantizó fabricabilidad a coste ordinario en primera tirada, como así fue. (~30 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Catorce transceptores LTC2865. Cada driver tiene un conector Dupont de tres pines, y un jumper entre dos consecutivos une sus líneas A y B: eso reparte los siete drivers RS485 en cualquier combinación de buses sin tocar firmware ni cableado. (~15 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Montaje en el laboratorio: stencil, pasta, pinzas y horno de reflujo. Seis unidades, dos de cada diseño, sin retrabajos. (~10 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selección quedó condicionada por una restricción: los bancos del FMC operan a 1,8 voltios. Busqué herencia de vuelo en catálogo y el resultado fue cero: los que la tienen son de generación anterior, a 3,3 o 5 voltios. Se recurrió a grado automotriz. En la memoria se declara explícitamente: hardware de validación funcional, no modelo de vuelo. (~25 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Hubo que fabricar los arneses: RS422 cruza transmisión con recepción, RS485 va entre drivers y el de CAN cruza el bus nominal con el redundante. Cierran cada bus sobre sí mismo para medir sobre cobre real. (~15 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 los resultados, que es donde están las medidas. (~10 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banco completo, con la placa CDHS sobre el FMC. Solo cabe una placa de expansión a la vez, así que la validación se hizo placa por placa. (~10 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Validación interfaz por interfaz. Las series, con consola y arneses de loopback: el descubrimiento automático encontró los transceptores y todos los loopbacks fueron correctos. El CAN, con la batería del driver CANps del TFG de Diego Ramos: veintiséis de veintiséis. El ADC responde lineal y el PWM es correcto. Queda SpaceWire sin validar, y lo digo explícitamente. (~25 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Arriba, sin terminar: las reflexiones deforman cada flanco. Abajo, con los sesenta más sesenta ohmios, la señal queda limpia. Cada resistencia lleva su jumper, así que se puede ensayar el bus terminado en un extremo, en los dos o en ninguno. (~20 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cuatro canales de calentadores, a diez, cinco y un kilohercio y a cien hercios. En AOCS el control de motores alterna el sentido de giro. Aquí se detectó el error del eje Z, que era de placa y no de firmware. (~20 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montaje de la campaña eléctrica: los catorce transceptores a la vez, con los jumpers formando tres buses. El A, RS485 de siete nodos; el B y el C, RS422 en estrella. (~15 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Caracterización eléctrica de la placa serie: aquí la señal atraviesa cobre real y vuelve, con los catorce transceptores a la vez. Nueve tests y cero fallos de transmisión en toda la campaña: cero bytes espurios en reposo, cero fugas entre buses, guard time mínimo de cero microsegundos, recuperación limpia tras colisión, y tras diez segundos de tráfico continuo el BER es nulo en los dos buses RS422. (~30 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 este es el hallazgo de la campaña. El LTC2865 trae un limitador de slew rate que viene activo por defecto y limita a 250 kbps nominales. Con él activo, el bus multipunto saturaba en 460 kbaudios y los dos punto a punto en 1 Mbaudio. Desactivándolo desde el MPSoC con el bit SLO, sin tocar el cobre ni la lógica, los tres buses van limpios a 4 megabaudios con BER nulo. Un bit de configuración cuadruplicaba el techo de la placa. (~35 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 limitador, la transición dura decenas de nanosegundos; con él, cerca de un cuarto de microsegundo. Fijaos en las bases de tiempo: veinte nanosegundos por división a la izquierda, cien a la derecha. (~15 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buses se cierran dentro de la FPGA, así que esto mide el transporte y no la capa física. Es la gráfica clave: GPIO se satura. Multiplicar por treinta y cinco la velocidad de línea solo le da un cuarenta y uno por ciento más de caudal, porque el cuello de botella es la CPU. MCDMA escala lineal: setenta veces más en el mismo punto. (~30 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 la explicación de todo lo anterior está en una sola cifra: 1.250 interrupciones por kilobyte frente a 3. En GPIO, las interrupciones de transmisión igualan exactamente a los bytes transmitidos: la CPU toca cada byte. Cuatrocientas veces menos interrupciones es lo que explica la latencia, el 99 % del techo y la escalabilidad. (~25 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decisión no se toma solo por rendimiento. Replicar catorce motores cuesta casi tres veces más lógica que compartir uno. Y endurecer frente a radiación multiplica el área por tres: el cinco por ciento de MCDMA se queda en un dieciséis asumible, y el quince de DMA14 se va al cuarenta y cuatro. (~25 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está el cuadro completo. GPIO queda descartado por CPU. DMA14 resuelve el problema correcto por un camino que no escala. Se adopta MCDMA con puente VHDL: mueve paquetes en lugar de bytes, y las tres se implementaron y midieron sobre la misma ZCU102, así que la elección está respaldada por medidas propias y no por catálogo. (~25 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con las conclusiones. (~10 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seis objetivos se cumplen, con una excepción declarada. La contribución de mayor recorrido es la arquitectura de transporte: tres implementadas y medidas, no elegidas sobre el papel, y la elegida pasa de mil doscientas cincuenta a tres interrupciones por kilobyte. Las tres placas, fabricadas sin retrabajos y caracterizadas. La excepción es SpaceWire, dicha con su motivo. (~25 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Líneas futuras, en orden de esfuerzo creciente. Lo inmediato: invertir el valor por defecto del bit SLO para arrancar ya a cuatro megabaudios, fabricar y probar la revisión V2 de AOCS, y completar la medida de recepción de la variante B. A medio plazo, poner en servicio SpaceWire sobre la capa física que ya está en la placa, colgándolo del transporte MCDMA, que admite canales adicionales sin rediseño. Y a largo plazo, endurecer la plataforma frente a radiación con triple redundancia modular y scrubbing de configuración. (~35 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Quedo a disposición del tribunal para las preguntas. (~10 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partir de aquí, diapositivas de reserva para preguntas. (~10 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RS485: bus compartido, half-duplex sobre dos hilos, control de dirección en software y terminación en los dos extremos. Solo un nodo transmite a la vez, y por eso el bus A satura antes.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RS422: punto a punto, full-duplex sobre cuatro hilos, un transmisor por par. Sin medio compartido ni arbitraje, llega más lejos en velocidad.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Reserva: coste de software por variante y latencia.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Reserva: presupuesto y aspectos energéticos.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8.jpg"/><Relationship Id="rId4" Type="http://schemas.openxmlformats.org/officeDocument/2006/relationships/image" Target="../media/image17.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777240"/>
            <a:ext cx="8412480" cy="365760"/>
          </a:xfrm>
          <a:prstGeom prst="rect">
            <a:avLst/>
          </a:prstGeom>
          <a:noFill/>
        </p:spPr>
        <p:txBody>
          <a:bodyPr wrap="square" lIns="0" tIns="0" rIns="0" bIns="0" anchor="t">
            <a:spAutoFit/>
          </a:bodyPr>
          <a:lstStyle/>
          <a:p>
            <a:pPr algn="l">
              <a:lnSpc>
                <a:spcPct val="108000"/>
              </a:lnSpc>
              <a:spcBef>
                <a:spcPts val="0"/>
              </a:spcBef>
              <a:spcAft>
                <a:spcPts val="0"/>
              </a:spcAft>
            </a:pPr>
            <a:r>
              <a:rPr sz="1300" b="1" i="0">
                <a:solidFill>
                  <a:srgbClr val="9FB6D1"/>
                </a:solidFill>
                <a:latin typeface="Calibri"/>
              </a:rPr>
              <a:t>UNIVERSIDAD POLITÉCNICA DE MADRID  ·  ETSI DE TELECOMUNICACIÓN</a:t>
            </a:r>
          </a:p>
        </p:txBody>
      </p:sp>
      <p:sp>
        <p:nvSpPr>
          <p:cNvPr id="5" name="TextBox 4"/>
          <p:cNvSpPr txBox="1"/>
          <p:nvPr/>
        </p:nvSpPr>
        <p:spPr>
          <a:xfrm>
            <a:off x="960120" y="1115568"/>
            <a:ext cx="8412480" cy="320040"/>
          </a:xfrm>
          <a:prstGeom prst="rect">
            <a:avLst/>
          </a:prstGeom>
          <a:noFill/>
        </p:spPr>
        <p:txBody>
          <a:bodyPr wrap="square" lIns="0" tIns="0" rIns="0" bIns="0" anchor="t">
            <a:spAutoFit/>
          </a:bodyPr>
          <a:lstStyle/>
          <a:p>
            <a:pPr algn="l">
              <a:lnSpc>
                <a:spcPct val="108000"/>
              </a:lnSpc>
              <a:spcBef>
                <a:spcPts val="0"/>
              </a:spcBef>
              <a:spcAft>
                <a:spcPts val="0"/>
              </a:spcAft>
            </a:pPr>
            <a:r>
              <a:rPr sz="1300" b="0" i="0">
                <a:solidFill>
                  <a:srgbClr val="9FB6D1"/>
                </a:solidFill>
                <a:latin typeface="Calibri"/>
              </a:rPr>
              <a:t>Trabajo Fin de Máster  ·  Máster Universitario en Ingeniería de Telecomunicación</a:t>
            </a:r>
          </a:p>
        </p:txBody>
      </p:sp>
      <p:sp>
        <p:nvSpPr>
          <p:cNvPr id="6" name="TextBox 5"/>
          <p:cNvSpPr txBox="1"/>
          <p:nvPr/>
        </p:nvSpPr>
        <p:spPr>
          <a:xfrm>
            <a:off x="960120" y="1874519"/>
            <a:ext cx="9692640" cy="2194560"/>
          </a:xfrm>
          <a:prstGeom prst="rect">
            <a:avLst/>
          </a:prstGeom>
          <a:noFill/>
        </p:spPr>
        <p:txBody>
          <a:bodyPr wrap="square" lIns="0" tIns="0" rIns="0" bIns="0" anchor="t">
            <a:spAutoFit/>
          </a:bodyPr>
          <a:lstStyle/>
          <a:p>
            <a:pPr algn="l">
              <a:lnSpc>
                <a:spcPct val="110000"/>
              </a:lnSpc>
              <a:spcBef>
                <a:spcPts val="0"/>
              </a:spcBef>
              <a:spcAft>
                <a:spcPts val="400"/>
              </a:spcAft>
            </a:pPr>
            <a:r>
              <a:rPr sz="3300" b="1" i="0">
                <a:solidFill>
                  <a:srgbClr val="FFFFFF"/>
                </a:solidFill>
                <a:latin typeface="Calibri"/>
              </a:rPr>
              <a:t>Desarrollo de una plataforma de comunicación
con periféricos sobre MPSoC de altas prestaciones</a:t>
            </a:r>
          </a:p>
          <a:p>
            <a:pPr>
              <a:lnSpc>
                <a:spcPct val="110000"/>
              </a:lnSpc>
              <a:spcBef>
                <a:spcPts val="0"/>
              </a:spcBef>
              <a:spcAft>
                <a:spcPts val="0"/>
              </a:spcAft>
            </a:pPr>
            <a:r>
              <a:rPr sz="3300" b="1" i="0">
                <a:solidFill>
                  <a:srgbClr val="E09B2D"/>
                </a:solidFill>
                <a:latin typeface="Calibri"/>
              </a:rPr>
              <a:t>para Ordenadores de a Bordo en sistemas espaciales</a:t>
            </a:r>
          </a:p>
        </p:txBody>
      </p:sp>
      <p:sp>
        <p:nvSpPr>
          <p:cNvPr id="7" name="Rectangle 6"/>
          <p:cNvSpPr/>
          <p:nvPr/>
        </p:nvSpPr>
        <p:spPr>
          <a:xfrm>
            <a:off x="960120" y="4224528"/>
            <a:ext cx="182880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4572000"/>
            <a:ext cx="5669280" cy="1463040"/>
          </a:xfrm>
          <a:prstGeom prst="rect">
            <a:avLst/>
          </a:prstGeom>
          <a:noFill/>
        </p:spPr>
        <p:txBody>
          <a:bodyPr wrap="square" lIns="0" tIns="0" rIns="0" bIns="0" anchor="t">
            <a:spAutoFit/>
          </a:bodyPr>
          <a:lstStyle/>
          <a:p>
            <a:pPr algn="l">
              <a:lnSpc>
                <a:spcPct val="108000"/>
              </a:lnSpc>
              <a:spcBef>
                <a:spcPts val="0"/>
              </a:spcBef>
              <a:spcAft>
                <a:spcPts val="900"/>
              </a:spcAft>
            </a:pPr>
            <a:r>
              <a:rPr sz="2100" b="1" i="0">
                <a:solidFill>
                  <a:srgbClr val="FFFFFF"/>
                </a:solidFill>
                <a:latin typeface="Calibri"/>
              </a:rPr>
              <a:t>Jorge Alejandro Estefanía Hidalgo</a:t>
            </a:r>
          </a:p>
          <a:p>
            <a:pPr>
              <a:lnSpc>
                <a:spcPct val="108000"/>
              </a:lnSpc>
              <a:spcBef>
                <a:spcPts val="0"/>
              </a:spcBef>
              <a:spcAft>
                <a:spcPts val="300"/>
              </a:spcAft>
            </a:pPr>
            <a:r>
              <a:rPr sz="1400" b="0" i="0">
                <a:solidFill>
                  <a:srgbClr val="9FB6D1"/>
                </a:solidFill>
                <a:latin typeface="Calibri"/>
              </a:rPr>
              <a:t>Tutor:  </a:t>
            </a:r>
            <a:r>
              <a:rPr sz="1400" b="0" i="0">
                <a:solidFill>
                  <a:srgbClr val="FFFFFF"/>
                </a:solidFill>
                <a:latin typeface="Calibri"/>
              </a:rPr>
              <a:t>Daniel Sánchez García</a:t>
            </a:r>
          </a:p>
          <a:p>
            <a:pPr>
              <a:lnSpc>
                <a:spcPct val="108000"/>
              </a:lnSpc>
              <a:spcBef>
                <a:spcPts val="0"/>
              </a:spcBef>
              <a:spcAft>
                <a:spcPts val="300"/>
              </a:spcAft>
            </a:pPr>
            <a:r>
              <a:rPr sz="1400" b="0" i="0">
                <a:solidFill>
                  <a:srgbClr val="9FB6D1"/>
                </a:solidFill>
                <a:latin typeface="Calibri"/>
              </a:rPr>
              <a:t>Ponente:  </a:t>
            </a:r>
            <a:r>
              <a:rPr sz="1400" b="0" i="0">
                <a:solidFill>
                  <a:srgbClr val="FFFFFF"/>
                </a:solidFill>
                <a:latin typeface="Calibri"/>
              </a:rPr>
              <a:t>Álvaro Araujo Pinto</a:t>
            </a:r>
          </a:p>
          <a:p>
            <a:pPr>
              <a:lnSpc>
                <a:spcPct val="108000"/>
              </a:lnSpc>
              <a:spcBef>
                <a:spcPts val="0"/>
              </a:spcBef>
              <a:spcAft>
                <a:spcPts val="0"/>
              </a:spcAft>
            </a:pPr>
            <a:r>
              <a:rPr sz="1400" b="0" i="0">
                <a:solidFill>
                  <a:srgbClr val="9FB6D1"/>
                </a:solidFill>
                <a:latin typeface="Calibri"/>
              </a:rPr>
              <a:t>Departamento de Ingeniería Electrónica  ·  B105 Electronic Systems Lab</a:t>
            </a:r>
          </a:p>
        </p:txBody>
      </p:sp>
      <p:sp>
        <p:nvSpPr>
          <p:cNvPr id="9" name="TextBox 8"/>
          <p:cNvSpPr txBox="1"/>
          <p:nvPr/>
        </p:nvSpPr>
        <p:spPr>
          <a:xfrm>
            <a:off x="9082735" y="5806440"/>
            <a:ext cx="2377440" cy="365760"/>
          </a:xfrm>
          <a:prstGeom prst="rect">
            <a:avLst/>
          </a:prstGeom>
          <a:noFill/>
        </p:spPr>
        <p:txBody>
          <a:bodyPr wrap="square" lIns="0" tIns="0" rIns="0" bIns="0" anchor="t">
            <a:spAutoFit/>
          </a:bodyPr>
          <a:lstStyle/>
          <a:p>
            <a:pPr algn="r">
              <a:lnSpc>
                <a:spcPct val="108000"/>
              </a:lnSpc>
              <a:spcBef>
                <a:spcPts val="0"/>
              </a:spcBef>
              <a:spcAft>
                <a:spcPts val="0"/>
              </a:spcAft>
            </a:pPr>
            <a:r>
              <a:rPr sz="1400" b="1" i="0">
                <a:solidFill>
                  <a:srgbClr val="9FB6D1"/>
                </a:solidFill>
                <a:latin typeface="Calibri"/>
              </a:rPr>
              <a:t>Madrid, 2026</a:t>
            </a:r>
          </a:p>
        </p:txBody>
      </p:sp>
      <p:pic>
        <p:nvPicPr>
          <p:cNvPr id="10" name="Picture 9" descr="logo_etsit_blanco.png"/>
          <p:cNvPicPr>
            <a:picLocks noChangeAspect="1"/>
          </p:cNvPicPr>
          <p:nvPr/>
        </p:nvPicPr>
        <p:blipFill>
          <a:blip r:embed="rId3"/>
          <a:stretch>
            <a:fillRect/>
          </a:stretch>
        </p:blipFill>
        <p:spPr>
          <a:xfrm>
            <a:off x="8899855" y="817144"/>
            <a:ext cx="2377440" cy="743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RECORRIDO DE LA DEFENSA</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Índice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37944"/>
            <a:ext cx="10874959" cy="7863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837944"/>
            <a:ext cx="40640" cy="78638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37944"/>
            <a:ext cx="822960" cy="786384"/>
          </a:xfrm>
          <a:prstGeom prst="rect">
            <a:avLst/>
          </a:prstGeom>
          <a:noFill/>
        </p:spPr>
        <p:txBody>
          <a:bodyPr wrap="square" lIns="0" tIns="0" rIns="0" bIns="0" anchor="ctr">
            <a:spAutoFit/>
          </a:bodyPr>
          <a:lstStyle/>
          <a:p>
            <a:pPr algn="l">
              <a:lnSpc>
                <a:spcPct val="108000"/>
              </a:lnSpc>
              <a:spcBef>
                <a:spcPts val="0"/>
              </a:spcBef>
              <a:spcAft>
                <a:spcPts val="0"/>
              </a:spcAft>
            </a:pPr>
            <a:r>
              <a:rPr sz="2500" b="1" i="0">
                <a:solidFill>
                  <a:srgbClr val="E09B2D"/>
                </a:solidFill>
                <a:latin typeface="Calibri"/>
              </a:rPr>
              <a:t>01</a:t>
            </a:r>
          </a:p>
        </p:txBody>
      </p:sp>
      <p:sp>
        <p:nvSpPr>
          <p:cNvPr id="8" name="TextBox 7"/>
          <p:cNvSpPr txBox="1"/>
          <p:nvPr/>
        </p:nvSpPr>
        <p:spPr>
          <a:xfrm>
            <a:off x="1828800" y="1837944"/>
            <a:ext cx="9411919" cy="786384"/>
          </a:xfrm>
          <a:prstGeom prst="rect">
            <a:avLst/>
          </a:prstGeom>
          <a:noFill/>
        </p:spPr>
        <p:txBody>
          <a:bodyPr wrap="square" lIns="0" tIns="0" rIns="0" bIns="0" anchor="ctr">
            <a:spAutoFit/>
          </a:bodyPr>
          <a:lstStyle/>
          <a:p>
            <a:pPr algn="l">
              <a:lnSpc>
                <a:spcPct val="108000"/>
              </a:lnSpc>
              <a:spcBef>
                <a:spcPts val="0"/>
              </a:spcBef>
              <a:spcAft>
                <a:spcPts val="200"/>
              </a:spcAft>
            </a:pPr>
            <a:r>
              <a:rPr sz="1900" b="1" i="0">
                <a:solidFill>
                  <a:srgbClr val="12345C"/>
                </a:solidFill>
                <a:latin typeface="Calibri"/>
              </a:rPr>
              <a:t>Contexto y objetivos</a:t>
            </a:r>
          </a:p>
          <a:p>
            <a:pPr>
              <a:lnSpc>
                <a:spcPct val="108000"/>
              </a:lnSpc>
              <a:spcBef>
                <a:spcPts val="0"/>
              </a:spcBef>
              <a:spcAft>
                <a:spcPts val="0"/>
              </a:spcAft>
            </a:pPr>
            <a:r>
              <a:rPr sz="1300" b="0" i="0">
                <a:solidFill>
                  <a:srgbClr val="62707E"/>
                </a:solidFill>
                <a:latin typeface="Calibri"/>
              </a:rPr>
              <a:t>LINCE · el problema · qué se pide a la plataforma</a:t>
            </a:r>
          </a:p>
        </p:txBody>
      </p:sp>
      <p:sp>
        <p:nvSpPr>
          <p:cNvPr id="9" name="Rectangle 8"/>
          <p:cNvSpPr/>
          <p:nvPr/>
        </p:nvSpPr>
        <p:spPr>
          <a:xfrm>
            <a:off x="658368" y="2724912"/>
            <a:ext cx="10874959" cy="7863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2724912"/>
            <a:ext cx="40640" cy="78638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724912"/>
            <a:ext cx="822960" cy="786384"/>
          </a:xfrm>
          <a:prstGeom prst="rect">
            <a:avLst/>
          </a:prstGeom>
          <a:noFill/>
        </p:spPr>
        <p:txBody>
          <a:bodyPr wrap="square" lIns="0" tIns="0" rIns="0" bIns="0" anchor="ctr">
            <a:spAutoFit/>
          </a:bodyPr>
          <a:lstStyle/>
          <a:p>
            <a:pPr algn="l">
              <a:lnSpc>
                <a:spcPct val="108000"/>
              </a:lnSpc>
              <a:spcBef>
                <a:spcPts val="0"/>
              </a:spcBef>
              <a:spcAft>
                <a:spcPts val="0"/>
              </a:spcAft>
            </a:pPr>
            <a:r>
              <a:rPr sz="2500" b="1" i="0">
                <a:solidFill>
                  <a:srgbClr val="E09B2D"/>
                </a:solidFill>
                <a:latin typeface="Calibri"/>
              </a:rPr>
              <a:t>02</a:t>
            </a:r>
          </a:p>
        </p:txBody>
      </p:sp>
      <p:sp>
        <p:nvSpPr>
          <p:cNvPr id="12" name="TextBox 11"/>
          <p:cNvSpPr txBox="1"/>
          <p:nvPr/>
        </p:nvSpPr>
        <p:spPr>
          <a:xfrm>
            <a:off x="1828800" y="2724912"/>
            <a:ext cx="9411919" cy="786384"/>
          </a:xfrm>
          <a:prstGeom prst="rect">
            <a:avLst/>
          </a:prstGeom>
          <a:noFill/>
        </p:spPr>
        <p:txBody>
          <a:bodyPr wrap="square" lIns="0" tIns="0" rIns="0" bIns="0" anchor="ctr">
            <a:spAutoFit/>
          </a:bodyPr>
          <a:lstStyle/>
          <a:p>
            <a:pPr algn="l">
              <a:lnSpc>
                <a:spcPct val="108000"/>
              </a:lnSpc>
              <a:spcBef>
                <a:spcPts val="0"/>
              </a:spcBef>
              <a:spcAft>
                <a:spcPts val="200"/>
              </a:spcAft>
            </a:pPr>
            <a:r>
              <a:rPr sz="1900" b="1" i="0">
                <a:solidFill>
                  <a:srgbClr val="12345C"/>
                </a:solidFill>
                <a:latin typeface="Calibri"/>
              </a:rPr>
              <a:t>Firmware</a:t>
            </a:r>
          </a:p>
          <a:p>
            <a:pPr>
              <a:lnSpc>
                <a:spcPct val="108000"/>
              </a:lnSpc>
              <a:spcBef>
                <a:spcPts val="0"/>
              </a:spcBef>
              <a:spcAft>
                <a:spcPts val="0"/>
              </a:spcAft>
            </a:pPr>
            <a:r>
              <a:rPr sz="1300" b="0" i="0">
                <a:solidFill>
                  <a:srgbClr val="62707E"/>
                </a:solidFill>
                <a:latin typeface="Calibri"/>
              </a:rPr>
              <a:t>transceptor VHDL · driver RTEMS 7 · transporte PS–PL</a:t>
            </a:r>
          </a:p>
        </p:txBody>
      </p:sp>
      <p:sp>
        <p:nvSpPr>
          <p:cNvPr id="13" name="Rectangle 12"/>
          <p:cNvSpPr/>
          <p:nvPr/>
        </p:nvSpPr>
        <p:spPr>
          <a:xfrm>
            <a:off x="658368" y="3611880"/>
            <a:ext cx="10874959" cy="7863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3611880"/>
            <a:ext cx="40640" cy="78638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3611880"/>
            <a:ext cx="822960" cy="786384"/>
          </a:xfrm>
          <a:prstGeom prst="rect">
            <a:avLst/>
          </a:prstGeom>
          <a:noFill/>
        </p:spPr>
        <p:txBody>
          <a:bodyPr wrap="square" lIns="0" tIns="0" rIns="0" bIns="0" anchor="ctr">
            <a:spAutoFit/>
          </a:bodyPr>
          <a:lstStyle/>
          <a:p>
            <a:pPr algn="l">
              <a:lnSpc>
                <a:spcPct val="108000"/>
              </a:lnSpc>
              <a:spcBef>
                <a:spcPts val="0"/>
              </a:spcBef>
              <a:spcAft>
                <a:spcPts val="0"/>
              </a:spcAft>
            </a:pPr>
            <a:r>
              <a:rPr sz="2500" b="1" i="0">
                <a:solidFill>
                  <a:srgbClr val="E09B2D"/>
                </a:solidFill>
                <a:latin typeface="Calibri"/>
              </a:rPr>
              <a:t>03</a:t>
            </a:r>
          </a:p>
        </p:txBody>
      </p:sp>
      <p:sp>
        <p:nvSpPr>
          <p:cNvPr id="16" name="TextBox 15"/>
          <p:cNvSpPr txBox="1"/>
          <p:nvPr/>
        </p:nvSpPr>
        <p:spPr>
          <a:xfrm>
            <a:off x="1828800" y="3611880"/>
            <a:ext cx="9411919" cy="786384"/>
          </a:xfrm>
          <a:prstGeom prst="rect">
            <a:avLst/>
          </a:prstGeom>
          <a:noFill/>
        </p:spPr>
        <p:txBody>
          <a:bodyPr wrap="square" lIns="0" tIns="0" rIns="0" bIns="0" anchor="ctr">
            <a:spAutoFit/>
          </a:bodyPr>
          <a:lstStyle/>
          <a:p>
            <a:pPr algn="l">
              <a:lnSpc>
                <a:spcPct val="108000"/>
              </a:lnSpc>
              <a:spcBef>
                <a:spcPts val="0"/>
              </a:spcBef>
              <a:spcAft>
                <a:spcPts val="200"/>
              </a:spcAft>
            </a:pPr>
            <a:r>
              <a:rPr sz="1900" b="1" i="0">
                <a:solidFill>
                  <a:srgbClr val="12345C"/>
                </a:solidFill>
                <a:latin typeface="Calibri"/>
              </a:rPr>
              <a:t>Hardware</a:t>
            </a:r>
          </a:p>
          <a:p>
            <a:pPr>
              <a:lnSpc>
                <a:spcPct val="108000"/>
              </a:lnSpc>
              <a:spcBef>
                <a:spcPts val="0"/>
              </a:spcBef>
              <a:spcAft>
                <a:spcPts val="0"/>
              </a:spcAft>
            </a:pPr>
            <a:r>
              <a:rPr sz="1300" b="0" i="0">
                <a:solidFill>
                  <a:srgbClr val="62707E"/>
                </a:solidFill>
                <a:latin typeface="Calibri"/>
              </a:rPr>
              <a:t>tres PCB de expansión de la ZCU102</a:t>
            </a:r>
          </a:p>
        </p:txBody>
      </p:sp>
      <p:sp>
        <p:nvSpPr>
          <p:cNvPr id="17" name="Rectangle 16"/>
          <p:cNvSpPr/>
          <p:nvPr/>
        </p:nvSpPr>
        <p:spPr>
          <a:xfrm>
            <a:off x="658368" y="4498848"/>
            <a:ext cx="10874959" cy="7863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8368" y="4498848"/>
            <a:ext cx="40640" cy="78638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4498848"/>
            <a:ext cx="822960" cy="786384"/>
          </a:xfrm>
          <a:prstGeom prst="rect">
            <a:avLst/>
          </a:prstGeom>
          <a:noFill/>
        </p:spPr>
        <p:txBody>
          <a:bodyPr wrap="square" lIns="0" tIns="0" rIns="0" bIns="0" anchor="ctr">
            <a:spAutoFit/>
          </a:bodyPr>
          <a:lstStyle/>
          <a:p>
            <a:pPr algn="l">
              <a:lnSpc>
                <a:spcPct val="108000"/>
              </a:lnSpc>
              <a:spcBef>
                <a:spcPts val="0"/>
              </a:spcBef>
              <a:spcAft>
                <a:spcPts val="0"/>
              </a:spcAft>
            </a:pPr>
            <a:r>
              <a:rPr sz="2500" b="1" i="0">
                <a:solidFill>
                  <a:srgbClr val="E09B2D"/>
                </a:solidFill>
                <a:latin typeface="Calibri"/>
              </a:rPr>
              <a:t>04</a:t>
            </a:r>
          </a:p>
        </p:txBody>
      </p:sp>
      <p:sp>
        <p:nvSpPr>
          <p:cNvPr id="20" name="TextBox 19"/>
          <p:cNvSpPr txBox="1"/>
          <p:nvPr/>
        </p:nvSpPr>
        <p:spPr>
          <a:xfrm>
            <a:off x="1828800" y="4498848"/>
            <a:ext cx="9411919" cy="786384"/>
          </a:xfrm>
          <a:prstGeom prst="rect">
            <a:avLst/>
          </a:prstGeom>
          <a:noFill/>
        </p:spPr>
        <p:txBody>
          <a:bodyPr wrap="square" lIns="0" tIns="0" rIns="0" bIns="0" anchor="ctr">
            <a:spAutoFit/>
          </a:bodyPr>
          <a:lstStyle/>
          <a:p>
            <a:pPr algn="l">
              <a:lnSpc>
                <a:spcPct val="108000"/>
              </a:lnSpc>
              <a:spcBef>
                <a:spcPts val="0"/>
              </a:spcBef>
              <a:spcAft>
                <a:spcPts val="200"/>
              </a:spcAft>
            </a:pPr>
            <a:r>
              <a:rPr sz="1900" b="1" i="0">
                <a:solidFill>
                  <a:srgbClr val="12345C"/>
                </a:solidFill>
                <a:latin typeface="Calibri"/>
              </a:rPr>
              <a:t>Resultados</a:t>
            </a:r>
          </a:p>
          <a:p>
            <a:pPr>
              <a:lnSpc>
                <a:spcPct val="108000"/>
              </a:lnSpc>
              <a:spcBef>
                <a:spcPts val="0"/>
              </a:spcBef>
              <a:spcAft>
                <a:spcPts val="0"/>
              </a:spcAft>
            </a:pPr>
            <a:r>
              <a:rPr sz="1300" b="0" i="0">
                <a:solidFill>
                  <a:srgbClr val="62707E"/>
                </a:solidFill>
                <a:latin typeface="Calibri"/>
              </a:rPr>
              <a:t>validación en placa · comparativa de transportes</a:t>
            </a:r>
          </a:p>
        </p:txBody>
      </p:sp>
      <p:sp>
        <p:nvSpPr>
          <p:cNvPr id="21" name="Rectangle 20"/>
          <p:cNvSpPr/>
          <p:nvPr/>
        </p:nvSpPr>
        <p:spPr>
          <a:xfrm>
            <a:off x="658368" y="5385816"/>
            <a:ext cx="10874959" cy="7863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58368" y="5385816"/>
            <a:ext cx="40640" cy="78638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 y="5385816"/>
            <a:ext cx="822960" cy="786384"/>
          </a:xfrm>
          <a:prstGeom prst="rect">
            <a:avLst/>
          </a:prstGeom>
          <a:noFill/>
        </p:spPr>
        <p:txBody>
          <a:bodyPr wrap="square" lIns="0" tIns="0" rIns="0" bIns="0" anchor="ctr">
            <a:spAutoFit/>
          </a:bodyPr>
          <a:lstStyle/>
          <a:p>
            <a:pPr algn="l">
              <a:lnSpc>
                <a:spcPct val="108000"/>
              </a:lnSpc>
              <a:spcBef>
                <a:spcPts val="0"/>
              </a:spcBef>
              <a:spcAft>
                <a:spcPts val="0"/>
              </a:spcAft>
            </a:pPr>
            <a:r>
              <a:rPr sz="2500" b="1" i="0">
                <a:solidFill>
                  <a:srgbClr val="E09B2D"/>
                </a:solidFill>
                <a:latin typeface="Calibri"/>
              </a:rPr>
              <a:t>05</a:t>
            </a:r>
          </a:p>
        </p:txBody>
      </p:sp>
      <p:sp>
        <p:nvSpPr>
          <p:cNvPr id="24" name="TextBox 23"/>
          <p:cNvSpPr txBox="1"/>
          <p:nvPr/>
        </p:nvSpPr>
        <p:spPr>
          <a:xfrm>
            <a:off x="1828800" y="5385816"/>
            <a:ext cx="9411919" cy="786384"/>
          </a:xfrm>
          <a:prstGeom prst="rect">
            <a:avLst/>
          </a:prstGeom>
          <a:noFill/>
        </p:spPr>
        <p:txBody>
          <a:bodyPr wrap="square" lIns="0" tIns="0" rIns="0" bIns="0" anchor="ctr">
            <a:spAutoFit/>
          </a:bodyPr>
          <a:lstStyle/>
          <a:p>
            <a:pPr algn="l">
              <a:lnSpc>
                <a:spcPct val="108000"/>
              </a:lnSpc>
              <a:spcBef>
                <a:spcPts val="0"/>
              </a:spcBef>
              <a:spcAft>
                <a:spcPts val="200"/>
              </a:spcAft>
            </a:pPr>
            <a:r>
              <a:rPr sz="1900" b="1" i="0">
                <a:solidFill>
                  <a:srgbClr val="12345C"/>
                </a:solidFill>
                <a:latin typeface="Calibri"/>
              </a:rPr>
              <a:t>Conclusiones y líneas futuras</a:t>
            </a:r>
          </a:p>
        </p:txBody>
      </p:sp>
      <p:sp>
        <p:nvSpPr>
          <p:cNvPr id="25" name="TextBox 24"/>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Plataforma de comunicación con periféricos sobre MPSoC · LINCE</a:t>
            </a:r>
          </a:p>
        </p:txBody>
      </p:sp>
      <p:sp>
        <p:nvSpPr>
          <p:cNvPr id="26" name="TextBox 25"/>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148840"/>
            <a:ext cx="2194560" cy="1737360"/>
          </a:xfrm>
          <a:prstGeom prst="rect">
            <a:avLst/>
          </a:prstGeom>
          <a:noFill/>
        </p:spPr>
        <p:txBody>
          <a:bodyPr wrap="square" lIns="0" tIns="0" rIns="0" bIns="0" anchor="t">
            <a:spAutoFit/>
          </a:bodyPr>
          <a:lstStyle/>
          <a:p>
            <a:pPr algn="l">
              <a:lnSpc>
                <a:spcPct val="90000"/>
              </a:lnSpc>
              <a:spcBef>
                <a:spcPts val="0"/>
              </a:spcBef>
              <a:spcAft>
                <a:spcPts val="0"/>
              </a:spcAft>
            </a:pPr>
            <a:r>
              <a:rPr sz="9600" b="1" i="0">
                <a:solidFill>
                  <a:srgbClr val="E09B2D"/>
                </a:solidFill>
                <a:latin typeface="Calibri"/>
              </a:rPr>
              <a:t>01</a:t>
            </a:r>
          </a:p>
        </p:txBody>
      </p:sp>
      <p:sp>
        <p:nvSpPr>
          <p:cNvPr id="5" name="TextBox 4"/>
          <p:cNvSpPr txBox="1"/>
          <p:nvPr/>
        </p:nvSpPr>
        <p:spPr>
          <a:xfrm>
            <a:off x="3840480" y="2331720"/>
            <a:ext cx="7498079" cy="1737360"/>
          </a:xfrm>
          <a:prstGeom prst="rect">
            <a:avLst/>
          </a:prstGeom>
          <a:noFill/>
        </p:spPr>
        <p:txBody>
          <a:bodyPr wrap="square" lIns="0" tIns="0" rIns="0" bIns="0" anchor="t">
            <a:spAutoFit/>
          </a:bodyPr>
          <a:lstStyle/>
          <a:p>
            <a:pPr algn="l">
              <a:lnSpc>
                <a:spcPct val="108000"/>
              </a:lnSpc>
              <a:spcBef>
                <a:spcPts val="0"/>
              </a:spcBef>
              <a:spcAft>
                <a:spcPts val="1400"/>
              </a:spcAft>
            </a:pPr>
            <a:r>
              <a:rPr sz="4000" b="1" i="0">
                <a:solidFill>
                  <a:srgbClr val="FFFFFF"/>
                </a:solidFill>
                <a:latin typeface="Calibri"/>
              </a:rPr>
              <a:t>Contexto y objetivos</a:t>
            </a:r>
          </a:p>
        </p:txBody>
      </p:sp>
      <p:sp>
        <p:nvSpPr>
          <p:cNvPr id="6" name="Rectangle 5"/>
          <p:cNvSpPr/>
          <p:nvPr/>
        </p:nvSpPr>
        <p:spPr>
          <a:xfrm>
            <a:off x="3840480" y="3703320"/>
            <a:ext cx="146304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3977639"/>
            <a:ext cx="7498079" cy="822960"/>
          </a:xfrm>
          <a:prstGeom prst="rect">
            <a:avLst/>
          </a:prstGeom>
          <a:noFill/>
        </p:spPr>
        <p:txBody>
          <a:bodyPr wrap="square" lIns="0" tIns="0" rIns="0" bIns="0" anchor="t">
            <a:spAutoFit/>
          </a:bodyPr>
          <a:lstStyle/>
          <a:p>
            <a:pPr algn="l">
              <a:lnSpc>
                <a:spcPct val="116000"/>
              </a:lnSpc>
              <a:spcBef>
                <a:spcPts val="0"/>
              </a:spcBef>
              <a:spcAft>
                <a:spcPts val="0"/>
              </a:spcAft>
            </a:pPr>
            <a:r>
              <a:rPr sz="1700" b="0" i="0">
                <a:solidFill>
                  <a:srgbClr val="9FB6D1"/>
                </a:solidFill>
                <a:latin typeface="Calibri"/>
              </a:rPr>
              <a:t>El proyecto LINCE, qué se le pide a la plataforma y qué se propone construir.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01 · CONTEXTO</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Proyecto LINCE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01</a:t>
            </a:r>
          </a:p>
        </p:txBody>
      </p:sp>
      <p:sp>
        <p:nvSpPr>
          <p:cNvPr id="6" name="Rectangle 5"/>
          <p:cNvSpPr/>
          <p:nvPr/>
        </p:nvSpPr>
        <p:spPr>
          <a:xfrm>
            <a:off x="658368" y="1700784"/>
            <a:ext cx="3442106" cy="1188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11887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3131210" cy="969264"/>
          </a:xfrm>
          <a:prstGeom prst="rect">
            <a:avLst/>
          </a:prstGeom>
          <a:noFill/>
        </p:spPr>
        <p:txBody>
          <a:bodyPr wrap="square" lIns="0" tIns="0" rIns="0" bIns="0" anchor="ctr">
            <a:spAutoFit/>
          </a:bodyPr>
          <a:lstStyle/>
          <a:p>
            <a:pPr algn="l">
              <a:lnSpc>
                <a:spcPct val="95000"/>
              </a:lnSpc>
              <a:spcBef>
                <a:spcPts val="0"/>
              </a:spcBef>
              <a:spcAft>
                <a:spcPts val="200"/>
              </a:spcAft>
            </a:pPr>
            <a:r>
              <a:rPr sz="3000" b="1" i="0">
                <a:solidFill>
                  <a:srgbClr val="1E63A8"/>
                </a:solidFill>
                <a:latin typeface="Calibri"/>
              </a:rPr>
              <a:t>100–200 kg</a:t>
            </a:r>
          </a:p>
          <a:p>
            <a:pPr>
              <a:lnSpc>
                <a:spcPct val="100000"/>
              </a:lnSpc>
              <a:spcBef>
                <a:spcPts val="0"/>
              </a:spcBef>
              <a:spcAft>
                <a:spcPts val="0"/>
              </a:spcAft>
            </a:pPr>
            <a:r>
              <a:rPr sz="1300" b="0" i="0">
                <a:solidFill>
                  <a:srgbClr val="62707E"/>
                </a:solidFill>
                <a:latin typeface="Calibri"/>
              </a:rPr>
              <a:t>microsatélites en órbita baja</a:t>
            </a:r>
          </a:p>
        </p:txBody>
      </p:sp>
      <p:sp>
        <p:nvSpPr>
          <p:cNvPr id="9" name="Rectangle 8"/>
          <p:cNvSpPr/>
          <p:nvPr/>
        </p:nvSpPr>
        <p:spPr>
          <a:xfrm>
            <a:off x="4374794" y="1700784"/>
            <a:ext cx="3442106" cy="1188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4794" y="1700784"/>
            <a:ext cx="40640" cy="11887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962" y="1828800"/>
            <a:ext cx="3131210" cy="969264"/>
          </a:xfrm>
          <a:prstGeom prst="rect">
            <a:avLst/>
          </a:prstGeom>
          <a:noFill/>
        </p:spPr>
        <p:txBody>
          <a:bodyPr wrap="square" lIns="0" tIns="0" rIns="0" bIns="0" anchor="ctr">
            <a:spAutoFit/>
          </a:bodyPr>
          <a:lstStyle/>
          <a:p>
            <a:pPr algn="l">
              <a:lnSpc>
                <a:spcPct val="95000"/>
              </a:lnSpc>
              <a:spcBef>
                <a:spcPts val="0"/>
              </a:spcBef>
              <a:spcAft>
                <a:spcPts val="200"/>
              </a:spcAft>
            </a:pPr>
            <a:r>
              <a:rPr sz="3000" b="1" i="0">
                <a:solidFill>
                  <a:srgbClr val="1E63A8"/>
                </a:solidFill>
                <a:latin typeface="Calibri"/>
              </a:rPr>
              <a:t>STARTICAL</a:t>
            </a:r>
          </a:p>
          <a:p>
            <a:pPr>
              <a:lnSpc>
                <a:spcPct val="100000"/>
              </a:lnSpc>
              <a:spcBef>
                <a:spcPts val="0"/>
              </a:spcBef>
              <a:spcAft>
                <a:spcPts val="0"/>
              </a:spcAft>
            </a:pPr>
            <a:r>
              <a:rPr sz="1300" b="0" i="0">
                <a:solidFill>
                  <a:srgbClr val="62707E"/>
                </a:solidFill>
                <a:latin typeface="Calibri"/>
              </a:rPr>
              <a:t>constelación demostradora</a:t>
            </a:r>
          </a:p>
        </p:txBody>
      </p:sp>
      <p:sp>
        <p:nvSpPr>
          <p:cNvPr id="12" name="Rectangle 11"/>
          <p:cNvSpPr/>
          <p:nvPr/>
        </p:nvSpPr>
        <p:spPr>
          <a:xfrm>
            <a:off x="8091220" y="1700784"/>
            <a:ext cx="3442106" cy="1188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1220" y="1700784"/>
            <a:ext cx="40640" cy="11887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2388" y="1828800"/>
            <a:ext cx="3131210" cy="969264"/>
          </a:xfrm>
          <a:prstGeom prst="rect">
            <a:avLst/>
          </a:prstGeom>
          <a:noFill/>
        </p:spPr>
        <p:txBody>
          <a:bodyPr wrap="square" lIns="0" tIns="0" rIns="0" bIns="0" anchor="ctr">
            <a:spAutoFit/>
          </a:bodyPr>
          <a:lstStyle/>
          <a:p>
            <a:pPr algn="l">
              <a:lnSpc>
                <a:spcPct val="95000"/>
              </a:lnSpc>
              <a:spcBef>
                <a:spcPts val="0"/>
              </a:spcBef>
              <a:spcAft>
                <a:spcPts val="200"/>
              </a:spcAft>
            </a:pPr>
            <a:r>
              <a:rPr sz="3000" b="1" i="0">
                <a:solidFill>
                  <a:srgbClr val="E09B2D"/>
                </a:solidFill>
                <a:latin typeface="Calibri"/>
              </a:rPr>
              <a:t>COTS</a:t>
            </a:r>
          </a:p>
          <a:p>
            <a:pPr>
              <a:lnSpc>
                <a:spcPct val="100000"/>
              </a:lnSpc>
              <a:spcBef>
                <a:spcPts val="0"/>
              </a:spcBef>
              <a:spcAft>
                <a:spcPts val="0"/>
              </a:spcAft>
            </a:pPr>
            <a:r>
              <a:rPr sz="1300" b="0" i="0">
                <a:solidFill>
                  <a:srgbClr val="62707E"/>
                </a:solidFill>
                <a:latin typeface="Calibri"/>
              </a:rPr>
              <a:t>en lugar de silicio rad-hard</a:t>
            </a:r>
          </a:p>
        </p:txBody>
      </p:sp>
      <p:sp>
        <p:nvSpPr>
          <p:cNvPr id="15" name="Rectangle 14"/>
          <p:cNvSpPr/>
          <p:nvPr/>
        </p:nvSpPr>
        <p:spPr>
          <a:xfrm>
            <a:off x="658368" y="3255264"/>
            <a:ext cx="6400800" cy="402336"/>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255264"/>
            <a:ext cx="1827030" cy="402336"/>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Quién</a:t>
            </a:r>
          </a:p>
        </p:txBody>
      </p:sp>
      <p:sp>
        <p:nvSpPr>
          <p:cNvPr id="17" name="TextBox 16"/>
          <p:cNvSpPr txBox="1"/>
          <p:nvPr/>
        </p:nvSpPr>
        <p:spPr>
          <a:xfrm>
            <a:off x="2842014" y="3255264"/>
            <a:ext cx="4098281" cy="402336"/>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Qué aporta</a:t>
            </a:r>
          </a:p>
        </p:txBody>
      </p:sp>
      <p:sp>
        <p:nvSpPr>
          <p:cNvPr id="18" name="Rectangle 17"/>
          <p:cNvSpPr/>
          <p:nvPr/>
        </p:nvSpPr>
        <p:spPr>
          <a:xfrm>
            <a:off x="658368" y="3657600"/>
            <a:ext cx="640080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657600"/>
            <a:ext cx="1827030"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Indra</a:t>
            </a:r>
          </a:p>
        </p:txBody>
      </p:sp>
      <p:sp>
        <p:nvSpPr>
          <p:cNvPr id="20" name="TextBox 19"/>
          <p:cNvSpPr txBox="1"/>
          <p:nvPr/>
        </p:nvSpPr>
        <p:spPr>
          <a:xfrm>
            <a:off x="2842014" y="3657600"/>
            <a:ext cx="4098281"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lidera LINCE y fija los requisitos</a:t>
            </a:r>
          </a:p>
        </p:txBody>
      </p:sp>
      <p:sp>
        <p:nvSpPr>
          <p:cNvPr id="21" name="Rectangle 20"/>
          <p:cNvSpPr/>
          <p:nvPr/>
        </p:nvSpPr>
        <p:spPr>
          <a:xfrm>
            <a:off x="658368" y="4096512"/>
            <a:ext cx="6400800" cy="43891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096512"/>
            <a:ext cx="1827030"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Sener</a:t>
            </a:r>
          </a:p>
        </p:txBody>
      </p:sp>
      <p:sp>
        <p:nvSpPr>
          <p:cNvPr id="23" name="TextBox 22"/>
          <p:cNvSpPr txBox="1"/>
          <p:nvPr/>
        </p:nvSpPr>
        <p:spPr>
          <a:xfrm>
            <a:off x="2842014" y="4096512"/>
            <a:ext cx="4098281"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firmware del ordenador de a bordo</a:t>
            </a:r>
          </a:p>
        </p:txBody>
      </p:sp>
      <p:sp>
        <p:nvSpPr>
          <p:cNvPr id="24" name="Rectangle 23"/>
          <p:cNvSpPr/>
          <p:nvPr/>
        </p:nvSpPr>
        <p:spPr>
          <a:xfrm>
            <a:off x="658368" y="4535424"/>
            <a:ext cx="6400800" cy="438912"/>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 y="4535424"/>
            <a:ext cx="40640" cy="438912"/>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535424"/>
            <a:ext cx="1827030"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E63A8"/>
                </a:solidFill>
                <a:latin typeface="Calibri"/>
              </a:rPr>
              <a:t>UPM · B105</a:t>
            </a:r>
          </a:p>
        </p:txBody>
      </p:sp>
      <p:sp>
        <p:nvSpPr>
          <p:cNvPr id="27" name="TextBox 26"/>
          <p:cNvSpPr txBox="1"/>
          <p:nvPr/>
        </p:nvSpPr>
        <p:spPr>
          <a:xfrm>
            <a:off x="2842014" y="4535424"/>
            <a:ext cx="4098281" cy="438912"/>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E63A8"/>
                </a:solidFill>
                <a:latin typeface="Calibri"/>
              </a:rPr>
              <a:t>comunicaciones del OBC  ←  este TFM</a:t>
            </a:r>
          </a:p>
        </p:txBody>
      </p:sp>
      <p:sp>
        <p:nvSpPr>
          <p:cNvPr id="28" name="Rectangle 27"/>
          <p:cNvSpPr/>
          <p:nvPr/>
        </p:nvSpPr>
        <p:spPr>
          <a:xfrm>
            <a:off x="7424928" y="3255264"/>
            <a:ext cx="4108399" cy="2157984"/>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17536" y="3511296"/>
            <a:ext cx="3523183" cy="1737360"/>
          </a:xfrm>
          <a:prstGeom prst="rect">
            <a:avLst/>
          </a:prstGeom>
          <a:noFill/>
        </p:spPr>
        <p:txBody>
          <a:bodyPr wrap="square" lIns="0" tIns="0" rIns="0" bIns="0" anchor="t">
            <a:spAutoFit/>
          </a:bodyPr>
          <a:lstStyle/>
          <a:p>
            <a:pPr algn="l">
              <a:lnSpc>
                <a:spcPct val="108000"/>
              </a:lnSpc>
              <a:spcBef>
                <a:spcPts val="0"/>
              </a:spcBef>
              <a:spcAft>
                <a:spcPts val="1200"/>
              </a:spcAft>
            </a:pPr>
            <a:r>
              <a:rPr sz="1250" b="1" i="0">
                <a:solidFill>
                  <a:srgbClr val="E09B2D"/>
                </a:solidFill>
                <a:latin typeface="Calibri"/>
              </a:rPr>
              <a:t>ENFOQUE NewSpace</a:t>
            </a:r>
          </a:p>
          <a:p>
            <a:pPr>
              <a:lnSpc>
                <a:spcPct val="114000"/>
              </a:lnSpc>
              <a:spcBef>
                <a:spcPts val="0"/>
              </a:spcBef>
              <a:spcAft>
                <a:spcPts val="1000"/>
              </a:spcAft>
            </a:pPr>
            <a:r>
              <a:rPr sz="1500" b="0" i="0">
                <a:solidFill>
                  <a:srgbClr val="FFFFFF"/>
                </a:solidFill>
                <a:latin typeface="Calibri"/>
              </a:rPr>
              <a:t>Componentes comerciales, no cualificados para espacio.</a:t>
            </a:r>
          </a:p>
          <a:p>
            <a:pPr>
              <a:lnSpc>
                <a:spcPct val="114000"/>
              </a:lnSpc>
              <a:spcBef>
                <a:spcPts val="0"/>
              </a:spcBef>
              <a:spcAft>
                <a:spcPts val="0"/>
              </a:spcAft>
            </a:pPr>
            <a:r>
              <a:rPr sz="1500" b="0" i="0">
                <a:solidFill>
                  <a:srgbClr val="9FB6D1"/>
                </a:solidFill>
                <a:latin typeface="Calibri"/>
              </a:rPr>
              <a:t>La radiación se mitiga con redundancia.</a:t>
            </a:r>
          </a:p>
        </p:txBody>
      </p:sp>
      <p:sp>
        <p:nvSpPr>
          <p:cNvPr id="30" name="TextBox 29"/>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01 · Contexto y objetivos</a:t>
            </a:r>
          </a:p>
        </p:txBody>
      </p:sp>
      <p:sp>
        <p:nvSpPr>
          <p:cNvPr id="31" name="TextBox 30"/>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01 · CONTEXTO</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Requisitos de partida</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01</a:t>
            </a:r>
          </a:p>
        </p:txBody>
      </p:sp>
      <p:sp>
        <p:nvSpPr>
          <p:cNvPr id="6" name="Rectangle 5"/>
          <p:cNvSpPr/>
          <p:nvPr/>
        </p:nvSpPr>
        <p:spPr>
          <a:xfrm>
            <a:off x="658368" y="1700784"/>
            <a:ext cx="3442106" cy="1463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14630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3131210" cy="1243584"/>
          </a:xfrm>
          <a:prstGeom prst="rect">
            <a:avLst/>
          </a:prstGeom>
          <a:noFill/>
        </p:spPr>
        <p:txBody>
          <a:bodyPr wrap="square" lIns="0" tIns="0" rIns="0" bIns="0" anchor="ctr">
            <a:spAutoFit/>
          </a:bodyPr>
          <a:lstStyle/>
          <a:p>
            <a:pPr algn="l">
              <a:lnSpc>
                <a:spcPct val="95000"/>
              </a:lnSpc>
              <a:spcBef>
                <a:spcPts val="0"/>
              </a:spcBef>
              <a:spcAft>
                <a:spcPts val="200"/>
              </a:spcAft>
            </a:pPr>
            <a:r>
              <a:rPr sz="4400" b="1" i="0">
                <a:solidFill>
                  <a:srgbClr val="E09B2D"/>
                </a:solidFill>
                <a:latin typeface="Calibri"/>
              </a:rPr>
              <a:t>14</a:t>
            </a:r>
          </a:p>
          <a:p>
            <a:pPr>
              <a:lnSpc>
                <a:spcPct val="100000"/>
              </a:lnSpc>
              <a:spcBef>
                <a:spcPts val="0"/>
              </a:spcBef>
              <a:spcAft>
                <a:spcPts val="0"/>
              </a:spcAft>
            </a:pPr>
            <a:r>
              <a:rPr sz="1350" b="0" i="0">
                <a:solidFill>
                  <a:srgbClr val="62707E"/>
                </a:solidFill>
                <a:latin typeface="Calibri"/>
              </a:rPr>
              <a:t>enlaces RS422/RS485 simultáneos
requisito de LINCE</a:t>
            </a:r>
          </a:p>
        </p:txBody>
      </p:sp>
      <p:sp>
        <p:nvSpPr>
          <p:cNvPr id="9" name="Rectangle 8"/>
          <p:cNvSpPr/>
          <p:nvPr/>
        </p:nvSpPr>
        <p:spPr>
          <a:xfrm>
            <a:off x="4374794" y="1700784"/>
            <a:ext cx="3442106" cy="1463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4794" y="1700784"/>
            <a:ext cx="40640" cy="146304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962" y="1828800"/>
            <a:ext cx="3131210" cy="1243584"/>
          </a:xfrm>
          <a:prstGeom prst="rect">
            <a:avLst/>
          </a:prstGeom>
          <a:noFill/>
        </p:spPr>
        <p:txBody>
          <a:bodyPr wrap="square" lIns="0" tIns="0" rIns="0" bIns="0" anchor="ctr">
            <a:spAutoFit/>
          </a:bodyPr>
          <a:lstStyle/>
          <a:p>
            <a:pPr algn="l">
              <a:lnSpc>
                <a:spcPct val="95000"/>
              </a:lnSpc>
              <a:spcBef>
                <a:spcPts val="0"/>
              </a:spcBef>
              <a:spcAft>
                <a:spcPts val="200"/>
              </a:spcAft>
            </a:pPr>
            <a:r>
              <a:rPr sz="4400" b="1" i="0">
                <a:solidFill>
                  <a:srgbClr val="C2685C"/>
                </a:solidFill>
                <a:latin typeface="Calibri"/>
              </a:rPr>
              <a:t>2</a:t>
            </a:r>
          </a:p>
          <a:p>
            <a:pPr>
              <a:lnSpc>
                <a:spcPct val="100000"/>
              </a:lnSpc>
              <a:spcBef>
                <a:spcPts val="0"/>
              </a:spcBef>
              <a:spcAft>
                <a:spcPts val="0"/>
              </a:spcAft>
            </a:pPr>
            <a:r>
              <a:rPr sz="1350" b="0" i="0">
                <a:solidFill>
                  <a:srgbClr val="62707E"/>
                </a:solidFill>
                <a:latin typeface="Calibri"/>
              </a:rPr>
              <a:t>UART nativas en el PS
frente a las 14 que pide LINCE</a:t>
            </a:r>
          </a:p>
        </p:txBody>
      </p:sp>
      <p:sp>
        <p:nvSpPr>
          <p:cNvPr id="12" name="Rectangle 11"/>
          <p:cNvSpPr/>
          <p:nvPr/>
        </p:nvSpPr>
        <p:spPr>
          <a:xfrm>
            <a:off x="8091220" y="1700784"/>
            <a:ext cx="3442106" cy="1463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1220" y="1700784"/>
            <a:ext cx="40640" cy="146304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2388" y="1828800"/>
            <a:ext cx="3131210" cy="1243584"/>
          </a:xfrm>
          <a:prstGeom prst="rect">
            <a:avLst/>
          </a:prstGeom>
          <a:noFill/>
        </p:spPr>
        <p:txBody>
          <a:bodyPr wrap="square" lIns="0" tIns="0" rIns="0" bIns="0" anchor="ctr">
            <a:spAutoFit/>
          </a:bodyPr>
          <a:lstStyle/>
          <a:p>
            <a:pPr algn="l">
              <a:lnSpc>
                <a:spcPct val="95000"/>
              </a:lnSpc>
              <a:spcBef>
                <a:spcPts val="0"/>
              </a:spcBef>
              <a:spcAft>
                <a:spcPts val="200"/>
              </a:spcAft>
            </a:pPr>
            <a:r>
              <a:rPr sz="4400" b="1" i="0">
                <a:solidFill>
                  <a:srgbClr val="1E63A8"/>
                </a:solidFill>
                <a:latin typeface="Calibri"/>
              </a:rPr>
              <a:t>1</a:t>
            </a:r>
          </a:p>
          <a:p>
            <a:pPr>
              <a:lnSpc>
                <a:spcPct val="100000"/>
              </a:lnSpc>
              <a:spcBef>
                <a:spcPts val="0"/>
              </a:spcBef>
              <a:spcAft>
                <a:spcPts val="0"/>
              </a:spcAft>
            </a:pPr>
            <a:r>
              <a:rPr sz="1350" b="0" i="0">
                <a:solidFill>
                  <a:srgbClr val="62707E"/>
                </a:solidFill>
                <a:latin typeface="Calibri"/>
              </a:rPr>
              <a:t>banco de ensayo
que hay que diseñar y fabricar</a:t>
            </a:r>
          </a:p>
        </p:txBody>
      </p:sp>
      <p:sp>
        <p:nvSpPr>
          <p:cNvPr id="15" name="TextBox 14"/>
          <p:cNvSpPr txBox="1"/>
          <p:nvPr/>
        </p:nvSpPr>
        <p:spPr>
          <a:xfrm>
            <a:off x="658368" y="3529584"/>
            <a:ext cx="10874959" cy="365760"/>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CADA ENLACE, CON SU PROPIO FORMATO DE TRAMA</a:t>
            </a:r>
          </a:p>
        </p:txBody>
      </p:sp>
      <p:sp>
        <p:nvSpPr>
          <p:cNvPr id="16" name="Rectangle 15"/>
          <p:cNvSpPr/>
          <p:nvPr/>
        </p:nvSpPr>
        <p:spPr>
          <a:xfrm>
            <a:off x="658368" y="3877056"/>
            <a:ext cx="10874959" cy="54864"/>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877056"/>
            <a:ext cx="1704212" cy="54864"/>
          </a:xfrm>
          <a:prstGeom prst="rect">
            <a:avLst/>
          </a:prstGeom>
          <a:noFill/>
        </p:spPr>
        <p:txBody>
          <a:bodyPr wrap="square" lIns="0" tIns="0" rIns="0" bIns="0" anchor="ctr">
            <a:spAutoFit/>
          </a:bodyPr>
          <a:lstStyle/>
          <a:p>
            <a:pPr algn="l">
              <a:lnSpc>
                <a:spcPct val="108000"/>
              </a:lnSpc>
              <a:spcBef>
                <a:spcPts val="0"/>
              </a:spcBef>
              <a:spcAft>
                <a:spcPts val="0"/>
              </a:spcAft>
            </a:pPr>
            <a:endParaRPr/>
          </a:p>
        </p:txBody>
      </p:sp>
      <p:sp>
        <p:nvSpPr>
          <p:cNvPr id="18" name="TextBox 17"/>
          <p:cNvSpPr txBox="1"/>
          <p:nvPr/>
        </p:nvSpPr>
        <p:spPr>
          <a:xfrm>
            <a:off x="2719196" y="3877056"/>
            <a:ext cx="8695258" cy="54864"/>
          </a:xfrm>
          <a:prstGeom prst="rect">
            <a:avLst/>
          </a:prstGeom>
          <a:noFill/>
        </p:spPr>
        <p:txBody>
          <a:bodyPr wrap="square" lIns="0" tIns="0" rIns="0" bIns="0" anchor="ctr">
            <a:spAutoFit/>
          </a:bodyPr>
          <a:lstStyle/>
          <a:p>
            <a:pPr algn="l">
              <a:lnSpc>
                <a:spcPct val="108000"/>
              </a:lnSpc>
              <a:spcBef>
                <a:spcPts val="0"/>
              </a:spcBef>
              <a:spcAft>
                <a:spcPts val="0"/>
              </a:spcAft>
            </a:pPr>
            <a:endParaRPr/>
          </a:p>
        </p:txBody>
      </p:sp>
      <p:sp>
        <p:nvSpPr>
          <p:cNvPr id="19" name="Rectangle 18"/>
          <p:cNvSpPr/>
          <p:nvPr/>
        </p:nvSpPr>
        <p:spPr>
          <a:xfrm>
            <a:off x="658368" y="3931920"/>
            <a:ext cx="10874959"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931920"/>
            <a:ext cx="1704212"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Periféricos</a:t>
            </a:r>
          </a:p>
        </p:txBody>
      </p:sp>
      <p:sp>
        <p:nvSpPr>
          <p:cNvPr id="21" name="TextBox 20"/>
          <p:cNvSpPr txBox="1"/>
          <p:nvPr/>
        </p:nvSpPr>
        <p:spPr>
          <a:xfrm>
            <a:off x="2719196" y="3931920"/>
            <a:ext cx="8695258"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propulsores · cámaras · seguidores de estrellas · sensores térmicos</a:t>
            </a:r>
          </a:p>
        </p:txBody>
      </p:sp>
      <p:sp>
        <p:nvSpPr>
          <p:cNvPr id="22" name="Rectangle 21"/>
          <p:cNvSpPr/>
          <p:nvPr/>
        </p:nvSpPr>
        <p:spPr>
          <a:xfrm>
            <a:off x="658368" y="4407408"/>
            <a:ext cx="10874959" cy="47548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407408"/>
            <a:ext cx="1704212"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Por enlace</a:t>
            </a:r>
          </a:p>
        </p:txBody>
      </p:sp>
      <p:sp>
        <p:nvSpPr>
          <p:cNvPr id="24" name="TextBox 23"/>
          <p:cNvSpPr txBox="1"/>
          <p:nvPr/>
        </p:nvSpPr>
        <p:spPr>
          <a:xfrm>
            <a:off x="2719196" y="4407408"/>
            <a:ext cx="8695258"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baudrate · paridad · bits de datos · bits de parada · orden de bit</a:t>
            </a:r>
          </a:p>
        </p:txBody>
      </p:sp>
      <p:sp>
        <p:nvSpPr>
          <p:cNvPr id="25" name="Rectangle 24"/>
          <p:cNvSpPr/>
          <p:nvPr/>
        </p:nvSpPr>
        <p:spPr>
          <a:xfrm>
            <a:off x="658368" y="4882896"/>
            <a:ext cx="10874959"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882896"/>
            <a:ext cx="1704212"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A minimizar</a:t>
            </a:r>
          </a:p>
        </p:txBody>
      </p:sp>
      <p:sp>
        <p:nvSpPr>
          <p:cNvPr id="27" name="TextBox 26"/>
          <p:cNvSpPr txBox="1"/>
          <p:nvPr/>
        </p:nvSpPr>
        <p:spPr>
          <a:xfrm>
            <a:off x="2719196" y="4882896"/>
            <a:ext cx="8695258"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área de lógica programable · carga de CPU</a:t>
            </a:r>
          </a:p>
        </p:txBody>
      </p:sp>
      <p:sp>
        <p:nvSpPr>
          <p:cNvPr id="28" name="Rectangle 27"/>
          <p:cNvSpPr/>
          <p:nvPr/>
        </p:nvSpPr>
        <p:spPr>
          <a:xfrm>
            <a:off x="658368" y="5358384"/>
            <a:ext cx="10874959" cy="47548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5358384"/>
            <a:ext cx="1704212"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El banco</a:t>
            </a:r>
          </a:p>
        </p:txBody>
      </p:sp>
      <p:sp>
        <p:nvSpPr>
          <p:cNvPr id="30" name="TextBox 29"/>
          <p:cNvSpPr txBox="1"/>
          <p:nvPr/>
        </p:nvSpPr>
        <p:spPr>
          <a:xfrm>
            <a:off x="2719196" y="5358384"/>
            <a:ext cx="8695258" cy="475488"/>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dos UART nativas se quedan cortas, y faltan los conectores del satélite</a:t>
            </a:r>
          </a:p>
        </p:txBody>
      </p:sp>
      <p:sp>
        <p:nvSpPr>
          <p:cNvPr id="31" name="TextBox 30"/>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01 · Contexto y objetivos</a:t>
            </a:r>
          </a:p>
        </p:txBody>
      </p:sp>
      <p:sp>
        <p:nvSpPr>
          <p:cNvPr id="32" name="TextBox 31"/>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prep_2600_trim_zcu102.jpg"/>
          <p:cNvPicPr>
            <a:picLocks noChangeAspect="1"/>
          </p:cNvPicPr>
          <p:nvPr/>
        </p:nvPicPr>
        <p:blipFill>
          <a:blip r:embed="rId3"/>
          <a:stretch>
            <a:fillRect/>
          </a:stretch>
        </p:blipFill>
        <p:spPr>
          <a:xfrm>
            <a:off x="851977" y="0"/>
            <a:ext cx="10487741" cy="6858000"/>
          </a:xfrm>
          <a:prstGeom prst="rect">
            <a:avLst/>
          </a:prstGeom>
        </p:spPr>
      </p:pic>
      <p:sp>
        <p:nvSpPr>
          <p:cNvPr id="4" name="Rectangle 3"/>
          <p:cNvSpPr/>
          <p:nvPr/>
        </p:nvSpPr>
        <p:spPr>
          <a:xfrm>
            <a:off x="384048" y="6016752"/>
            <a:ext cx="364296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016752"/>
            <a:ext cx="3277203"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ZCU102 · Zynq UltraScale+ XCZU9EG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01 · CONTEXTO</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Objetivos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01</a:t>
            </a:r>
          </a:p>
        </p:txBody>
      </p:sp>
      <p:sp>
        <p:nvSpPr>
          <p:cNvPr id="6" name="TextBox 5"/>
          <p:cNvSpPr txBox="1"/>
          <p:nvPr/>
        </p:nvSpPr>
        <p:spPr>
          <a:xfrm>
            <a:off x="658368" y="1645920"/>
            <a:ext cx="10874959" cy="365760"/>
          </a:xfrm>
          <a:prstGeom prst="rect">
            <a:avLst/>
          </a:prstGeom>
          <a:noFill/>
        </p:spPr>
        <p:txBody>
          <a:bodyPr wrap="square" lIns="0" tIns="0" rIns="0" bIns="0" anchor="t">
            <a:spAutoFit/>
          </a:bodyPr>
          <a:lstStyle/>
          <a:p>
            <a:pPr algn="l">
              <a:lnSpc>
                <a:spcPct val="108000"/>
              </a:lnSpc>
              <a:spcBef>
                <a:spcPts val="0"/>
              </a:spcBef>
              <a:spcAft>
                <a:spcPts val="0"/>
              </a:spcAft>
            </a:pPr>
            <a:r>
              <a:rPr sz="1600" b="1" i="0">
                <a:solidFill>
                  <a:srgbClr val="12345C"/>
                </a:solidFill>
                <a:latin typeface="Calibri"/>
              </a:rPr>
              <a:t>Objetivo principal · </a:t>
            </a:r>
            <a:r>
              <a:rPr sz="1600" b="0" i="0">
                <a:solidFill>
                  <a:srgbClr val="1F2933"/>
                </a:solidFill>
                <a:latin typeface="Calibri"/>
              </a:rPr>
              <a:t>plataforma funcional y validada de comunicación con periféricos serie sobre el MPSoC ZCU102.</a:t>
            </a:r>
          </a:p>
        </p:txBody>
      </p:sp>
      <p:sp>
        <p:nvSpPr>
          <p:cNvPr id="7" name="Rectangle 6"/>
          <p:cNvSpPr/>
          <p:nvPr/>
        </p:nvSpPr>
        <p:spPr>
          <a:xfrm>
            <a:off x="658368" y="2267712"/>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96112" y="2615184"/>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9" name="TextBox 8"/>
          <p:cNvSpPr txBox="1"/>
          <p:nvPr/>
        </p:nvSpPr>
        <p:spPr>
          <a:xfrm>
            <a:off x="1572768" y="2267712"/>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Transceptor serie VHDL</a:t>
            </a:r>
          </a:p>
          <a:p>
            <a:pPr>
              <a:lnSpc>
                <a:spcPct val="110000"/>
              </a:lnSpc>
              <a:spcBef>
                <a:spcPts val="0"/>
              </a:spcBef>
              <a:spcAft>
                <a:spcPts val="0"/>
              </a:spcAft>
            </a:pPr>
            <a:r>
              <a:rPr sz="1350" b="0" i="0">
                <a:solidFill>
                  <a:srgbClr val="62707E"/>
                </a:solidFill>
                <a:latin typeface="Calibri"/>
              </a:rPr>
              <a:t>configurable en ejecución</a:t>
            </a:r>
          </a:p>
        </p:txBody>
      </p:sp>
      <p:sp>
        <p:nvSpPr>
          <p:cNvPr id="10" name="Rectangle 9"/>
          <p:cNvSpPr/>
          <p:nvPr/>
        </p:nvSpPr>
        <p:spPr>
          <a:xfrm>
            <a:off x="6251295" y="2267712"/>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89039" y="2615184"/>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2" name="TextBox 11"/>
          <p:cNvSpPr txBox="1"/>
          <p:nvPr/>
        </p:nvSpPr>
        <p:spPr>
          <a:xfrm>
            <a:off x="7165695" y="2267712"/>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Transporte PL↔PS</a:t>
            </a:r>
          </a:p>
          <a:p>
            <a:pPr>
              <a:lnSpc>
                <a:spcPct val="110000"/>
              </a:lnSpc>
              <a:spcBef>
                <a:spcPts val="0"/>
              </a:spcBef>
              <a:spcAft>
                <a:spcPts val="0"/>
              </a:spcAft>
            </a:pPr>
            <a:r>
              <a:rPr sz="1350" b="0" i="0">
                <a:solidFill>
                  <a:srgbClr val="62707E"/>
                </a:solidFill>
                <a:latin typeface="Calibri"/>
              </a:rPr>
              <a:t>alternativas, medida y elección</a:t>
            </a:r>
          </a:p>
        </p:txBody>
      </p:sp>
      <p:sp>
        <p:nvSpPr>
          <p:cNvPr id="13" name="Rectangle 12"/>
          <p:cNvSpPr/>
          <p:nvPr/>
        </p:nvSpPr>
        <p:spPr>
          <a:xfrm>
            <a:off x="658368" y="3621024"/>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96112" y="3968496"/>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5" name="TextBox 14"/>
          <p:cNvSpPr txBox="1"/>
          <p:nvPr/>
        </p:nvSpPr>
        <p:spPr>
          <a:xfrm>
            <a:off x="1572768" y="3621024"/>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Driver sobre RTEMS 7</a:t>
            </a:r>
          </a:p>
          <a:p>
            <a:pPr>
              <a:lnSpc>
                <a:spcPct val="110000"/>
              </a:lnSpc>
              <a:spcBef>
                <a:spcPts val="0"/>
              </a:spcBef>
              <a:spcAft>
                <a:spcPts val="0"/>
              </a:spcAft>
            </a:pPr>
            <a:r>
              <a:rPr sz="1350" b="0" i="0">
                <a:solidFill>
                  <a:srgbClr val="62707E"/>
                </a:solidFill>
                <a:latin typeface="Calibri"/>
              </a:rPr>
              <a:t>API pública de 6 funciones</a:t>
            </a:r>
          </a:p>
        </p:txBody>
      </p:sp>
      <p:sp>
        <p:nvSpPr>
          <p:cNvPr id="16" name="Rectangle 15"/>
          <p:cNvSpPr/>
          <p:nvPr/>
        </p:nvSpPr>
        <p:spPr>
          <a:xfrm>
            <a:off x="6251295" y="3621024"/>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89039" y="3968496"/>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18" name="TextBox 17"/>
          <p:cNvSpPr txBox="1"/>
          <p:nvPr/>
        </p:nvSpPr>
        <p:spPr>
          <a:xfrm>
            <a:off x="7165695" y="3621024"/>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Placa de comunicación serie</a:t>
            </a:r>
          </a:p>
          <a:p>
            <a:pPr>
              <a:lnSpc>
                <a:spcPct val="110000"/>
              </a:lnSpc>
              <a:spcBef>
                <a:spcPts val="0"/>
              </a:spcBef>
              <a:spcAft>
                <a:spcPts val="0"/>
              </a:spcAft>
            </a:pPr>
            <a:r>
              <a:rPr sz="1350" b="0" i="0">
                <a:solidFill>
                  <a:srgbClr val="62707E"/>
                </a:solidFill>
                <a:latin typeface="Calibri"/>
              </a:rPr>
              <a:t>los 14 canales a la vez</a:t>
            </a:r>
          </a:p>
        </p:txBody>
      </p:sp>
      <p:sp>
        <p:nvSpPr>
          <p:cNvPr id="19" name="Rectangle 18"/>
          <p:cNvSpPr/>
          <p:nvPr/>
        </p:nvSpPr>
        <p:spPr>
          <a:xfrm>
            <a:off x="658368" y="4974336"/>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6112" y="5321808"/>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21" name="TextBox 20"/>
          <p:cNvSpPr txBox="1"/>
          <p:nvPr/>
        </p:nvSpPr>
        <p:spPr>
          <a:xfrm>
            <a:off x="1572768" y="4974336"/>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Placas CDHS y AOCS</a:t>
            </a:r>
          </a:p>
          <a:p>
            <a:pPr>
              <a:lnSpc>
                <a:spcPct val="110000"/>
              </a:lnSpc>
              <a:spcBef>
                <a:spcPts val="0"/>
              </a:spcBef>
              <a:spcAft>
                <a:spcPts val="0"/>
              </a:spcAft>
            </a:pPr>
            <a:r>
              <a:rPr sz="1350" b="0" i="0">
                <a:solidFill>
                  <a:srgbClr val="62707E"/>
                </a:solidFill>
                <a:latin typeface="Calibri"/>
              </a:rPr>
              <a:t>bajo especificación de Indra</a:t>
            </a:r>
          </a:p>
        </p:txBody>
      </p:sp>
      <p:sp>
        <p:nvSpPr>
          <p:cNvPr id="22" name="Rectangle 21"/>
          <p:cNvSpPr/>
          <p:nvPr/>
        </p:nvSpPr>
        <p:spPr>
          <a:xfrm>
            <a:off x="6251295" y="4974336"/>
            <a:ext cx="5282031" cy="117043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89039" y="5321808"/>
            <a:ext cx="475488" cy="475488"/>
          </a:xfrm>
          <a:prstGeom prst="ellipse">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6</a:t>
            </a:r>
          </a:p>
        </p:txBody>
      </p:sp>
      <p:sp>
        <p:nvSpPr>
          <p:cNvPr id="24" name="TextBox 23"/>
          <p:cNvSpPr txBox="1"/>
          <p:nvPr/>
        </p:nvSpPr>
        <p:spPr>
          <a:xfrm>
            <a:off x="7165695" y="4974336"/>
            <a:ext cx="4129887" cy="1170432"/>
          </a:xfrm>
          <a:prstGeom prst="rect">
            <a:avLst/>
          </a:prstGeom>
          <a:noFill/>
        </p:spPr>
        <p:txBody>
          <a:bodyPr wrap="square" lIns="0" tIns="0" rIns="0" bIns="0" anchor="ctr">
            <a:spAutoFit/>
          </a:bodyPr>
          <a:lstStyle/>
          <a:p>
            <a:pPr algn="l">
              <a:lnSpc>
                <a:spcPct val="108000"/>
              </a:lnSpc>
              <a:spcBef>
                <a:spcPts val="0"/>
              </a:spcBef>
              <a:spcAft>
                <a:spcPts val="400"/>
              </a:spcAft>
            </a:pPr>
            <a:r>
              <a:rPr sz="1700" b="1" i="0">
                <a:solidFill>
                  <a:srgbClr val="12345C"/>
                </a:solidFill>
                <a:latin typeface="Calibri"/>
              </a:rPr>
              <a:t>Integrar y validar</a:t>
            </a:r>
          </a:p>
          <a:p>
            <a:pPr>
              <a:lnSpc>
                <a:spcPct val="110000"/>
              </a:lnSpc>
              <a:spcBef>
                <a:spcPts val="0"/>
              </a:spcBef>
              <a:spcAft>
                <a:spcPts val="0"/>
              </a:spcAft>
            </a:pPr>
            <a:r>
              <a:rPr sz="1350" b="0" i="0">
                <a:solidFill>
                  <a:srgbClr val="62707E"/>
                </a:solidFill>
                <a:latin typeface="Calibri"/>
              </a:rPr>
              <a:t>ZCU102 ↔ las tres placas</a:t>
            </a:r>
          </a:p>
        </p:txBody>
      </p:sp>
      <p:sp>
        <p:nvSpPr>
          <p:cNvPr id="25" name="TextBox 24"/>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01 · Contexto y objetivos</a:t>
            </a:r>
          </a:p>
        </p:txBody>
      </p:sp>
      <p:sp>
        <p:nvSpPr>
          <p:cNvPr id="26" name="TextBox 25"/>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01 · CONTEXTO</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Arquitectura de la plataforma</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01</a:t>
            </a:r>
          </a:p>
        </p:txBody>
      </p:sp>
      <p:pic>
        <p:nvPicPr>
          <p:cNvPr id="6" name="Picture 5" descr="diagrama_vision_general_ancho.png"/>
          <p:cNvPicPr>
            <a:picLocks noChangeAspect="1"/>
          </p:cNvPicPr>
          <p:nvPr/>
        </p:nvPicPr>
        <p:blipFill>
          <a:blip r:embed="rId3"/>
          <a:stretch>
            <a:fillRect/>
          </a:stretch>
        </p:blipFill>
        <p:spPr>
          <a:xfrm>
            <a:off x="658368" y="1773366"/>
            <a:ext cx="10874959" cy="3521579"/>
          </a:xfrm>
          <a:prstGeom prst="rect">
            <a:avLst/>
          </a:prstGeom>
        </p:spPr>
      </p:pic>
      <p:sp>
        <p:nvSpPr>
          <p:cNvPr id="7" name="Rectangle 6"/>
          <p:cNvSpPr/>
          <p:nvPr/>
        </p:nvSpPr>
        <p:spPr>
          <a:xfrm>
            <a:off x="658368" y="5632704"/>
            <a:ext cx="10874959" cy="65836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5632704"/>
            <a:ext cx="40640" cy="658368"/>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632704"/>
            <a:ext cx="10326319" cy="65836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2345C"/>
                </a:solidFill>
                <a:latin typeface="Calibri"/>
              </a:rPr>
              <a:t>En azul, diseño propio; en verde, software y hardware externo · </a:t>
            </a:r>
            <a:r>
              <a:rPr sz="1400" b="0" i="0">
                <a:solidFill>
                  <a:srgbClr val="1F2933"/>
                </a:solidFill>
                <a:latin typeface="Calibri"/>
              </a:rPr>
              <a:t>los números marcan el objetivo específico que cubre cada bloque.</a:t>
            </a:r>
          </a:p>
        </p:txBody>
      </p:sp>
      <p:sp>
        <p:nvSpPr>
          <p:cNvPr id="10" name="TextBox 9"/>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01 · Contexto y objetivos</a:t>
            </a:r>
          </a:p>
        </p:txBody>
      </p:sp>
      <p:sp>
        <p:nvSpPr>
          <p:cNvPr id="11" name="TextBox 10"/>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148840"/>
            <a:ext cx="2194560" cy="1737360"/>
          </a:xfrm>
          <a:prstGeom prst="rect">
            <a:avLst/>
          </a:prstGeom>
          <a:noFill/>
        </p:spPr>
        <p:txBody>
          <a:bodyPr wrap="square" lIns="0" tIns="0" rIns="0" bIns="0" anchor="t">
            <a:spAutoFit/>
          </a:bodyPr>
          <a:lstStyle/>
          <a:p>
            <a:pPr algn="l">
              <a:lnSpc>
                <a:spcPct val="90000"/>
              </a:lnSpc>
              <a:spcBef>
                <a:spcPts val="0"/>
              </a:spcBef>
              <a:spcAft>
                <a:spcPts val="0"/>
              </a:spcAft>
            </a:pPr>
            <a:r>
              <a:rPr sz="9600" b="1" i="0">
                <a:solidFill>
                  <a:srgbClr val="E09B2D"/>
                </a:solidFill>
                <a:latin typeface="Calibri"/>
              </a:rPr>
              <a:t>02</a:t>
            </a:r>
          </a:p>
        </p:txBody>
      </p:sp>
      <p:sp>
        <p:nvSpPr>
          <p:cNvPr id="5" name="TextBox 4"/>
          <p:cNvSpPr txBox="1"/>
          <p:nvPr/>
        </p:nvSpPr>
        <p:spPr>
          <a:xfrm>
            <a:off x="3840480" y="2331720"/>
            <a:ext cx="7498079" cy="1737360"/>
          </a:xfrm>
          <a:prstGeom prst="rect">
            <a:avLst/>
          </a:prstGeom>
          <a:noFill/>
        </p:spPr>
        <p:txBody>
          <a:bodyPr wrap="square" lIns="0" tIns="0" rIns="0" bIns="0" anchor="t">
            <a:spAutoFit/>
          </a:bodyPr>
          <a:lstStyle/>
          <a:p>
            <a:pPr algn="l">
              <a:lnSpc>
                <a:spcPct val="108000"/>
              </a:lnSpc>
              <a:spcBef>
                <a:spcPts val="0"/>
              </a:spcBef>
              <a:spcAft>
                <a:spcPts val="1400"/>
              </a:spcAft>
            </a:pPr>
            <a:r>
              <a:rPr sz="4000" b="1" i="0">
                <a:solidFill>
                  <a:srgbClr val="FFFFFF"/>
                </a:solidFill>
                <a:latin typeface="Calibri"/>
              </a:rPr>
              <a:t>Firmware</a:t>
            </a:r>
          </a:p>
        </p:txBody>
      </p:sp>
      <p:sp>
        <p:nvSpPr>
          <p:cNvPr id="6" name="Rectangle 5"/>
          <p:cNvSpPr/>
          <p:nvPr/>
        </p:nvSpPr>
        <p:spPr>
          <a:xfrm>
            <a:off x="3840480" y="3703320"/>
            <a:ext cx="146304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3977639"/>
            <a:ext cx="7498079" cy="822960"/>
          </a:xfrm>
          <a:prstGeom prst="rect">
            <a:avLst/>
          </a:prstGeom>
          <a:noFill/>
        </p:spPr>
        <p:txBody>
          <a:bodyPr wrap="square" lIns="0" tIns="0" rIns="0" bIns="0" anchor="t">
            <a:spAutoFit/>
          </a:bodyPr>
          <a:lstStyle/>
          <a:p>
            <a:pPr algn="l">
              <a:lnSpc>
                <a:spcPct val="116000"/>
              </a:lnSpc>
              <a:spcBef>
                <a:spcPts val="0"/>
              </a:spcBef>
              <a:spcAft>
                <a:spcPts val="0"/>
              </a:spcAft>
            </a:pPr>
            <a:r>
              <a:rPr sz="1700" b="0" i="0">
                <a:solidFill>
                  <a:srgbClr val="9FB6D1"/>
                </a:solidFill>
                <a:latin typeface="Calibri"/>
              </a:rPr>
              <a:t>Transceptor en VHDL, driver sobre RTEMS 7 y el transporte de datos entre procesador y FPGA.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Transceptor serie configurable en VHDL</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pic>
        <p:nvPicPr>
          <p:cNvPr id="6" name="Picture 5" descr="diagrama_transceptor.png"/>
          <p:cNvPicPr>
            <a:picLocks noChangeAspect="1"/>
          </p:cNvPicPr>
          <p:nvPr/>
        </p:nvPicPr>
        <p:blipFill>
          <a:blip r:embed="rId3"/>
          <a:stretch>
            <a:fillRect/>
          </a:stretch>
        </p:blipFill>
        <p:spPr>
          <a:xfrm>
            <a:off x="658368" y="1809036"/>
            <a:ext cx="7772400" cy="3532535"/>
          </a:xfrm>
          <a:prstGeom prst="rect">
            <a:avLst/>
          </a:prstGeom>
        </p:spPr>
      </p:pic>
      <p:sp>
        <p:nvSpPr>
          <p:cNvPr id="7" name="TextBox 6"/>
          <p:cNvSpPr txBox="1"/>
          <p:nvPr/>
        </p:nvSpPr>
        <p:spPr>
          <a:xfrm>
            <a:off x="8705088" y="1655064"/>
            <a:ext cx="2828239" cy="320040"/>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CONFIGURABLE EN EJECUCIÓN</a:t>
            </a:r>
          </a:p>
        </p:txBody>
      </p:sp>
      <p:sp>
        <p:nvSpPr>
          <p:cNvPr id="8" name="Rectangle 7"/>
          <p:cNvSpPr/>
          <p:nvPr/>
        </p:nvSpPr>
        <p:spPr>
          <a:xfrm>
            <a:off x="8705088" y="2084832"/>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06256" y="2084832"/>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50 – 4 M</a:t>
            </a:r>
          </a:p>
        </p:txBody>
      </p:sp>
      <p:sp>
        <p:nvSpPr>
          <p:cNvPr id="10" name="TextBox 9"/>
          <p:cNvSpPr txBox="1"/>
          <p:nvPr/>
        </p:nvSpPr>
        <p:spPr>
          <a:xfrm>
            <a:off x="10305288" y="2084832"/>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baudios · 54 velocidades</a:t>
            </a:r>
          </a:p>
        </p:txBody>
      </p:sp>
      <p:sp>
        <p:nvSpPr>
          <p:cNvPr id="11" name="Rectangle 10"/>
          <p:cNvSpPr/>
          <p:nvPr/>
        </p:nvSpPr>
        <p:spPr>
          <a:xfrm>
            <a:off x="8705088" y="2706624"/>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06256" y="2706624"/>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5 – 9</a:t>
            </a:r>
          </a:p>
        </p:txBody>
      </p:sp>
      <p:sp>
        <p:nvSpPr>
          <p:cNvPr id="13" name="TextBox 12"/>
          <p:cNvSpPr txBox="1"/>
          <p:nvPr/>
        </p:nvSpPr>
        <p:spPr>
          <a:xfrm>
            <a:off x="10305288" y="2706624"/>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bits de datos</a:t>
            </a:r>
          </a:p>
        </p:txBody>
      </p:sp>
      <p:sp>
        <p:nvSpPr>
          <p:cNvPr id="14" name="Rectangle 13"/>
          <p:cNvSpPr/>
          <p:nvPr/>
        </p:nvSpPr>
        <p:spPr>
          <a:xfrm>
            <a:off x="8705088" y="3328416"/>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06256" y="3328416"/>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5</a:t>
            </a:r>
          </a:p>
        </p:txBody>
      </p:sp>
      <p:sp>
        <p:nvSpPr>
          <p:cNvPr id="16" name="TextBox 15"/>
          <p:cNvSpPr txBox="1"/>
          <p:nvPr/>
        </p:nvSpPr>
        <p:spPr>
          <a:xfrm>
            <a:off x="10305288" y="3328416"/>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modos de paridad</a:t>
            </a:r>
          </a:p>
        </p:txBody>
      </p:sp>
      <p:sp>
        <p:nvSpPr>
          <p:cNvPr id="17" name="Rectangle 16"/>
          <p:cNvSpPr/>
          <p:nvPr/>
        </p:nvSpPr>
        <p:spPr>
          <a:xfrm>
            <a:off x="8705088" y="3950208"/>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06256" y="3950208"/>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1 · 1,5 · 2</a:t>
            </a:r>
          </a:p>
        </p:txBody>
      </p:sp>
      <p:sp>
        <p:nvSpPr>
          <p:cNvPr id="19" name="TextBox 18"/>
          <p:cNvSpPr txBox="1"/>
          <p:nvPr/>
        </p:nvSpPr>
        <p:spPr>
          <a:xfrm>
            <a:off x="10305288" y="3950208"/>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bits de parada</a:t>
            </a:r>
          </a:p>
        </p:txBody>
      </p:sp>
      <p:sp>
        <p:nvSpPr>
          <p:cNvPr id="20" name="Rectangle 19"/>
          <p:cNvSpPr/>
          <p:nvPr/>
        </p:nvSpPr>
        <p:spPr>
          <a:xfrm>
            <a:off x="8705088" y="4572000"/>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06256" y="4572000"/>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LSB / MSB</a:t>
            </a:r>
          </a:p>
        </p:txBody>
      </p:sp>
      <p:sp>
        <p:nvSpPr>
          <p:cNvPr id="22" name="TextBox 21"/>
          <p:cNvSpPr txBox="1"/>
          <p:nvPr/>
        </p:nvSpPr>
        <p:spPr>
          <a:xfrm>
            <a:off x="10305288" y="4572000"/>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orden de bit</a:t>
            </a:r>
          </a:p>
        </p:txBody>
      </p:sp>
      <p:sp>
        <p:nvSpPr>
          <p:cNvPr id="23" name="Rectangle 22"/>
          <p:cNvSpPr/>
          <p:nvPr/>
        </p:nvSpPr>
        <p:spPr>
          <a:xfrm>
            <a:off x="8705088" y="5193792"/>
            <a:ext cx="28282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06256" y="5193792"/>
            <a:ext cx="1325880" cy="566928"/>
          </a:xfrm>
          <a:prstGeom prst="rect">
            <a:avLst/>
          </a:prstGeom>
          <a:noFill/>
        </p:spPr>
        <p:txBody>
          <a:bodyPr wrap="square" lIns="0" tIns="0" rIns="0" bIns="0" anchor="ctr">
            <a:spAutoFit/>
          </a:bodyPr>
          <a:lstStyle/>
          <a:p>
            <a:pPr algn="l">
              <a:lnSpc>
                <a:spcPct val="108000"/>
              </a:lnSpc>
              <a:spcBef>
                <a:spcPts val="0"/>
              </a:spcBef>
              <a:spcAft>
                <a:spcPts val="0"/>
              </a:spcAft>
            </a:pPr>
            <a:r>
              <a:rPr sz="1550" b="1" i="0">
                <a:solidFill>
                  <a:srgbClr val="1E63A8"/>
                </a:solidFill>
                <a:latin typeface="Calibri"/>
              </a:rPr>
              <a:t>SLO</a:t>
            </a:r>
          </a:p>
        </p:txBody>
      </p:sp>
      <p:sp>
        <p:nvSpPr>
          <p:cNvPr id="25" name="TextBox 24"/>
          <p:cNvSpPr txBox="1"/>
          <p:nvPr/>
        </p:nvSpPr>
        <p:spPr>
          <a:xfrm>
            <a:off x="10305288" y="5193792"/>
            <a:ext cx="1026871" cy="566928"/>
          </a:xfrm>
          <a:prstGeom prst="rect">
            <a:avLst/>
          </a:prstGeom>
          <a:noFill/>
        </p:spPr>
        <p:txBody>
          <a:bodyPr wrap="square" lIns="0" tIns="0" rIns="0" bIns="0" anchor="ctr">
            <a:spAutoFit/>
          </a:bodyPr>
          <a:lstStyle/>
          <a:p>
            <a:pPr algn="l">
              <a:lnSpc>
                <a:spcPct val="108000"/>
              </a:lnSpc>
              <a:spcBef>
                <a:spcPts val="0"/>
              </a:spcBef>
              <a:spcAft>
                <a:spcPts val="0"/>
              </a:spcAft>
            </a:pPr>
            <a:r>
              <a:rPr sz="1250" b="0" i="0">
                <a:solidFill>
                  <a:srgbClr val="62707E"/>
                </a:solidFill>
                <a:latin typeface="Calibri"/>
              </a:rPr>
              <a:t>limitador de slew rate</a:t>
            </a:r>
          </a:p>
        </p:txBody>
      </p:sp>
      <p:sp>
        <p:nvSpPr>
          <p:cNvPr id="26" name="TextBox 25"/>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NCO · TX · RX · registro de desplazamiento · FIFO de 9 bits × 512</a:t>
            </a:r>
          </a:p>
        </p:txBody>
      </p:sp>
      <p:sp>
        <p:nvSpPr>
          <p:cNvPr id="27" name="TextBox 26"/>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Verificación del transceptor en simulación</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Rectangle 5"/>
          <p:cNvSpPr/>
          <p:nvPr/>
        </p:nvSpPr>
        <p:spPr>
          <a:xfrm>
            <a:off x="658368" y="1700784"/>
            <a:ext cx="5254599"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11430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4943703" cy="923544"/>
          </a:xfrm>
          <a:prstGeom prst="rect">
            <a:avLst/>
          </a:prstGeom>
          <a:noFill/>
        </p:spPr>
        <p:txBody>
          <a:bodyPr wrap="square" lIns="0" tIns="0" rIns="0" bIns="0" anchor="ctr">
            <a:spAutoFit/>
          </a:bodyPr>
          <a:lstStyle/>
          <a:p>
            <a:pPr algn="l">
              <a:lnSpc>
                <a:spcPct val="95000"/>
              </a:lnSpc>
              <a:spcBef>
                <a:spcPts val="0"/>
              </a:spcBef>
              <a:spcAft>
                <a:spcPts val="200"/>
              </a:spcAft>
            </a:pPr>
            <a:r>
              <a:rPr sz="2700" b="1" i="0">
                <a:solidFill>
                  <a:srgbClr val="1E63A8"/>
                </a:solidFill>
                <a:latin typeface="Calibri"/>
              </a:rPr>
              <a:t>58 medidas</a:t>
            </a:r>
          </a:p>
          <a:p>
            <a:pPr>
              <a:lnSpc>
                <a:spcPct val="100000"/>
              </a:lnSpc>
              <a:spcBef>
                <a:spcPts val="0"/>
              </a:spcBef>
              <a:spcAft>
                <a:spcPts val="0"/>
              </a:spcAft>
            </a:pPr>
            <a:r>
              <a:rPr sz="1250" b="0" i="0">
                <a:solidFill>
                  <a:srgbClr val="62707E"/>
                </a:solidFill>
                <a:latin typeface="Calibri"/>
              </a:rPr>
              <a:t>NCO · 29 velocidades × 2 modos, promediando 200 períodos</a:t>
            </a:r>
          </a:p>
        </p:txBody>
      </p:sp>
      <p:sp>
        <p:nvSpPr>
          <p:cNvPr id="9" name="Rectangle 8"/>
          <p:cNvSpPr/>
          <p:nvPr/>
        </p:nvSpPr>
        <p:spPr>
          <a:xfrm>
            <a:off x="6278727" y="1700784"/>
            <a:ext cx="5254599"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78727" y="1700784"/>
            <a:ext cx="40640" cy="1143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895" y="1828800"/>
            <a:ext cx="4943703" cy="923544"/>
          </a:xfrm>
          <a:prstGeom prst="rect">
            <a:avLst/>
          </a:prstGeom>
          <a:noFill/>
        </p:spPr>
        <p:txBody>
          <a:bodyPr wrap="square" lIns="0" tIns="0" rIns="0" bIns="0" anchor="ctr">
            <a:spAutoFit/>
          </a:bodyPr>
          <a:lstStyle/>
          <a:p>
            <a:pPr algn="l">
              <a:lnSpc>
                <a:spcPct val="95000"/>
              </a:lnSpc>
              <a:spcBef>
                <a:spcPts val="0"/>
              </a:spcBef>
              <a:spcAft>
                <a:spcPts val="200"/>
              </a:spcAft>
            </a:pPr>
            <a:r>
              <a:rPr sz="2700" b="1" i="0">
                <a:solidFill>
                  <a:srgbClr val="E09B2D"/>
                </a:solidFill>
                <a:latin typeface="Calibri"/>
              </a:rPr>
              <a:t>450 / 450 tramas</a:t>
            </a:r>
          </a:p>
          <a:p>
            <a:pPr>
              <a:lnSpc>
                <a:spcPct val="100000"/>
              </a:lnSpc>
              <a:spcBef>
                <a:spcPts val="0"/>
              </a:spcBef>
              <a:spcAft>
                <a:spcPts val="0"/>
              </a:spcAft>
            </a:pPr>
            <a:r>
              <a:rPr sz="1250" b="0" i="0">
                <a:solidFill>
                  <a:srgbClr val="62707E"/>
                </a:solidFill>
                <a:latin typeface="Calibri"/>
              </a:rPr>
              <a:t>canal completo · 150 configuraciones × 3 tramas, dato a dato</a:t>
            </a:r>
          </a:p>
        </p:txBody>
      </p:sp>
      <p:sp>
        <p:nvSpPr>
          <p:cNvPr id="12" name="TextBox 11"/>
          <p:cNvSpPr txBox="1"/>
          <p:nvPr/>
        </p:nvSpPr>
        <p:spPr>
          <a:xfrm>
            <a:off x="658368" y="3118104"/>
            <a:ext cx="5440680" cy="320040"/>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ERROR DE FRECUENCIA DEL NCO</a:t>
            </a:r>
          </a:p>
        </p:txBody>
      </p:sp>
      <p:sp>
        <p:nvSpPr>
          <p:cNvPr id="13" name="Rectangle 12"/>
          <p:cNvSpPr/>
          <p:nvPr/>
        </p:nvSpPr>
        <p:spPr>
          <a:xfrm>
            <a:off x="658368" y="3429000"/>
            <a:ext cx="5440680"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429000"/>
            <a:ext cx="1522476"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Baudios</a:t>
            </a:r>
          </a:p>
        </p:txBody>
      </p:sp>
      <p:sp>
        <p:nvSpPr>
          <p:cNvPr id="15" name="TextBox 14"/>
          <p:cNvSpPr txBox="1"/>
          <p:nvPr/>
        </p:nvSpPr>
        <p:spPr>
          <a:xfrm>
            <a:off x="2537460" y="3429000"/>
            <a:ext cx="1842515"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Medido (Hz)</a:t>
            </a:r>
          </a:p>
        </p:txBody>
      </p:sp>
      <p:sp>
        <p:nvSpPr>
          <p:cNvPr id="16" name="TextBox 15"/>
          <p:cNvSpPr txBox="1"/>
          <p:nvPr/>
        </p:nvSpPr>
        <p:spPr>
          <a:xfrm>
            <a:off x="4617719" y="3429000"/>
            <a:ext cx="1362455"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Error</a:t>
            </a:r>
          </a:p>
        </p:txBody>
      </p:sp>
      <p:sp>
        <p:nvSpPr>
          <p:cNvPr id="17" name="Rectangle 16"/>
          <p:cNvSpPr/>
          <p:nvPr/>
        </p:nvSpPr>
        <p:spPr>
          <a:xfrm>
            <a:off x="658368" y="3794760"/>
            <a:ext cx="54406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794760"/>
            <a:ext cx="1522476" cy="329184"/>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9.600</a:t>
            </a:r>
          </a:p>
        </p:txBody>
      </p:sp>
      <p:sp>
        <p:nvSpPr>
          <p:cNvPr id="19" name="TextBox 18"/>
          <p:cNvSpPr txBox="1"/>
          <p:nvPr/>
        </p:nvSpPr>
        <p:spPr>
          <a:xfrm>
            <a:off x="2537460" y="3794760"/>
            <a:ext cx="184251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9.600,002</a:t>
            </a:r>
          </a:p>
        </p:txBody>
      </p:sp>
      <p:sp>
        <p:nvSpPr>
          <p:cNvPr id="20" name="TextBox 19"/>
          <p:cNvSpPr txBox="1"/>
          <p:nvPr/>
        </p:nvSpPr>
        <p:spPr>
          <a:xfrm>
            <a:off x="4617719" y="3794760"/>
            <a:ext cx="136245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0,2 ppm</a:t>
            </a:r>
          </a:p>
        </p:txBody>
      </p:sp>
      <p:sp>
        <p:nvSpPr>
          <p:cNvPr id="21" name="Rectangle 20"/>
          <p:cNvSpPr/>
          <p:nvPr/>
        </p:nvSpPr>
        <p:spPr>
          <a:xfrm>
            <a:off x="658368" y="4123944"/>
            <a:ext cx="5440680" cy="3291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123944"/>
            <a:ext cx="1522476" cy="329184"/>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115.200</a:t>
            </a:r>
          </a:p>
        </p:txBody>
      </p:sp>
      <p:sp>
        <p:nvSpPr>
          <p:cNvPr id="23" name="TextBox 22"/>
          <p:cNvSpPr txBox="1"/>
          <p:nvPr/>
        </p:nvSpPr>
        <p:spPr>
          <a:xfrm>
            <a:off x="2537460" y="4123944"/>
            <a:ext cx="184251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115.200,074</a:t>
            </a:r>
          </a:p>
        </p:txBody>
      </p:sp>
      <p:sp>
        <p:nvSpPr>
          <p:cNvPr id="24" name="TextBox 23"/>
          <p:cNvSpPr txBox="1"/>
          <p:nvPr/>
        </p:nvSpPr>
        <p:spPr>
          <a:xfrm>
            <a:off x="4617719" y="4123944"/>
            <a:ext cx="136245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0,6 ppm</a:t>
            </a:r>
          </a:p>
        </p:txBody>
      </p:sp>
      <p:sp>
        <p:nvSpPr>
          <p:cNvPr id="25" name="Rectangle 24"/>
          <p:cNvSpPr/>
          <p:nvPr/>
        </p:nvSpPr>
        <p:spPr>
          <a:xfrm>
            <a:off x="658368" y="4453128"/>
            <a:ext cx="54406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453128"/>
            <a:ext cx="1522476" cy="329184"/>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921.600</a:t>
            </a:r>
          </a:p>
        </p:txBody>
      </p:sp>
      <p:sp>
        <p:nvSpPr>
          <p:cNvPr id="27" name="TextBox 26"/>
          <p:cNvSpPr txBox="1"/>
          <p:nvPr/>
        </p:nvSpPr>
        <p:spPr>
          <a:xfrm>
            <a:off x="2537460" y="4453128"/>
            <a:ext cx="184251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921.616,515</a:t>
            </a:r>
          </a:p>
        </p:txBody>
      </p:sp>
      <p:sp>
        <p:nvSpPr>
          <p:cNvPr id="28" name="TextBox 27"/>
          <p:cNvSpPr txBox="1"/>
          <p:nvPr/>
        </p:nvSpPr>
        <p:spPr>
          <a:xfrm>
            <a:off x="4617719" y="4453128"/>
            <a:ext cx="136245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17,9 ppm</a:t>
            </a:r>
          </a:p>
        </p:txBody>
      </p:sp>
      <p:sp>
        <p:nvSpPr>
          <p:cNvPr id="29" name="Rectangle 28"/>
          <p:cNvSpPr/>
          <p:nvPr/>
        </p:nvSpPr>
        <p:spPr>
          <a:xfrm>
            <a:off x="658368" y="4782312"/>
            <a:ext cx="5440680" cy="32918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782312"/>
            <a:ext cx="1522476" cy="329184"/>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3.686.400</a:t>
            </a:r>
          </a:p>
        </p:txBody>
      </p:sp>
      <p:sp>
        <p:nvSpPr>
          <p:cNvPr id="31" name="TextBox 30"/>
          <p:cNvSpPr txBox="1"/>
          <p:nvPr/>
        </p:nvSpPr>
        <p:spPr>
          <a:xfrm>
            <a:off x="2537460" y="4782312"/>
            <a:ext cx="184251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3.685.956,506</a:t>
            </a:r>
          </a:p>
        </p:txBody>
      </p:sp>
      <p:sp>
        <p:nvSpPr>
          <p:cNvPr id="32" name="TextBox 31"/>
          <p:cNvSpPr txBox="1"/>
          <p:nvPr/>
        </p:nvSpPr>
        <p:spPr>
          <a:xfrm>
            <a:off x="4617719" y="4782312"/>
            <a:ext cx="1362455" cy="329184"/>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−120,3 ppm</a:t>
            </a:r>
          </a:p>
        </p:txBody>
      </p:sp>
      <p:sp>
        <p:nvSpPr>
          <p:cNvPr id="33" name="TextBox 32"/>
          <p:cNvSpPr txBox="1"/>
          <p:nvPr/>
        </p:nvSpPr>
        <p:spPr>
          <a:xfrm>
            <a:off x="658368" y="5221224"/>
            <a:ext cx="5440680" cy="731520"/>
          </a:xfrm>
          <a:prstGeom prst="rect">
            <a:avLst/>
          </a:prstGeom>
          <a:noFill/>
        </p:spPr>
        <p:txBody>
          <a:bodyPr wrap="square" lIns="0" tIns="0" rIns="0" bIns="0" anchor="t">
            <a:spAutoFit/>
          </a:bodyPr>
          <a:lstStyle/>
          <a:p>
            <a:pPr algn="l">
              <a:lnSpc>
                <a:spcPct val="114000"/>
              </a:lnSpc>
              <a:spcBef>
                <a:spcPts val="0"/>
              </a:spcBef>
              <a:spcAft>
                <a:spcPts val="0"/>
              </a:spcAft>
            </a:pPr>
            <a:r>
              <a:rPr sz="1400" b="1" i="0">
                <a:solidFill>
                  <a:srgbClr val="12345C"/>
                </a:solidFill>
                <a:latin typeface="Calibri"/>
              </a:rPr>
              <a:t>Peor caso: 120 ppm </a:t>
            </a:r>
            <a:r>
              <a:rPr sz="1400" b="0" i="0">
                <a:solidFill>
                  <a:srgbClr val="1F2933"/>
                </a:solidFill>
                <a:latin typeface="Calibri"/>
              </a:rPr>
              <a:t>— dos órdenes de magnitud por debajo de la tolerancia habitual de ±2 % de un UART.</a:t>
            </a:r>
          </a:p>
        </p:txBody>
      </p:sp>
      <p:sp>
        <p:nvSpPr>
          <p:cNvPr id="34" name="TextBox 33"/>
          <p:cNvSpPr txBox="1"/>
          <p:nvPr/>
        </p:nvSpPr>
        <p:spPr>
          <a:xfrm>
            <a:off x="6419088" y="3118104"/>
            <a:ext cx="5114239" cy="320040"/>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BARRIDO COMPLETO DEL CANAL  ·  tb_CONFIGURABLE_SERIAL_TOP</a:t>
            </a:r>
          </a:p>
        </p:txBody>
      </p:sp>
      <p:sp>
        <p:nvSpPr>
          <p:cNvPr id="35" name="Rectangle 34"/>
          <p:cNvSpPr/>
          <p:nvPr/>
        </p:nvSpPr>
        <p:spPr>
          <a:xfrm>
            <a:off x="6419088" y="3429000"/>
            <a:ext cx="5114239" cy="1755648"/>
          </a:xfrm>
          <a:prstGeom prst="rect">
            <a:avLst/>
          </a:prstGeom>
          <a:solidFill>
            <a:srgbClr val="11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56832" y="3575304"/>
            <a:ext cx="4657039" cy="1463040"/>
          </a:xfrm>
          <a:prstGeom prst="rect">
            <a:avLst/>
          </a:prstGeom>
          <a:noFill/>
        </p:spPr>
        <p:txBody>
          <a:bodyPr wrap="square" lIns="0" tIns="0" rIns="0" bIns="0" anchor="t">
            <a:spAutoFit/>
          </a:bodyPr>
          <a:lstStyle/>
          <a:p>
            <a:pPr algn="l">
              <a:lnSpc>
                <a:spcPct val="100000"/>
              </a:lnSpc>
              <a:spcBef>
                <a:spcPts val="0"/>
              </a:spcBef>
              <a:spcAft>
                <a:spcPts val="500"/>
              </a:spcAft>
            </a:pPr>
            <a:r>
              <a:rPr sz="1100" b="0" i="0">
                <a:solidFill>
                  <a:srgbClr val="8A9BB0"/>
                </a:solidFill>
                <a:latin typeface="Consolas"/>
              </a:rPr>
              <a:t>==== TB START: TX-&gt;RX loopback tests ====</a:t>
            </a:r>
          </a:p>
          <a:p>
            <a:pPr>
              <a:lnSpc>
                <a:spcPct val="100000"/>
              </a:lnSpc>
              <a:spcBef>
                <a:spcPts val="0"/>
              </a:spcBef>
              <a:spcAft>
                <a:spcPts val="500"/>
              </a:spcAft>
            </a:pPr>
            <a:r>
              <a:rPr sz="1100" b="0" i="0">
                <a:solidFill>
                  <a:srgbClr val="7ED38F"/>
                </a:solidFill>
                <a:latin typeface="Consolas"/>
              </a:rPr>
              <a:t>PASS cfg bits=5 order='0' stop=1 par=0 sent=11 rec=11</a:t>
            </a:r>
          </a:p>
          <a:p>
            <a:pPr>
              <a:lnSpc>
                <a:spcPct val="100000"/>
              </a:lnSpc>
              <a:spcBef>
                <a:spcPts val="0"/>
              </a:spcBef>
              <a:spcAft>
                <a:spcPts val="500"/>
              </a:spcAft>
            </a:pPr>
            <a:r>
              <a:rPr sz="1100" b="0" i="0">
                <a:solidFill>
                  <a:srgbClr val="8A9BB0"/>
                </a:solidFill>
                <a:latin typeface="Consolas"/>
              </a:rPr>
              <a:t>...</a:t>
            </a:r>
          </a:p>
          <a:p>
            <a:pPr>
              <a:lnSpc>
                <a:spcPct val="100000"/>
              </a:lnSpc>
              <a:spcBef>
                <a:spcPts val="0"/>
              </a:spcBef>
              <a:spcAft>
                <a:spcPts val="500"/>
              </a:spcAft>
            </a:pPr>
            <a:r>
              <a:rPr sz="1100" b="0" i="0">
                <a:solidFill>
                  <a:srgbClr val="7ED38F"/>
                </a:solidFill>
                <a:latin typeface="Consolas"/>
              </a:rPr>
              <a:t>PASS cfg bits=9 order='1' stop=3 par=4 sent=134 rec=134</a:t>
            </a:r>
          </a:p>
          <a:p>
            <a:pPr>
              <a:lnSpc>
                <a:spcPct val="100000"/>
              </a:lnSpc>
              <a:spcBef>
                <a:spcPts val="0"/>
              </a:spcBef>
              <a:spcAft>
                <a:spcPts val="500"/>
              </a:spcAft>
            </a:pPr>
            <a:r>
              <a:rPr sz="1100" b="0" i="0">
                <a:solidFill>
                  <a:srgbClr val="8A9BB0"/>
                </a:solidFill>
                <a:latin typeface="Consolas"/>
              </a:rPr>
              <a:t>==== TESTS FINISHED ====</a:t>
            </a:r>
          </a:p>
          <a:p>
            <a:pPr>
              <a:lnSpc>
                <a:spcPct val="100000"/>
              </a:lnSpc>
              <a:spcBef>
                <a:spcPts val="0"/>
              </a:spcBef>
              <a:spcAft>
                <a:spcPts val="0"/>
              </a:spcAft>
            </a:pPr>
            <a:r>
              <a:rPr sz="1100" b="1" i="0">
                <a:solidFill>
                  <a:srgbClr val="E09B2D"/>
                </a:solidFill>
                <a:latin typeface="Consolas"/>
              </a:rPr>
              <a:t>Passed = 450 / Total = 450</a:t>
            </a:r>
          </a:p>
        </p:txBody>
      </p:sp>
      <p:sp>
        <p:nvSpPr>
          <p:cNvPr id="37" name="TextBox 36"/>
          <p:cNvSpPr txBox="1"/>
          <p:nvPr/>
        </p:nvSpPr>
        <p:spPr>
          <a:xfrm>
            <a:off x="6419088" y="5330952"/>
            <a:ext cx="5114239" cy="640080"/>
          </a:xfrm>
          <a:prstGeom prst="rect">
            <a:avLst/>
          </a:prstGeom>
          <a:noFill/>
        </p:spPr>
        <p:txBody>
          <a:bodyPr wrap="square" lIns="0" tIns="0" rIns="0" bIns="0" anchor="t">
            <a:spAutoFit/>
          </a:bodyPr>
          <a:lstStyle/>
          <a:p>
            <a:pPr algn="l">
              <a:lnSpc>
                <a:spcPct val="114000"/>
              </a:lnSpc>
              <a:spcBef>
                <a:spcPts val="0"/>
              </a:spcBef>
              <a:spcAft>
                <a:spcPts val="0"/>
              </a:spcAft>
            </a:pPr>
            <a:r>
              <a:rPr sz="1400" b="0" i="0">
                <a:solidFill>
                  <a:srgbClr val="1F2933"/>
                </a:solidFill>
                <a:latin typeface="Calibri"/>
              </a:rPr>
              <a:t>Ninguna configuración disparó </a:t>
            </a:r>
            <a:r>
              <a:rPr sz="1300" b="0" i="0">
                <a:solidFill>
                  <a:srgbClr val="12345C"/>
                </a:solidFill>
                <a:latin typeface="Consolas"/>
              </a:rPr>
              <a:t>PAR_ERROR</a:t>
            </a:r>
            <a:r>
              <a:rPr sz="1400" b="0" i="0">
                <a:solidFill>
                  <a:srgbClr val="1F2933"/>
                </a:solidFill>
                <a:latin typeface="Calibri"/>
              </a:rPr>
              <a:t> ni </a:t>
            </a:r>
            <a:r>
              <a:rPr sz="1300" b="0" i="0">
                <a:solidFill>
                  <a:srgbClr val="12345C"/>
                </a:solidFill>
                <a:latin typeface="Consolas"/>
              </a:rPr>
              <a:t>FRAME_ERROR</a:t>
            </a:r>
            <a:r>
              <a:rPr sz="1400" b="0" i="0">
                <a:solidFill>
                  <a:srgbClr val="1F2933"/>
                </a:solidFill>
                <a:latin typeface="Calibri"/>
              </a:rPr>
              <a:t>.</a:t>
            </a:r>
          </a:p>
        </p:txBody>
      </p:sp>
      <p:sp>
        <p:nvSpPr>
          <p:cNvPr id="38" name="TextBox 37"/>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ningún bloque se integra sin verificación aislada previa</a:t>
            </a:r>
          </a:p>
        </p:txBody>
      </p:sp>
      <p:sp>
        <p:nvSpPr>
          <p:cNvPr id="39" name="TextBox 38"/>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RTEMS 7, el sistema operativo del procesador</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Rectangle 5"/>
          <p:cNvSpPr/>
          <p:nvPr/>
        </p:nvSpPr>
        <p:spPr>
          <a:xfrm>
            <a:off x="658368" y="1700784"/>
            <a:ext cx="3442106"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13258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3131210" cy="1106424"/>
          </a:xfrm>
          <a:prstGeom prst="rect">
            <a:avLst/>
          </a:prstGeom>
          <a:noFill/>
        </p:spPr>
        <p:txBody>
          <a:bodyPr wrap="square" lIns="0" tIns="0" rIns="0" bIns="0" anchor="ctr">
            <a:spAutoFit/>
          </a:bodyPr>
          <a:lstStyle/>
          <a:p>
            <a:pPr algn="l">
              <a:lnSpc>
                <a:spcPct val="95000"/>
              </a:lnSpc>
              <a:spcBef>
                <a:spcPts val="0"/>
              </a:spcBef>
              <a:spcAft>
                <a:spcPts val="200"/>
              </a:spcAft>
            </a:pPr>
            <a:r>
              <a:rPr sz="2800" b="1" i="0">
                <a:solidFill>
                  <a:srgbClr val="1E63A8"/>
                </a:solidFill>
                <a:latin typeface="Calibri"/>
              </a:rPr>
              <a:t>Tiempo real</a:t>
            </a:r>
          </a:p>
          <a:p>
            <a:pPr>
              <a:lnSpc>
                <a:spcPct val="100000"/>
              </a:lnSpc>
              <a:spcBef>
                <a:spcPts val="0"/>
              </a:spcBef>
              <a:spcAft>
                <a:spcPts val="0"/>
              </a:spcAft>
            </a:pPr>
            <a:r>
              <a:rPr sz="1300" b="0" i="0">
                <a:solidFill>
                  <a:srgbClr val="62707E"/>
                </a:solidFill>
                <a:latin typeface="Calibri"/>
              </a:rPr>
              <a:t>RTOS de código abierto para sistemas de misión crítica</a:t>
            </a:r>
          </a:p>
        </p:txBody>
      </p:sp>
      <p:sp>
        <p:nvSpPr>
          <p:cNvPr id="9" name="Rectangle 8"/>
          <p:cNvSpPr/>
          <p:nvPr/>
        </p:nvSpPr>
        <p:spPr>
          <a:xfrm>
            <a:off x="4374794" y="1700784"/>
            <a:ext cx="3442106"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4794" y="1700784"/>
            <a:ext cx="40640" cy="13258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5962" y="1828800"/>
            <a:ext cx="3131210" cy="1106424"/>
          </a:xfrm>
          <a:prstGeom prst="rect">
            <a:avLst/>
          </a:prstGeom>
          <a:noFill/>
        </p:spPr>
        <p:txBody>
          <a:bodyPr wrap="square" lIns="0" tIns="0" rIns="0" bIns="0" anchor="ctr">
            <a:spAutoFit/>
          </a:bodyPr>
          <a:lstStyle/>
          <a:p>
            <a:pPr algn="l">
              <a:lnSpc>
                <a:spcPct val="95000"/>
              </a:lnSpc>
              <a:spcBef>
                <a:spcPts val="0"/>
              </a:spcBef>
              <a:spcAft>
                <a:spcPts val="200"/>
              </a:spcAft>
            </a:pPr>
            <a:r>
              <a:rPr sz="2800" b="1" i="0">
                <a:solidFill>
                  <a:srgbClr val="1E63A8"/>
                </a:solidFill>
                <a:latin typeface="Calibri"/>
              </a:rPr>
              <a:t>ESA y NASA</a:t>
            </a:r>
          </a:p>
          <a:p>
            <a:pPr>
              <a:lnSpc>
                <a:spcPct val="100000"/>
              </a:lnSpc>
              <a:spcBef>
                <a:spcPts val="0"/>
              </a:spcBef>
              <a:spcAft>
                <a:spcPts val="0"/>
              </a:spcAft>
            </a:pPr>
            <a:r>
              <a:rPr sz="1300" b="0" i="0">
                <a:solidFill>
                  <a:srgbClr val="62707E"/>
                </a:solidFill>
                <a:latin typeface="Calibri"/>
              </a:rPr>
              <a:t>estándar de facto en la industria aeroespacial</a:t>
            </a:r>
          </a:p>
        </p:txBody>
      </p:sp>
      <p:sp>
        <p:nvSpPr>
          <p:cNvPr id="12" name="Rectangle 11"/>
          <p:cNvSpPr/>
          <p:nvPr/>
        </p:nvSpPr>
        <p:spPr>
          <a:xfrm>
            <a:off x="8091220" y="1700784"/>
            <a:ext cx="3442106"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1220" y="1700784"/>
            <a:ext cx="40640" cy="132588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2388" y="1828800"/>
            <a:ext cx="3131210" cy="1106424"/>
          </a:xfrm>
          <a:prstGeom prst="rect">
            <a:avLst/>
          </a:prstGeom>
          <a:noFill/>
        </p:spPr>
        <p:txBody>
          <a:bodyPr wrap="square" lIns="0" tIns="0" rIns="0" bIns="0" anchor="ctr">
            <a:spAutoFit/>
          </a:bodyPr>
          <a:lstStyle/>
          <a:p>
            <a:pPr algn="l">
              <a:lnSpc>
                <a:spcPct val="95000"/>
              </a:lnSpc>
              <a:spcBef>
                <a:spcPts val="0"/>
              </a:spcBef>
              <a:spcAft>
                <a:spcPts val="200"/>
              </a:spcAft>
            </a:pPr>
            <a:r>
              <a:rPr sz="2800" b="1" i="0">
                <a:solidFill>
                  <a:srgbClr val="E09B2D"/>
                </a:solidFill>
                <a:latin typeface="Calibri"/>
              </a:rPr>
              <a:t>Sin MMU</a:t>
            </a:r>
          </a:p>
          <a:p>
            <a:pPr>
              <a:lnSpc>
                <a:spcPct val="100000"/>
              </a:lnSpc>
              <a:spcBef>
                <a:spcPts val="0"/>
              </a:spcBef>
              <a:spcAft>
                <a:spcPts val="0"/>
              </a:spcAft>
            </a:pPr>
            <a:r>
              <a:rPr sz="1300" b="0" i="0">
                <a:solidFill>
                  <a:srgbClr val="62707E"/>
                </a:solidFill>
                <a:latin typeface="Calibri"/>
              </a:rPr>
              <a:t>un espacio físico, un proceso, varios hilos</a:t>
            </a:r>
          </a:p>
        </p:txBody>
      </p:sp>
      <p:sp>
        <p:nvSpPr>
          <p:cNvPr id="15" name="Rectangle 14"/>
          <p:cNvSpPr/>
          <p:nvPr/>
        </p:nvSpPr>
        <p:spPr>
          <a:xfrm>
            <a:off x="658368" y="3392424"/>
            <a:ext cx="10874959" cy="54864"/>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392424"/>
            <a:ext cx="2647449" cy="54864"/>
          </a:xfrm>
          <a:prstGeom prst="rect">
            <a:avLst/>
          </a:prstGeom>
          <a:noFill/>
        </p:spPr>
        <p:txBody>
          <a:bodyPr wrap="square" lIns="0" tIns="0" rIns="0" bIns="0" anchor="ctr">
            <a:spAutoFit/>
          </a:bodyPr>
          <a:lstStyle/>
          <a:p>
            <a:pPr algn="l">
              <a:lnSpc>
                <a:spcPct val="108000"/>
              </a:lnSpc>
              <a:spcBef>
                <a:spcPts val="0"/>
              </a:spcBef>
              <a:spcAft>
                <a:spcPts val="0"/>
              </a:spcAft>
            </a:pPr>
            <a:endParaRPr/>
          </a:p>
        </p:txBody>
      </p:sp>
      <p:sp>
        <p:nvSpPr>
          <p:cNvPr id="17" name="TextBox 16"/>
          <p:cNvSpPr txBox="1"/>
          <p:nvPr/>
        </p:nvSpPr>
        <p:spPr>
          <a:xfrm>
            <a:off x="3662433" y="3392424"/>
            <a:ext cx="7752021" cy="54864"/>
          </a:xfrm>
          <a:prstGeom prst="rect">
            <a:avLst/>
          </a:prstGeom>
          <a:noFill/>
        </p:spPr>
        <p:txBody>
          <a:bodyPr wrap="square" lIns="0" tIns="0" rIns="0" bIns="0" anchor="ctr">
            <a:spAutoFit/>
          </a:bodyPr>
          <a:lstStyle/>
          <a:p>
            <a:pPr algn="l">
              <a:lnSpc>
                <a:spcPct val="108000"/>
              </a:lnSpc>
              <a:spcBef>
                <a:spcPts val="0"/>
              </a:spcBef>
              <a:spcAft>
                <a:spcPts val="0"/>
              </a:spcAft>
            </a:pPr>
            <a:endParaRPr/>
          </a:p>
        </p:txBody>
      </p:sp>
      <p:sp>
        <p:nvSpPr>
          <p:cNvPr id="18" name="Rectangle 17"/>
          <p:cNvSpPr/>
          <p:nvPr/>
        </p:nvSpPr>
        <p:spPr>
          <a:xfrm>
            <a:off x="658368" y="3447288"/>
            <a:ext cx="1087495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447288"/>
            <a:ext cx="2647449"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Latencia de interrupción</a:t>
            </a:r>
          </a:p>
        </p:txBody>
      </p:sp>
      <p:sp>
        <p:nvSpPr>
          <p:cNvPr id="20" name="TextBox 19"/>
          <p:cNvSpPr txBox="1"/>
          <p:nvPr/>
        </p:nvSpPr>
        <p:spPr>
          <a:xfrm>
            <a:off x="3662433" y="3447288"/>
            <a:ext cx="7752021"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baja y determinista: no hay traducción de direcciones</a:t>
            </a:r>
          </a:p>
        </p:txBody>
      </p:sp>
      <p:sp>
        <p:nvSpPr>
          <p:cNvPr id="21" name="Rectangle 20"/>
          <p:cNvSpPr/>
          <p:nvPr/>
        </p:nvSpPr>
        <p:spPr>
          <a:xfrm>
            <a:off x="658368" y="3959352"/>
            <a:ext cx="10874959" cy="51206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959352"/>
            <a:ext cx="2647449"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Concurrencia</a:t>
            </a:r>
          </a:p>
        </p:txBody>
      </p:sp>
      <p:sp>
        <p:nvSpPr>
          <p:cNvPr id="23" name="TextBox 22"/>
          <p:cNvSpPr txBox="1"/>
          <p:nvPr/>
        </p:nvSpPr>
        <p:spPr>
          <a:xfrm>
            <a:off x="3662433" y="3959352"/>
            <a:ext cx="7752021"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hilos sobre un único espacio de memoria, SMP habilitado</a:t>
            </a:r>
          </a:p>
        </p:txBody>
      </p:sp>
      <p:sp>
        <p:nvSpPr>
          <p:cNvPr id="24" name="Rectangle 23"/>
          <p:cNvSpPr/>
          <p:nvPr/>
        </p:nvSpPr>
        <p:spPr>
          <a:xfrm>
            <a:off x="658368" y="4471416"/>
            <a:ext cx="1087495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4471416"/>
            <a:ext cx="2647449"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Periféricos propios</a:t>
            </a:r>
          </a:p>
        </p:txBody>
      </p:sp>
      <p:sp>
        <p:nvSpPr>
          <p:cNvPr id="26" name="TextBox 25"/>
          <p:cNvSpPr txBox="1"/>
          <p:nvPr/>
        </p:nvSpPr>
        <p:spPr>
          <a:xfrm>
            <a:off x="3662433" y="4471416"/>
            <a:ext cx="7752021"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sin driver previo: control total y todo el trabajo</a:t>
            </a:r>
          </a:p>
        </p:txBody>
      </p:sp>
      <p:sp>
        <p:nvSpPr>
          <p:cNvPr id="27" name="Rectangle 26"/>
          <p:cNvSpPr/>
          <p:nvPr/>
        </p:nvSpPr>
        <p:spPr>
          <a:xfrm>
            <a:off x="658368" y="4983480"/>
            <a:ext cx="10874959" cy="51206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4983480"/>
            <a:ext cx="2647449"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F2933"/>
                </a:solidFill>
                <a:latin typeface="Calibri"/>
              </a:rPr>
              <a:t>En este trabajo</a:t>
            </a:r>
          </a:p>
        </p:txBody>
      </p:sp>
      <p:sp>
        <p:nvSpPr>
          <p:cNvPr id="29" name="TextBox 28"/>
          <p:cNvSpPr txBox="1"/>
          <p:nvPr/>
        </p:nvSpPr>
        <p:spPr>
          <a:xfrm>
            <a:off x="3662433" y="4983480"/>
            <a:ext cx="7752021" cy="512064"/>
          </a:xfrm>
          <a:prstGeom prst="rect">
            <a:avLst/>
          </a:prstGeom>
          <a:noFill/>
        </p:spPr>
        <p:txBody>
          <a:bodyPr wrap="square" lIns="0" tIns="0" rIns="0" bIns="0" anchor="ctr">
            <a:spAutoFit/>
          </a:bodyPr>
          <a:lstStyle/>
          <a:p>
            <a:pPr algn="l">
              <a:lnSpc>
                <a:spcPct val="108000"/>
              </a:lnSpc>
              <a:spcBef>
                <a:spcPts val="0"/>
              </a:spcBef>
              <a:spcAft>
                <a:spcPts val="0"/>
              </a:spcAft>
            </a:pPr>
            <a:r>
              <a:rPr sz="1500" b="0" i="0">
                <a:solidFill>
                  <a:srgbClr val="1F2933"/>
                </a:solidFill>
                <a:latin typeface="Calibri"/>
              </a:rPr>
              <a:t>BSP zynqmp_apu, compilado desde fuente con RTEMS Source Builder</a:t>
            </a:r>
          </a:p>
        </p:txBody>
      </p:sp>
      <p:sp>
        <p:nvSpPr>
          <p:cNvPr id="30" name="Rectangle 29"/>
          <p:cNvSpPr/>
          <p:nvPr/>
        </p:nvSpPr>
        <p:spPr>
          <a:xfrm>
            <a:off x="658368" y="5605272"/>
            <a:ext cx="10874959" cy="65836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58368" y="5605272"/>
            <a:ext cx="40640" cy="658368"/>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50976" y="5605272"/>
            <a:ext cx="10289743" cy="65836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2345C"/>
                </a:solidFill>
                <a:latin typeface="Calibri"/>
              </a:rPr>
              <a:t>Sin memoria virtual no hay fallo de página que retrase una ISR</a:t>
            </a:r>
            <a:r>
              <a:rPr sz="1500" b="0" i="0">
                <a:solidFill>
                  <a:srgbClr val="1F2933"/>
                </a:solidFill>
                <a:latin typeface="Calibri"/>
              </a:rPr>
              <a:t>   ·   a cambio, el acceso a la lógica programable hay que declararlo a mano en el arranque.</a:t>
            </a:r>
          </a:p>
        </p:txBody>
      </p:sp>
      <p:sp>
        <p:nvSpPr>
          <p:cNvPr id="33" name="TextBox 32"/>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a:t>
            </a:r>
          </a:p>
        </p:txBody>
      </p:sp>
      <p:sp>
        <p:nvSpPr>
          <p:cNvPr id="34" name="TextBox 33"/>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Driver serie sobre RTEMS 7</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TextBox 5"/>
          <p:cNvSpPr txBox="1"/>
          <p:nvPr/>
        </p:nvSpPr>
        <p:spPr>
          <a:xfrm>
            <a:off x="658368" y="1664208"/>
            <a:ext cx="5943600" cy="320040"/>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API PÚBLICA · 6 FUNCIONES</a:t>
            </a:r>
          </a:p>
        </p:txBody>
      </p:sp>
      <p:sp>
        <p:nvSpPr>
          <p:cNvPr id="7" name="Rectangle 6"/>
          <p:cNvSpPr/>
          <p:nvPr/>
        </p:nvSpPr>
        <p:spPr>
          <a:xfrm>
            <a:off x="658368" y="1975104"/>
            <a:ext cx="5943600" cy="3584448"/>
          </a:xfrm>
          <a:prstGeom prst="rect">
            <a:avLst/>
          </a:prstGeom>
          <a:solidFill>
            <a:srgbClr val="11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2176272"/>
            <a:ext cx="5358384" cy="320040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7EC8F0"/>
                </a:solidFill>
                <a:latin typeface="Consolas"/>
              </a:rPr>
              <a:t>Transceiver_Global_INIT</a:t>
            </a:r>
            <a:r>
              <a:rPr sz="1350" b="0" i="0">
                <a:solidFill>
                  <a:srgbClr val="C7D3E0"/>
                </a:solidFill>
                <a:latin typeface="Consolas"/>
              </a:rPr>
              <a:t>(void)</a:t>
            </a:r>
          </a:p>
          <a:p>
            <a:pPr>
              <a:lnSpc>
                <a:spcPct val="100000"/>
              </a:lnSpc>
              <a:spcBef>
                <a:spcPts val="0"/>
              </a:spcBef>
              <a:spcAft>
                <a:spcPts val="1100"/>
              </a:spcAft>
            </a:pPr>
            <a:r>
              <a:rPr sz="1200" b="0" i="0">
                <a:solidFill>
                  <a:srgbClr val="8A9BB0"/>
                </a:solidFill>
                <a:latin typeface="Calibri"/>
              </a:rPr>
              <a:t>      descubre canales, prepara INTC, instala la ISR</a:t>
            </a:r>
          </a:p>
          <a:p>
            <a:pPr>
              <a:lnSpc>
                <a:spcPct val="100000"/>
              </a:lnSpc>
              <a:spcBef>
                <a:spcPts val="0"/>
              </a:spcBef>
              <a:spcAft>
                <a:spcPts val="200"/>
              </a:spcAft>
            </a:pPr>
            <a:r>
              <a:rPr sz="1350" b="1" i="0">
                <a:solidFill>
                  <a:srgbClr val="7EC8F0"/>
                </a:solidFill>
                <a:latin typeface="Consolas"/>
              </a:rPr>
              <a:t>Transceiver_Init</a:t>
            </a:r>
            <a:r>
              <a:rPr sz="1350" b="0" i="0">
                <a:solidFill>
                  <a:srgbClr val="C7D3E0"/>
                </a:solidFill>
                <a:latin typeface="Consolas"/>
              </a:rPr>
              <a:t>(dev, id, cfg)</a:t>
            </a:r>
          </a:p>
          <a:p>
            <a:pPr>
              <a:lnSpc>
                <a:spcPct val="100000"/>
              </a:lnSpc>
              <a:spcBef>
                <a:spcPts val="0"/>
              </a:spcBef>
              <a:spcAft>
                <a:spcPts val="1100"/>
              </a:spcAft>
            </a:pPr>
            <a:r>
              <a:rPr sz="1200" b="0" i="0">
                <a:solidFill>
                  <a:srgbClr val="8A9BB0"/>
                </a:solidFill>
                <a:latin typeface="Calibri"/>
              </a:rPr>
              <a:t>      una vez por canal</a:t>
            </a:r>
          </a:p>
          <a:p>
            <a:pPr>
              <a:lnSpc>
                <a:spcPct val="100000"/>
              </a:lnSpc>
              <a:spcBef>
                <a:spcPts val="0"/>
              </a:spcBef>
              <a:spcAft>
                <a:spcPts val="200"/>
              </a:spcAft>
            </a:pPr>
            <a:r>
              <a:rPr sz="1350" b="1" i="0">
                <a:solidFill>
                  <a:srgbClr val="7EC8F0"/>
                </a:solidFill>
                <a:latin typeface="Consolas"/>
              </a:rPr>
              <a:t>Transceiver_SetRxCallback</a:t>
            </a:r>
            <a:r>
              <a:rPr sz="1350" b="0" i="0">
                <a:solidFill>
                  <a:srgbClr val="C7D3E0"/>
                </a:solidFill>
                <a:latin typeface="Consolas"/>
              </a:rPr>
              <a:t>(dev, cb, arg)</a:t>
            </a:r>
          </a:p>
          <a:p>
            <a:pPr>
              <a:lnSpc>
                <a:spcPct val="100000"/>
              </a:lnSpc>
              <a:spcBef>
                <a:spcPts val="0"/>
              </a:spcBef>
              <a:spcAft>
                <a:spcPts val="1100"/>
              </a:spcAft>
            </a:pPr>
            <a:r>
              <a:rPr sz="1200" b="0" i="0">
                <a:solidFill>
                  <a:srgbClr val="8A9BB0"/>
                </a:solidFill>
                <a:latin typeface="Calibri"/>
              </a:rPr>
              <a:t>      callback de recepción</a:t>
            </a:r>
          </a:p>
          <a:p>
            <a:pPr>
              <a:lnSpc>
                <a:spcPct val="100000"/>
              </a:lnSpc>
              <a:spcBef>
                <a:spcPts val="0"/>
              </a:spcBef>
              <a:spcAft>
                <a:spcPts val="200"/>
              </a:spcAft>
            </a:pPr>
            <a:r>
              <a:rPr sz="1350" b="1" i="0">
                <a:solidFill>
                  <a:srgbClr val="7EC8F0"/>
                </a:solidFill>
                <a:latin typeface="Consolas"/>
              </a:rPr>
              <a:t>Transceiver_Read</a:t>
            </a:r>
            <a:r>
              <a:rPr sz="1350" b="0" i="0">
                <a:solidFill>
                  <a:srgbClr val="C7D3E0"/>
                </a:solidFill>
                <a:latin typeface="Consolas"/>
              </a:rPr>
              <a:t>(dev, buf, maxlen)</a:t>
            </a:r>
          </a:p>
          <a:p>
            <a:pPr>
              <a:lnSpc>
                <a:spcPct val="100000"/>
              </a:lnSpc>
              <a:spcBef>
                <a:spcPts val="0"/>
              </a:spcBef>
              <a:spcAft>
                <a:spcPts val="1100"/>
              </a:spcAft>
            </a:pPr>
            <a:r>
              <a:rPr sz="1200" b="0" i="0">
                <a:solidFill>
                  <a:srgbClr val="8A9BB0"/>
                </a:solidFill>
                <a:latin typeface="Calibri"/>
              </a:rPr>
              <a:t>      extrae lo recibido, no bloquea</a:t>
            </a:r>
          </a:p>
          <a:p>
            <a:pPr>
              <a:lnSpc>
                <a:spcPct val="100000"/>
              </a:lnSpc>
              <a:spcBef>
                <a:spcPts val="0"/>
              </a:spcBef>
              <a:spcAft>
                <a:spcPts val="200"/>
              </a:spcAft>
            </a:pPr>
            <a:r>
              <a:rPr sz="1350" b="1" i="0">
                <a:solidFill>
                  <a:srgbClr val="7EC8F0"/>
                </a:solidFill>
                <a:latin typeface="Consolas"/>
              </a:rPr>
              <a:t>Transceiver_Send</a:t>
            </a:r>
            <a:r>
              <a:rPr sz="1350" b="0" i="0">
                <a:solidFill>
                  <a:srgbClr val="C7D3E0"/>
                </a:solidFill>
                <a:latin typeface="Consolas"/>
              </a:rPr>
              <a:t>(dev, data, len)</a:t>
            </a:r>
          </a:p>
          <a:p>
            <a:pPr>
              <a:lnSpc>
                <a:spcPct val="100000"/>
              </a:lnSpc>
              <a:spcBef>
                <a:spcPts val="0"/>
              </a:spcBef>
              <a:spcAft>
                <a:spcPts val="1100"/>
              </a:spcAft>
            </a:pPr>
            <a:r>
              <a:rPr sz="1200" b="0" i="0">
                <a:solidFill>
                  <a:srgbClr val="8A9BB0"/>
                </a:solidFill>
                <a:latin typeface="Calibri"/>
              </a:rPr>
              <a:t>      encola y retorna</a:t>
            </a:r>
          </a:p>
          <a:p>
            <a:pPr>
              <a:lnSpc>
                <a:spcPct val="100000"/>
              </a:lnSpc>
              <a:spcBef>
                <a:spcPts val="0"/>
              </a:spcBef>
              <a:spcAft>
                <a:spcPts val="200"/>
              </a:spcAft>
            </a:pPr>
            <a:r>
              <a:rPr sz="1350" b="1" i="0">
                <a:solidFill>
                  <a:srgbClr val="7EC8F0"/>
                </a:solidFill>
                <a:latin typeface="Consolas"/>
              </a:rPr>
              <a:t>Transceiver_SendString</a:t>
            </a:r>
            <a:r>
              <a:rPr sz="1350" b="0" i="0">
                <a:solidFill>
                  <a:srgbClr val="C7D3E0"/>
                </a:solidFill>
                <a:latin typeface="Consolas"/>
              </a:rPr>
              <a:t>(dev, s)</a:t>
            </a:r>
          </a:p>
          <a:p>
            <a:pPr>
              <a:lnSpc>
                <a:spcPct val="100000"/>
              </a:lnSpc>
              <a:spcBef>
                <a:spcPts val="0"/>
              </a:spcBef>
              <a:spcAft>
                <a:spcPts val="1100"/>
              </a:spcAft>
            </a:pPr>
            <a:r>
              <a:rPr sz="1200" b="0" i="0">
                <a:solidFill>
                  <a:srgbClr val="8A9BB0"/>
                </a:solidFill>
                <a:latin typeface="Calibri"/>
              </a:rPr>
              <a:t>      ídem, para cadenas</a:t>
            </a:r>
          </a:p>
        </p:txBody>
      </p:sp>
      <p:sp>
        <p:nvSpPr>
          <p:cNvPr id="9" name="Rectangle 8"/>
          <p:cNvSpPr/>
          <p:nvPr/>
        </p:nvSpPr>
        <p:spPr>
          <a:xfrm>
            <a:off x="7013448" y="1664208"/>
            <a:ext cx="4519879"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13448" y="1664208"/>
            <a:ext cx="40640" cy="13258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87768" y="1828800"/>
            <a:ext cx="3971239" cy="1051560"/>
          </a:xfrm>
          <a:prstGeom prst="rect">
            <a:avLst/>
          </a:prstGeom>
          <a:noFill/>
        </p:spPr>
        <p:txBody>
          <a:bodyPr wrap="square" lIns="0" tIns="0" rIns="0" bIns="0" anchor="t">
            <a:spAutoFit/>
          </a:bodyPr>
          <a:lstStyle/>
          <a:p>
            <a:pPr algn="l">
              <a:lnSpc>
                <a:spcPct val="108000"/>
              </a:lnSpc>
              <a:spcBef>
                <a:spcPts val="0"/>
              </a:spcBef>
              <a:spcAft>
                <a:spcPts val="600"/>
              </a:spcAft>
            </a:pPr>
            <a:r>
              <a:rPr sz="1500" b="1" i="0">
                <a:solidFill>
                  <a:srgbClr val="12345C"/>
                </a:solidFill>
                <a:latin typeface="Calibri"/>
              </a:rPr>
              <a:t>Descubrimiento dinámico del hardware</a:t>
            </a:r>
          </a:p>
          <a:p>
            <a:pPr>
              <a:lnSpc>
                <a:spcPct val="114000"/>
              </a:lnSpc>
              <a:spcBef>
                <a:spcPts val="0"/>
              </a:spcBef>
              <a:spcAft>
                <a:spcPts val="0"/>
              </a:spcAft>
            </a:pPr>
            <a:r>
              <a:rPr sz="1250" b="0" i="0">
                <a:solidFill>
                  <a:srgbClr val="1F2933"/>
                </a:solidFill>
                <a:latin typeface="Calibri"/>
              </a:rPr>
              <a:t>Ninguna dirección fija en el código. Un AXI GPIO de solo lectura publica N, el stride y la base; el driver deduce cada canal. El mismo binario sirve de 1 a 14 canales.</a:t>
            </a:r>
          </a:p>
        </p:txBody>
      </p:sp>
      <p:sp>
        <p:nvSpPr>
          <p:cNvPr id="12" name="Rectangle 11"/>
          <p:cNvSpPr/>
          <p:nvPr/>
        </p:nvSpPr>
        <p:spPr>
          <a:xfrm>
            <a:off x="7013448" y="3200400"/>
            <a:ext cx="4519879"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013448" y="3200400"/>
            <a:ext cx="40640" cy="132588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87768" y="3364992"/>
            <a:ext cx="3971239" cy="1051560"/>
          </a:xfrm>
          <a:prstGeom prst="rect">
            <a:avLst/>
          </a:prstGeom>
          <a:noFill/>
        </p:spPr>
        <p:txBody>
          <a:bodyPr wrap="square" lIns="0" tIns="0" rIns="0" bIns="0" anchor="t">
            <a:spAutoFit/>
          </a:bodyPr>
          <a:lstStyle/>
          <a:p>
            <a:pPr algn="l">
              <a:lnSpc>
                <a:spcPct val="108000"/>
              </a:lnSpc>
              <a:spcBef>
                <a:spcPts val="0"/>
              </a:spcBef>
              <a:spcAft>
                <a:spcPts val="600"/>
              </a:spcAft>
            </a:pPr>
            <a:r>
              <a:rPr sz="1500" b="1" i="0">
                <a:solidFill>
                  <a:srgbClr val="12345C"/>
                </a:solidFill>
                <a:latin typeface="Calibri"/>
              </a:rPr>
              <a:t>Procesado diferido</a:t>
            </a:r>
          </a:p>
          <a:p>
            <a:pPr>
              <a:lnSpc>
                <a:spcPct val="114000"/>
              </a:lnSpc>
              <a:spcBef>
                <a:spcPts val="0"/>
              </a:spcBef>
              <a:spcAft>
                <a:spcPts val="0"/>
              </a:spcAft>
            </a:pPr>
            <a:r>
              <a:rPr sz="1250" b="0" i="0">
                <a:solidFill>
                  <a:srgbClr val="1F2933"/>
                </a:solidFill>
                <a:latin typeface="Calibri"/>
              </a:rPr>
              <a:t>La ISR maestra hace lo mínimo y delega en una tarea worker por canal. La copia corre como tarea planificable: la latencia de interrupción no depende del volumen de datos.</a:t>
            </a:r>
          </a:p>
        </p:txBody>
      </p:sp>
      <p:sp>
        <p:nvSpPr>
          <p:cNvPr id="15" name="Rectangle 14"/>
          <p:cNvSpPr/>
          <p:nvPr/>
        </p:nvSpPr>
        <p:spPr>
          <a:xfrm>
            <a:off x="7013448" y="4736592"/>
            <a:ext cx="4519879"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013448" y="4736592"/>
            <a:ext cx="40640" cy="132588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87768" y="4901184"/>
            <a:ext cx="3971239" cy="1051560"/>
          </a:xfrm>
          <a:prstGeom prst="rect">
            <a:avLst/>
          </a:prstGeom>
          <a:noFill/>
        </p:spPr>
        <p:txBody>
          <a:bodyPr wrap="square" lIns="0" tIns="0" rIns="0" bIns="0" anchor="t">
            <a:spAutoFit/>
          </a:bodyPr>
          <a:lstStyle/>
          <a:p>
            <a:pPr algn="l">
              <a:lnSpc>
                <a:spcPct val="108000"/>
              </a:lnSpc>
              <a:spcBef>
                <a:spcPts val="0"/>
              </a:spcBef>
              <a:spcAft>
                <a:spcPts val="600"/>
              </a:spcAft>
            </a:pPr>
            <a:r>
              <a:rPr sz="1500" b="1" i="0">
                <a:solidFill>
                  <a:srgbClr val="12345C"/>
                </a:solidFill>
                <a:latin typeface="Calibri"/>
              </a:rPr>
              <a:t>Gestión interna</a:t>
            </a:r>
          </a:p>
          <a:p>
            <a:pPr>
              <a:lnSpc>
                <a:spcPct val="114000"/>
              </a:lnSpc>
              <a:spcBef>
                <a:spcPts val="0"/>
              </a:spcBef>
              <a:spcAft>
                <a:spcPts val="0"/>
              </a:spcAft>
            </a:pPr>
            <a:r>
              <a:rPr sz="1250" b="0" i="0">
                <a:solidFill>
                  <a:srgbClr val="1F2933"/>
                </a:solidFill>
                <a:latin typeface="Calibri"/>
              </a:rPr>
              <a:t>Buffer circular de 4 KB por canal y semáforo binario que serializa las llamadas concurrentes. Los 14 canales comparten un único AXI INTC: 28 fuentes reducidas a una línea.</a:t>
            </a:r>
          </a:p>
        </p:txBody>
      </p:sp>
      <p:sp>
        <p:nvSpPr>
          <p:cNvPr id="18" name="TextBox 17"/>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transceiver.c / transceiver.h sobre el BSP zynqmp_apu</a:t>
            </a:r>
          </a:p>
        </p:txBody>
      </p:sp>
      <p:sp>
        <p:nvSpPr>
          <p:cNvPr id="19" name="TextBox 18"/>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Coste de las interrupciones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Rectangle 5"/>
          <p:cNvSpPr/>
          <p:nvPr/>
        </p:nvSpPr>
        <p:spPr>
          <a:xfrm>
            <a:off x="658368" y="1700784"/>
            <a:ext cx="630936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86868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700784"/>
            <a:ext cx="2011680" cy="868680"/>
          </a:xfrm>
          <a:prstGeom prst="rect">
            <a:avLst/>
          </a:prstGeom>
          <a:noFill/>
        </p:spPr>
        <p:txBody>
          <a:bodyPr wrap="square" lIns="0" tIns="0" rIns="0" bIns="0" anchor="ctr">
            <a:spAutoFit/>
          </a:bodyPr>
          <a:lstStyle/>
          <a:p>
            <a:pPr algn="l">
              <a:lnSpc>
                <a:spcPct val="108000"/>
              </a:lnSpc>
              <a:spcBef>
                <a:spcPts val="0"/>
              </a:spcBef>
              <a:spcAft>
                <a:spcPts val="0"/>
              </a:spcAft>
            </a:pPr>
            <a:r>
              <a:rPr sz="2000" b="1" i="0">
                <a:solidFill>
                  <a:srgbClr val="C2685C"/>
                </a:solidFill>
                <a:latin typeface="Calibri"/>
              </a:rPr>
              <a:t>≈ µs</a:t>
            </a:r>
          </a:p>
        </p:txBody>
      </p:sp>
      <p:sp>
        <p:nvSpPr>
          <p:cNvPr id="9" name="TextBox 8"/>
          <p:cNvSpPr txBox="1"/>
          <p:nvPr/>
        </p:nvSpPr>
        <p:spPr>
          <a:xfrm>
            <a:off x="3035808" y="1700784"/>
            <a:ext cx="3657600" cy="868680"/>
          </a:xfrm>
          <a:prstGeom prst="rect">
            <a:avLst/>
          </a:prstGeom>
          <a:noFill/>
        </p:spPr>
        <p:txBody>
          <a:bodyPr wrap="square" lIns="0" tIns="0" rIns="0" bIns="0" anchor="ctr">
            <a:spAutoFit/>
          </a:bodyPr>
          <a:lstStyle/>
          <a:p>
            <a:pPr algn="l">
              <a:lnSpc>
                <a:spcPct val="112000"/>
              </a:lnSpc>
              <a:spcBef>
                <a:spcPts val="0"/>
              </a:spcBef>
              <a:spcAft>
                <a:spcPts val="0"/>
              </a:spcAft>
            </a:pPr>
            <a:r>
              <a:rPr sz="1400" b="0" i="0">
                <a:solidFill>
                  <a:srgbClr val="1F2933"/>
                </a:solidFill>
                <a:latin typeface="Calibri"/>
              </a:rPr>
              <a:t>cuesta una interrupción, mueva un byte o mil</a:t>
            </a:r>
          </a:p>
        </p:txBody>
      </p:sp>
      <p:sp>
        <p:nvSpPr>
          <p:cNvPr id="10" name="Rectangle 9"/>
          <p:cNvSpPr/>
          <p:nvPr/>
        </p:nvSpPr>
        <p:spPr>
          <a:xfrm>
            <a:off x="658368" y="2688336"/>
            <a:ext cx="630936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2688336"/>
            <a:ext cx="40640" cy="86868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688336"/>
            <a:ext cx="2011680" cy="868680"/>
          </a:xfrm>
          <a:prstGeom prst="rect">
            <a:avLst/>
          </a:prstGeom>
          <a:noFill/>
        </p:spPr>
        <p:txBody>
          <a:bodyPr wrap="square" lIns="0" tIns="0" rIns="0" bIns="0" anchor="ctr">
            <a:spAutoFit/>
          </a:bodyPr>
          <a:lstStyle/>
          <a:p>
            <a:pPr algn="l">
              <a:lnSpc>
                <a:spcPct val="108000"/>
              </a:lnSpc>
              <a:spcBef>
                <a:spcPts val="0"/>
              </a:spcBef>
              <a:spcAft>
                <a:spcPts val="0"/>
              </a:spcAft>
            </a:pPr>
            <a:r>
              <a:rPr sz="2000" b="1" i="0">
                <a:solidFill>
                  <a:srgbClr val="C2685C"/>
                </a:solidFill>
                <a:latin typeface="Calibri"/>
              </a:rPr>
              <a:t>1 byte = 1 IRQ</a:t>
            </a:r>
          </a:p>
        </p:txBody>
      </p:sp>
      <p:sp>
        <p:nvSpPr>
          <p:cNvPr id="13" name="TextBox 12"/>
          <p:cNvSpPr txBox="1"/>
          <p:nvPr/>
        </p:nvSpPr>
        <p:spPr>
          <a:xfrm>
            <a:off x="3035808" y="2688336"/>
            <a:ext cx="3657600" cy="868680"/>
          </a:xfrm>
          <a:prstGeom prst="rect">
            <a:avLst/>
          </a:prstGeom>
          <a:noFill/>
        </p:spPr>
        <p:txBody>
          <a:bodyPr wrap="square" lIns="0" tIns="0" rIns="0" bIns="0" anchor="ctr">
            <a:spAutoFit/>
          </a:bodyPr>
          <a:lstStyle/>
          <a:p>
            <a:pPr algn="l">
              <a:lnSpc>
                <a:spcPct val="112000"/>
              </a:lnSpc>
              <a:spcBef>
                <a:spcPts val="0"/>
              </a:spcBef>
              <a:spcAft>
                <a:spcPts val="0"/>
              </a:spcAft>
            </a:pPr>
            <a:r>
              <a:rPr sz="1400" b="0" i="0">
                <a:solidFill>
                  <a:srgbClr val="1F2933"/>
                </a:solidFill>
                <a:latin typeface="Calibri"/>
              </a:rPr>
              <a:t>en la variante de partida</a:t>
            </a:r>
          </a:p>
        </p:txBody>
      </p:sp>
      <p:sp>
        <p:nvSpPr>
          <p:cNvPr id="14" name="Rectangle 13"/>
          <p:cNvSpPr/>
          <p:nvPr/>
        </p:nvSpPr>
        <p:spPr>
          <a:xfrm>
            <a:off x="658368" y="3675888"/>
            <a:ext cx="630936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 y="3675888"/>
            <a:ext cx="40640" cy="86868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3675888"/>
            <a:ext cx="2011680" cy="868680"/>
          </a:xfrm>
          <a:prstGeom prst="rect">
            <a:avLst/>
          </a:prstGeom>
          <a:noFill/>
        </p:spPr>
        <p:txBody>
          <a:bodyPr wrap="square" lIns="0" tIns="0" rIns="0" bIns="0" anchor="ctr">
            <a:spAutoFit/>
          </a:bodyPr>
          <a:lstStyle/>
          <a:p>
            <a:pPr algn="l">
              <a:lnSpc>
                <a:spcPct val="108000"/>
              </a:lnSpc>
              <a:spcBef>
                <a:spcPts val="0"/>
              </a:spcBef>
              <a:spcAft>
                <a:spcPts val="0"/>
              </a:spcAft>
            </a:pPr>
            <a:r>
              <a:rPr sz="2000" b="1" i="0">
                <a:solidFill>
                  <a:srgbClr val="C2685C"/>
                </a:solidFill>
                <a:latin typeface="Calibri"/>
              </a:rPr>
              <a:t>× 14</a:t>
            </a:r>
          </a:p>
        </p:txBody>
      </p:sp>
      <p:sp>
        <p:nvSpPr>
          <p:cNvPr id="17" name="TextBox 16"/>
          <p:cNvSpPr txBox="1"/>
          <p:nvPr/>
        </p:nvSpPr>
        <p:spPr>
          <a:xfrm>
            <a:off x="3035808" y="3675888"/>
            <a:ext cx="3657600" cy="868680"/>
          </a:xfrm>
          <a:prstGeom prst="rect">
            <a:avLst/>
          </a:prstGeom>
          <a:noFill/>
        </p:spPr>
        <p:txBody>
          <a:bodyPr wrap="square" lIns="0" tIns="0" rIns="0" bIns="0" anchor="ctr">
            <a:spAutoFit/>
          </a:bodyPr>
          <a:lstStyle/>
          <a:p>
            <a:pPr algn="l">
              <a:lnSpc>
                <a:spcPct val="112000"/>
              </a:lnSpc>
              <a:spcBef>
                <a:spcPts val="0"/>
              </a:spcBef>
              <a:spcAft>
                <a:spcPts val="0"/>
              </a:spcAft>
            </a:pPr>
            <a:r>
              <a:rPr sz="1400" b="0" i="0">
                <a:solidFill>
                  <a:srgbClr val="1F2933"/>
                </a:solidFill>
                <a:latin typeface="Calibri"/>
              </a:rPr>
              <a:t>enlaces: el umbral de saturación llega 14 veces antes</a:t>
            </a:r>
          </a:p>
        </p:txBody>
      </p:sp>
      <p:sp>
        <p:nvSpPr>
          <p:cNvPr id="18" name="Rectangle 17"/>
          <p:cNvSpPr/>
          <p:nvPr/>
        </p:nvSpPr>
        <p:spPr>
          <a:xfrm>
            <a:off x="658368" y="4800600"/>
            <a:ext cx="6309360" cy="77724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4800600"/>
            <a:ext cx="5760720" cy="777240"/>
          </a:xfrm>
          <a:prstGeom prst="rect">
            <a:avLst/>
          </a:prstGeom>
          <a:noFill/>
        </p:spPr>
        <p:txBody>
          <a:bodyPr wrap="square" lIns="0" tIns="0" rIns="0" bIns="0" anchor="ctr">
            <a:spAutoFit/>
          </a:bodyPr>
          <a:lstStyle/>
          <a:p>
            <a:pPr algn="l">
              <a:lnSpc>
                <a:spcPct val="108000"/>
              </a:lnSpc>
              <a:spcBef>
                <a:spcPts val="0"/>
              </a:spcBef>
              <a:spcAft>
                <a:spcPts val="0"/>
              </a:spcAft>
            </a:pPr>
            <a:r>
              <a:rPr sz="1550" b="1" i="1">
                <a:solidFill>
                  <a:srgbClr val="E09B2D"/>
                </a:solidFill>
                <a:latin typeface="Calibri"/>
              </a:rPr>
              <a:t>Interrupt livelock</a:t>
            </a:r>
            <a:r>
              <a:rPr sz="1450" b="0" i="0">
                <a:solidFill>
                  <a:srgbClr val="FFFFFF"/>
                </a:solidFill>
                <a:latin typeface="Calibri"/>
              </a:rPr>
              <a:t>   ·   Mogul y Ramakrishnan, 1997</a:t>
            </a:r>
          </a:p>
        </p:txBody>
      </p:sp>
      <p:pic>
        <p:nvPicPr>
          <p:cNvPr id="20" name="Picture 19" descr="diagrama_dma.png"/>
          <p:cNvPicPr>
            <a:picLocks noChangeAspect="1"/>
          </p:cNvPicPr>
          <p:nvPr/>
        </p:nvPicPr>
        <p:blipFill>
          <a:blip r:embed="rId3"/>
          <a:stretch>
            <a:fillRect/>
          </a:stretch>
        </p:blipFill>
        <p:spPr>
          <a:xfrm>
            <a:off x="7379208" y="1846748"/>
            <a:ext cx="4154119" cy="1719751"/>
          </a:xfrm>
          <a:prstGeom prst="rect">
            <a:avLst/>
          </a:prstGeom>
        </p:spPr>
      </p:pic>
      <p:sp>
        <p:nvSpPr>
          <p:cNvPr id="21" name="Rectangle 20"/>
          <p:cNvSpPr/>
          <p:nvPr/>
        </p:nvSpPr>
        <p:spPr>
          <a:xfrm>
            <a:off x="7379208" y="4078224"/>
            <a:ext cx="4154119" cy="178308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79208" y="4078224"/>
            <a:ext cx="40640" cy="17830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71816" y="4078224"/>
            <a:ext cx="3568903" cy="1783080"/>
          </a:xfrm>
          <a:prstGeom prst="rect">
            <a:avLst/>
          </a:prstGeom>
          <a:noFill/>
        </p:spPr>
        <p:txBody>
          <a:bodyPr wrap="square" lIns="0" tIns="0" rIns="0" bIns="0" anchor="ctr">
            <a:spAutoFit/>
          </a:bodyPr>
          <a:lstStyle/>
          <a:p>
            <a:pPr algn="l">
              <a:lnSpc>
                <a:spcPct val="108000"/>
              </a:lnSpc>
              <a:spcBef>
                <a:spcPts val="0"/>
              </a:spcBef>
              <a:spcAft>
                <a:spcPts val="1000"/>
              </a:spcAft>
            </a:pPr>
            <a:r>
              <a:rPr sz="1200" b="1" i="0">
                <a:solidFill>
                  <a:srgbClr val="E09B2D"/>
                </a:solidFill>
                <a:latin typeface="Calibri"/>
              </a:rPr>
              <a:t>LA SALIDA</a:t>
            </a:r>
          </a:p>
          <a:p>
            <a:pPr>
              <a:lnSpc>
                <a:spcPct val="114000"/>
              </a:lnSpc>
              <a:spcBef>
                <a:spcPts val="0"/>
              </a:spcBef>
              <a:spcAft>
                <a:spcPts val="0"/>
              </a:spcAft>
            </a:pPr>
            <a:r>
              <a:rPr sz="2100" b="1" i="0">
                <a:solidFill>
                  <a:srgbClr val="12345C"/>
                </a:solidFill>
                <a:latin typeface="Calibri"/>
              </a:rPr>
              <a:t>Interrumpir por paquete,
no por byte.</a:t>
            </a:r>
          </a:p>
        </p:txBody>
      </p:sp>
      <p:sp>
        <p:nvSpPr>
          <p:cNvPr id="24" name="TextBox 23"/>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a:t>
            </a:r>
          </a:p>
        </p:txBody>
      </p:sp>
      <p:sp>
        <p:nvSpPr>
          <p:cNvPr id="25" name="TextBox 24"/>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Tres arquitecturas de transporte PS–PL</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TextBox 5"/>
          <p:cNvSpPr txBox="1"/>
          <p:nvPr/>
        </p:nvSpPr>
        <p:spPr>
          <a:xfrm>
            <a:off x="658368" y="1627632"/>
            <a:ext cx="10874959" cy="365760"/>
          </a:xfrm>
          <a:prstGeom prst="rect">
            <a:avLst/>
          </a:prstGeom>
          <a:noFill/>
        </p:spPr>
        <p:txBody>
          <a:bodyPr wrap="square" lIns="0" tIns="0" rIns="0" bIns="0" anchor="t">
            <a:spAutoFit/>
          </a:bodyPr>
          <a:lstStyle/>
          <a:p>
            <a:pPr algn="l">
              <a:lnSpc>
                <a:spcPct val="108000"/>
              </a:lnSpc>
              <a:spcBef>
                <a:spcPts val="0"/>
              </a:spcBef>
              <a:spcAft>
                <a:spcPts val="0"/>
              </a:spcAft>
            </a:pPr>
            <a:r>
              <a:rPr sz="1600" b="0" i="1">
                <a:solidFill>
                  <a:srgbClr val="62707E"/>
                </a:solidFill>
                <a:latin typeface="Calibri"/>
              </a:rPr>
              <a:t>Implementadas las tres por completo y medidas con el mismo programa de pruebas — no elegidas sobre el papel.</a:t>
            </a:r>
          </a:p>
        </p:txBody>
      </p:sp>
      <p:sp>
        <p:nvSpPr>
          <p:cNvPr id="7" name="Rectangle 6"/>
          <p:cNvSpPr/>
          <p:nvPr/>
        </p:nvSpPr>
        <p:spPr>
          <a:xfrm>
            <a:off x="658368" y="2176272"/>
            <a:ext cx="3442106" cy="29718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2176272"/>
            <a:ext cx="3442106" cy="508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450592"/>
            <a:ext cx="2893466" cy="548640"/>
          </a:xfrm>
          <a:prstGeom prst="rect">
            <a:avLst/>
          </a:prstGeom>
          <a:noFill/>
        </p:spPr>
        <p:txBody>
          <a:bodyPr wrap="square" lIns="0" tIns="0" rIns="0" bIns="0" anchor="t">
            <a:spAutoFit/>
          </a:bodyPr>
          <a:lstStyle/>
          <a:p>
            <a:pPr algn="l">
              <a:lnSpc>
                <a:spcPct val="90000"/>
              </a:lnSpc>
              <a:spcBef>
                <a:spcPts val="0"/>
              </a:spcBef>
              <a:spcAft>
                <a:spcPts val="0"/>
              </a:spcAft>
            </a:pPr>
            <a:r>
              <a:rPr sz="4000" b="1" i="0">
                <a:solidFill>
                  <a:srgbClr val="C2685C"/>
                </a:solidFill>
                <a:latin typeface="Calibri"/>
              </a:rPr>
              <a:t>A</a:t>
            </a:r>
          </a:p>
        </p:txBody>
      </p:sp>
      <p:sp>
        <p:nvSpPr>
          <p:cNvPr id="10" name="TextBox 9"/>
          <p:cNvSpPr txBox="1"/>
          <p:nvPr/>
        </p:nvSpPr>
        <p:spPr>
          <a:xfrm>
            <a:off x="932688" y="3136392"/>
            <a:ext cx="2893466" cy="2011680"/>
          </a:xfrm>
          <a:prstGeom prst="rect">
            <a:avLst/>
          </a:prstGeom>
          <a:noFill/>
        </p:spPr>
        <p:txBody>
          <a:bodyPr wrap="square" lIns="0" tIns="0" rIns="0" bIns="0" anchor="t">
            <a:spAutoFit/>
          </a:bodyPr>
          <a:lstStyle/>
          <a:p>
            <a:pPr algn="l">
              <a:lnSpc>
                <a:spcPct val="108000"/>
              </a:lnSpc>
              <a:spcBef>
                <a:spcPts val="0"/>
              </a:spcBef>
              <a:spcAft>
                <a:spcPts val="1000"/>
              </a:spcAft>
            </a:pPr>
            <a:r>
              <a:rPr sz="1750" b="1" i="0">
                <a:solidFill>
                  <a:srgbClr val="12345C"/>
                </a:solidFill>
                <a:latin typeface="Calibri"/>
              </a:rPr>
              <a:t>AXI GPIO</a:t>
            </a:r>
          </a:p>
          <a:p>
            <a:pPr>
              <a:lnSpc>
                <a:spcPct val="116000"/>
              </a:lnSpc>
              <a:spcBef>
                <a:spcPts val="0"/>
              </a:spcBef>
              <a:spcAft>
                <a:spcPts val="1200"/>
              </a:spcAft>
            </a:pPr>
            <a:r>
              <a:rPr sz="1400" b="0" i="0">
                <a:solidFill>
                  <a:srgbClr val="1F2933"/>
                </a:solidFill>
                <a:latin typeface="Calibri"/>
              </a:rPr>
              <a:t>Un registro por canal sobre AXI-Lite.
El procesador toca cada byte.</a:t>
            </a:r>
          </a:p>
          <a:p>
            <a:pPr>
              <a:lnSpc>
                <a:spcPct val="108000"/>
              </a:lnSpc>
              <a:spcBef>
                <a:spcPts val="0"/>
              </a:spcBef>
              <a:spcAft>
                <a:spcPts val="0"/>
              </a:spcAft>
            </a:pPr>
            <a:r>
              <a:rPr sz="1150" b="0" i="1">
                <a:solidFill>
                  <a:srgbClr val="62707E"/>
                </a:solidFill>
                <a:latin typeface="Calibri"/>
              </a:rPr>
              <a:t>referencia de partida</a:t>
            </a:r>
          </a:p>
        </p:txBody>
      </p:sp>
      <p:sp>
        <p:nvSpPr>
          <p:cNvPr id="11" name="Rectangle 10"/>
          <p:cNvSpPr/>
          <p:nvPr/>
        </p:nvSpPr>
        <p:spPr>
          <a:xfrm>
            <a:off x="4374794" y="2176272"/>
            <a:ext cx="3442106" cy="29718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4794" y="2176272"/>
            <a:ext cx="3442106" cy="50800"/>
          </a:xfrm>
          <a:prstGeom prst="rect">
            <a:avLst/>
          </a:prstGeom>
          <a:solidFill>
            <a:srgbClr val="627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9114" y="2450592"/>
            <a:ext cx="2893466" cy="548640"/>
          </a:xfrm>
          <a:prstGeom prst="rect">
            <a:avLst/>
          </a:prstGeom>
          <a:noFill/>
        </p:spPr>
        <p:txBody>
          <a:bodyPr wrap="square" lIns="0" tIns="0" rIns="0" bIns="0" anchor="t">
            <a:spAutoFit/>
          </a:bodyPr>
          <a:lstStyle/>
          <a:p>
            <a:pPr algn="l">
              <a:lnSpc>
                <a:spcPct val="90000"/>
              </a:lnSpc>
              <a:spcBef>
                <a:spcPts val="0"/>
              </a:spcBef>
              <a:spcAft>
                <a:spcPts val="0"/>
              </a:spcAft>
            </a:pPr>
            <a:r>
              <a:rPr sz="4000" b="1" i="0">
                <a:solidFill>
                  <a:srgbClr val="62707E"/>
                </a:solidFill>
                <a:latin typeface="Calibri"/>
              </a:rPr>
              <a:t>B</a:t>
            </a:r>
          </a:p>
        </p:txBody>
      </p:sp>
      <p:sp>
        <p:nvSpPr>
          <p:cNvPr id="14" name="TextBox 13"/>
          <p:cNvSpPr txBox="1"/>
          <p:nvPr/>
        </p:nvSpPr>
        <p:spPr>
          <a:xfrm>
            <a:off x="4649114" y="3136392"/>
            <a:ext cx="2893466" cy="2011680"/>
          </a:xfrm>
          <a:prstGeom prst="rect">
            <a:avLst/>
          </a:prstGeom>
          <a:noFill/>
        </p:spPr>
        <p:txBody>
          <a:bodyPr wrap="square" lIns="0" tIns="0" rIns="0" bIns="0" anchor="t">
            <a:spAutoFit/>
          </a:bodyPr>
          <a:lstStyle/>
          <a:p>
            <a:pPr algn="l">
              <a:lnSpc>
                <a:spcPct val="108000"/>
              </a:lnSpc>
              <a:spcBef>
                <a:spcPts val="0"/>
              </a:spcBef>
              <a:spcAft>
                <a:spcPts val="1000"/>
              </a:spcAft>
            </a:pPr>
            <a:r>
              <a:rPr sz="1750" b="1" i="0">
                <a:solidFill>
                  <a:srgbClr val="12345C"/>
                </a:solidFill>
                <a:latin typeface="Calibri"/>
              </a:rPr>
              <a:t>14 × AXI DMA</a:t>
            </a:r>
          </a:p>
          <a:p>
            <a:pPr>
              <a:lnSpc>
                <a:spcPct val="116000"/>
              </a:lnSpc>
              <a:spcBef>
                <a:spcPts val="0"/>
              </a:spcBef>
              <a:spcAft>
                <a:spcPts val="1200"/>
              </a:spcAft>
            </a:pPr>
            <a:r>
              <a:rPr sz="1400" b="0" i="0">
                <a:solidFill>
                  <a:srgbClr val="1F2933"/>
                </a:solidFill>
                <a:latin typeface="Calibri"/>
              </a:rPr>
              <a:t>Un motor DMA completo por canal.
Saca a la CPU del camino de datos.</a:t>
            </a:r>
          </a:p>
          <a:p>
            <a:pPr>
              <a:lnSpc>
                <a:spcPct val="108000"/>
              </a:lnSpc>
              <a:spcBef>
                <a:spcPts val="0"/>
              </a:spcBef>
              <a:spcAft>
                <a:spcPts val="0"/>
              </a:spcAft>
            </a:pPr>
            <a:r>
              <a:rPr sz="1150" b="0" i="1">
                <a:solidFill>
                  <a:srgbClr val="62707E"/>
                </a:solidFill>
                <a:latin typeface="Calibri"/>
              </a:rPr>
              <a:t>PG021 · un stream por motor</a:t>
            </a:r>
          </a:p>
        </p:txBody>
      </p:sp>
      <p:sp>
        <p:nvSpPr>
          <p:cNvPr id="15" name="Rectangle 14"/>
          <p:cNvSpPr/>
          <p:nvPr/>
        </p:nvSpPr>
        <p:spPr>
          <a:xfrm>
            <a:off x="8091220" y="2176272"/>
            <a:ext cx="3442106" cy="297180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1220" y="2176272"/>
            <a:ext cx="3442106" cy="508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65540" y="2450592"/>
            <a:ext cx="2893466" cy="548640"/>
          </a:xfrm>
          <a:prstGeom prst="rect">
            <a:avLst/>
          </a:prstGeom>
          <a:noFill/>
        </p:spPr>
        <p:txBody>
          <a:bodyPr wrap="square" lIns="0" tIns="0" rIns="0" bIns="0" anchor="t">
            <a:spAutoFit/>
          </a:bodyPr>
          <a:lstStyle/>
          <a:p>
            <a:pPr algn="l">
              <a:lnSpc>
                <a:spcPct val="90000"/>
              </a:lnSpc>
              <a:spcBef>
                <a:spcPts val="0"/>
              </a:spcBef>
              <a:spcAft>
                <a:spcPts val="0"/>
              </a:spcAft>
            </a:pPr>
            <a:r>
              <a:rPr sz="4000" b="1" i="0">
                <a:solidFill>
                  <a:srgbClr val="1E63A8"/>
                </a:solidFill>
                <a:latin typeface="Calibri"/>
              </a:rPr>
              <a:t>C</a:t>
            </a:r>
          </a:p>
        </p:txBody>
      </p:sp>
      <p:sp>
        <p:nvSpPr>
          <p:cNvPr id="18" name="TextBox 17"/>
          <p:cNvSpPr txBox="1"/>
          <p:nvPr/>
        </p:nvSpPr>
        <p:spPr>
          <a:xfrm>
            <a:off x="8365540" y="3136392"/>
            <a:ext cx="2893466" cy="2011680"/>
          </a:xfrm>
          <a:prstGeom prst="rect">
            <a:avLst/>
          </a:prstGeom>
          <a:noFill/>
        </p:spPr>
        <p:txBody>
          <a:bodyPr wrap="square" lIns="0" tIns="0" rIns="0" bIns="0" anchor="t">
            <a:spAutoFit/>
          </a:bodyPr>
          <a:lstStyle/>
          <a:p>
            <a:pPr algn="l">
              <a:lnSpc>
                <a:spcPct val="108000"/>
              </a:lnSpc>
              <a:spcBef>
                <a:spcPts val="0"/>
              </a:spcBef>
              <a:spcAft>
                <a:spcPts val="1000"/>
              </a:spcAft>
            </a:pPr>
            <a:r>
              <a:rPr sz="1750" b="1" i="0">
                <a:solidFill>
                  <a:srgbClr val="12345C"/>
                </a:solidFill>
                <a:latin typeface="Calibri"/>
              </a:rPr>
              <a:t>AXI MCDMA + puente VHDL</a:t>
            </a:r>
          </a:p>
          <a:p>
            <a:pPr>
              <a:lnSpc>
                <a:spcPct val="116000"/>
              </a:lnSpc>
              <a:spcBef>
                <a:spcPts val="0"/>
              </a:spcBef>
              <a:spcAft>
                <a:spcPts val="1200"/>
              </a:spcAft>
            </a:pPr>
            <a:r>
              <a:rPr sz="1400" b="0" i="0">
                <a:solidFill>
                  <a:srgbClr val="1F2933"/>
                </a:solidFill>
                <a:latin typeface="Calibri"/>
              </a:rPr>
              <a:t>Un motor multicanal compartido.
Multiplexado por TDEST.</a:t>
            </a:r>
          </a:p>
          <a:p>
            <a:pPr>
              <a:lnSpc>
                <a:spcPct val="108000"/>
              </a:lnSpc>
              <a:spcBef>
                <a:spcPts val="0"/>
              </a:spcBef>
              <a:spcAft>
                <a:spcPts val="0"/>
              </a:spcAft>
            </a:pPr>
            <a:r>
              <a:rPr sz="1150" b="0" i="1">
                <a:solidFill>
                  <a:srgbClr val="62707E"/>
                </a:solidFill>
                <a:latin typeface="Calibri"/>
              </a:rPr>
              <a:t>PG288 · única variante con RTL propio</a:t>
            </a:r>
          </a:p>
        </p:txBody>
      </p:sp>
      <p:sp>
        <p:nvSpPr>
          <p:cNvPr id="19" name="TextBox 18"/>
          <p:cNvSpPr txBox="1"/>
          <p:nvPr/>
        </p:nvSpPr>
        <p:spPr>
          <a:xfrm>
            <a:off x="8365540" y="4581144"/>
            <a:ext cx="2893466" cy="365760"/>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  SOLUCIÓN FINAL</a:t>
            </a:r>
          </a:p>
        </p:txBody>
      </p:sp>
      <p:sp>
        <p:nvSpPr>
          <p:cNvPr id="20" name="Rectangle 19"/>
          <p:cNvSpPr/>
          <p:nvPr/>
        </p:nvSpPr>
        <p:spPr>
          <a:xfrm>
            <a:off x="658368" y="5330952"/>
            <a:ext cx="10874959" cy="74980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 y="5330952"/>
            <a:ext cx="40640" cy="749808"/>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5330952"/>
            <a:ext cx="10326319" cy="749808"/>
          </a:xfrm>
          <a:prstGeom prst="rect">
            <a:avLst/>
          </a:prstGeom>
          <a:noFill/>
        </p:spPr>
        <p:txBody>
          <a:bodyPr wrap="square" lIns="0" tIns="0" rIns="0" bIns="0" anchor="ctr">
            <a:spAutoFit/>
          </a:bodyPr>
          <a:lstStyle/>
          <a:p>
            <a:pPr algn="l">
              <a:lnSpc>
                <a:spcPct val="114000"/>
              </a:lnSpc>
              <a:spcBef>
                <a:spcPts val="0"/>
              </a:spcBef>
              <a:spcAft>
                <a:spcPts val="0"/>
              </a:spcAft>
            </a:pPr>
            <a:r>
              <a:rPr sz="1400" b="1" i="0">
                <a:solidFill>
                  <a:srgbClr val="12345C"/>
                </a:solidFill>
                <a:latin typeface="Calibri"/>
              </a:rPr>
              <a:t>Criterios de comparación · </a:t>
            </a:r>
            <a:r>
              <a:rPr sz="1400" b="0" i="0">
                <a:solidFill>
                  <a:srgbClr val="1F2933"/>
                </a:solidFill>
                <a:latin typeface="Calibri"/>
              </a:rPr>
              <a:t>interrupciones por KB · ocupación de LUT · líneas de interrupción disponibles · caudal · latencia · escalado con la velocidad de línea.</a:t>
            </a:r>
          </a:p>
        </p:txBody>
      </p:sp>
      <p:sp>
        <p:nvSpPr>
          <p:cNvPr id="23" name="TextBox 22"/>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el mismo transceptor de 14 canales y el mismo bench_main.c en las tres</a:t>
            </a:r>
          </a:p>
        </p:txBody>
      </p:sp>
      <p:sp>
        <p:nvSpPr>
          <p:cNvPr id="24" name="TextBox 23"/>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Variante A · AXI GPIO</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pic>
        <p:nvPicPr>
          <p:cNvPr id="6" name="Picture 5" descr="variante_1.png"/>
          <p:cNvPicPr>
            <a:picLocks noChangeAspect="1"/>
          </p:cNvPicPr>
          <p:nvPr/>
        </p:nvPicPr>
        <p:blipFill>
          <a:blip r:embed="rId3"/>
          <a:stretch>
            <a:fillRect/>
          </a:stretch>
        </p:blipFill>
        <p:spPr>
          <a:xfrm>
            <a:off x="1476899" y="1700784"/>
            <a:ext cx="9237897" cy="3017520"/>
          </a:xfrm>
          <a:prstGeom prst="rect">
            <a:avLst/>
          </a:prstGeom>
        </p:spPr>
      </p:pic>
      <p:sp>
        <p:nvSpPr>
          <p:cNvPr id="7" name="Rectangle 6"/>
          <p:cNvSpPr/>
          <p:nvPr/>
        </p:nvSpPr>
        <p:spPr>
          <a:xfrm>
            <a:off x="658368"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4992624"/>
            <a:ext cx="40640" cy="11430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1E63A8"/>
                </a:solidFill>
                <a:latin typeface="Calibri"/>
              </a:rPr>
              <a:t>460</a:t>
            </a:r>
          </a:p>
          <a:p>
            <a:pPr>
              <a:lnSpc>
                <a:spcPct val="100000"/>
              </a:lnSpc>
              <a:spcBef>
                <a:spcPts val="0"/>
              </a:spcBef>
              <a:spcAft>
                <a:spcPts val="0"/>
              </a:spcAft>
            </a:pPr>
            <a:r>
              <a:rPr sz="1300" b="0" i="0">
                <a:solidFill>
                  <a:srgbClr val="62707E"/>
                </a:solidFill>
                <a:latin typeface="Calibri"/>
              </a:rPr>
              <a:t>LUT por canal · la más ligera</a:t>
            </a:r>
          </a:p>
        </p:txBody>
      </p:sp>
      <p:sp>
        <p:nvSpPr>
          <p:cNvPr id="10" name="Rectangle 9"/>
          <p:cNvSpPr/>
          <p:nvPr/>
        </p:nvSpPr>
        <p:spPr>
          <a:xfrm>
            <a:off x="4374794"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4794" y="4992624"/>
            <a:ext cx="40640" cy="11430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5962"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C2685C"/>
                </a:solidFill>
                <a:latin typeface="Calibri"/>
              </a:rPr>
              <a:t>1.250</a:t>
            </a:r>
          </a:p>
          <a:p>
            <a:pPr>
              <a:lnSpc>
                <a:spcPct val="100000"/>
              </a:lnSpc>
              <a:spcBef>
                <a:spcPts val="0"/>
              </a:spcBef>
              <a:spcAft>
                <a:spcPts val="0"/>
              </a:spcAft>
            </a:pPr>
            <a:r>
              <a:rPr sz="1300" b="0" i="0">
                <a:solidFill>
                  <a:srgbClr val="62707E"/>
                </a:solidFill>
                <a:latin typeface="Calibri"/>
              </a:rPr>
              <a:t>interrupciones por KB</a:t>
            </a:r>
          </a:p>
        </p:txBody>
      </p:sp>
      <p:sp>
        <p:nvSpPr>
          <p:cNvPr id="13" name="Rectangle 12"/>
          <p:cNvSpPr/>
          <p:nvPr/>
        </p:nvSpPr>
        <p:spPr>
          <a:xfrm>
            <a:off x="8091220"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1220" y="4992624"/>
            <a:ext cx="40640" cy="11430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2388"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C2685C"/>
                </a:solidFill>
                <a:latin typeface="Calibri"/>
              </a:rPr>
              <a:t>30 %</a:t>
            </a:r>
          </a:p>
          <a:p>
            <a:pPr>
              <a:lnSpc>
                <a:spcPct val="100000"/>
              </a:lnSpc>
              <a:spcBef>
                <a:spcPts val="0"/>
              </a:spcBef>
              <a:spcAft>
                <a:spcPts val="0"/>
              </a:spcAft>
            </a:pPr>
            <a:r>
              <a:rPr sz="1300" b="0" i="0">
                <a:solidFill>
                  <a:srgbClr val="62707E"/>
                </a:solidFill>
                <a:latin typeface="Calibri"/>
              </a:rPr>
              <a:t>del techo físico, y no escala</a:t>
            </a:r>
          </a:p>
        </p:txBody>
      </p:sp>
      <p:sp>
        <p:nvSpPr>
          <p:cNvPr id="16" name="TextBox 15"/>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un registro por canal, el procesador mueve cada byte</a:t>
            </a:r>
          </a:p>
        </p:txBody>
      </p:sp>
      <p:sp>
        <p:nvSpPr>
          <p:cNvPr id="17" name="TextBox 16"/>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Variante B · 14 × AXI DMA</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pic>
        <p:nvPicPr>
          <p:cNvPr id="6" name="Picture 5" descr="variante_2.png"/>
          <p:cNvPicPr>
            <a:picLocks noChangeAspect="1"/>
          </p:cNvPicPr>
          <p:nvPr/>
        </p:nvPicPr>
        <p:blipFill>
          <a:blip r:embed="rId3"/>
          <a:stretch>
            <a:fillRect/>
          </a:stretch>
        </p:blipFill>
        <p:spPr>
          <a:xfrm>
            <a:off x="1476899" y="1700784"/>
            <a:ext cx="9237897" cy="3017520"/>
          </a:xfrm>
          <a:prstGeom prst="rect">
            <a:avLst/>
          </a:prstGeom>
        </p:spPr>
      </p:pic>
      <p:sp>
        <p:nvSpPr>
          <p:cNvPr id="7" name="Rectangle 6"/>
          <p:cNvSpPr/>
          <p:nvPr/>
        </p:nvSpPr>
        <p:spPr>
          <a:xfrm>
            <a:off x="658368"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4992624"/>
            <a:ext cx="40640" cy="11430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C2685C"/>
                </a:solidFill>
                <a:latin typeface="Calibri"/>
              </a:rPr>
              <a:t>2.873</a:t>
            </a:r>
          </a:p>
          <a:p>
            <a:pPr>
              <a:lnSpc>
                <a:spcPct val="100000"/>
              </a:lnSpc>
              <a:spcBef>
                <a:spcPts val="0"/>
              </a:spcBef>
              <a:spcAft>
                <a:spcPts val="0"/>
              </a:spcAft>
            </a:pPr>
            <a:r>
              <a:rPr sz="1300" b="0" i="0">
                <a:solidFill>
                  <a:srgbClr val="62707E"/>
                </a:solidFill>
                <a:latin typeface="Calibri"/>
              </a:rPr>
              <a:t>LUT por canal · 6× la huella de GPIO</a:t>
            </a:r>
          </a:p>
        </p:txBody>
      </p:sp>
      <p:sp>
        <p:nvSpPr>
          <p:cNvPr id="10" name="Rectangle 9"/>
          <p:cNvSpPr/>
          <p:nvPr/>
        </p:nvSpPr>
        <p:spPr>
          <a:xfrm>
            <a:off x="4374794"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4794" y="4992624"/>
            <a:ext cx="40640" cy="11430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5962"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C2685C"/>
                </a:solidFill>
                <a:latin typeface="Calibri"/>
              </a:rPr>
              <a:t>28</a:t>
            </a:r>
          </a:p>
          <a:p>
            <a:pPr>
              <a:lnSpc>
                <a:spcPct val="100000"/>
              </a:lnSpc>
              <a:spcBef>
                <a:spcPts val="0"/>
              </a:spcBef>
              <a:spcAft>
                <a:spcPts val="0"/>
              </a:spcAft>
            </a:pPr>
            <a:r>
              <a:rPr sz="1300" b="0" i="0">
                <a:solidFill>
                  <a:srgbClr val="62707E"/>
                </a:solidFill>
                <a:latin typeface="Calibri"/>
              </a:rPr>
              <a:t>líneas de IRQ, y el PS ofrece 8</a:t>
            </a:r>
          </a:p>
        </p:txBody>
      </p:sp>
      <p:sp>
        <p:nvSpPr>
          <p:cNvPr id="13" name="Rectangle 12"/>
          <p:cNvSpPr/>
          <p:nvPr/>
        </p:nvSpPr>
        <p:spPr>
          <a:xfrm>
            <a:off x="8091220"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1220" y="4992624"/>
            <a:ext cx="40640" cy="114300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2388"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C2685C"/>
                </a:solidFill>
                <a:latin typeface="Calibri"/>
              </a:rPr>
              <a:t>14,67 %</a:t>
            </a:r>
          </a:p>
          <a:p>
            <a:pPr>
              <a:lnSpc>
                <a:spcPct val="100000"/>
              </a:lnSpc>
              <a:spcBef>
                <a:spcPts val="0"/>
              </a:spcBef>
              <a:spcAft>
                <a:spcPts val="0"/>
              </a:spcAft>
            </a:pPr>
            <a:r>
              <a:rPr sz="1300" b="0" i="0">
                <a:solidFill>
                  <a:srgbClr val="62707E"/>
                </a:solidFill>
                <a:latin typeface="Calibri"/>
              </a:rPr>
              <a:t>del dispositivo: incompatible con TMR</a:t>
            </a:r>
          </a:p>
        </p:txBody>
      </p:sp>
      <p:sp>
        <p:nvSpPr>
          <p:cNvPr id="16" name="TextBox 15"/>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resuelve el problema correcto por un camino que no escala</a:t>
            </a:r>
          </a:p>
        </p:txBody>
      </p:sp>
      <p:sp>
        <p:nvSpPr>
          <p:cNvPr id="17" name="TextBox 16"/>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Variante C · AXI MCDMA con puente VHDL</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pic>
        <p:nvPicPr>
          <p:cNvPr id="6" name="Picture 5" descr="variante_3.png"/>
          <p:cNvPicPr>
            <a:picLocks noChangeAspect="1"/>
          </p:cNvPicPr>
          <p:nvPr/>
        </p:nvPicPr>
        <p:blipFill>
          <a:blip r:embed="rId3"/>
          <a:stretch>
            <a:fillRect/>
          </a:stretch>
        </p:blipFill>
        <p:spPr>
          <a:xfrm>
            <a:off x="1476899" y="1700784"/>
            <a:ext cx="9237897" cy="3017520"/>
          </a:xfrm>
          <a:prstGeom prst="rect">
            <a:avLst/>
          </a:prstGeom>
        </p:spPr>
      </p:pic>
      <p:sp>
        <p:nvSpPr>
          <p:cNvPr id="7" name="Rectangle 6"/>
          <p:cNvSpPr/>
          <p:nvPr/>
        </p:nvSpPr>
        <p:spPr>
          <a:xfrm>
            <a:off x="658368"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4992624"/>
            <a:ext cx="40640" cy="11430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1E63A8"/>
                </a:solidFill>
                <a:latin typeface="Calibri"/>
              </a:rPr>
              <a:t>1.014</a:t>
            </a:r>
          </a:p>
          <a:p>
            <a:pPr>
              <a:lnSpc>
                <a:spcPct val="100000"/>
              </a:lnSpc>
              <a:spcBef>
                <a:spcPts val="0"/>
              </a:spcBef>
              <a:spcAft>
                <a:spcPts val="0"/>
              </a:spcAft>
            </a:pPr>
            <a:r>
              <a:rPr sz="1300" b="0" i="0">
                <a:solidFill>
                  <a:srgbClr val="62707E"/>
                </a:solidFill>
                <a:latin typeface="Calibri"/>
              </a:rPr>
              <a:t>LUT por canal · menos de la mitad que B</a:t>
            </a:r>
          </a:p>
        </p:txBody>
      </p:sp>
      <p:sp>
        <p:nvSpPr>
          <p:cNvPr id="10" name="Rectangle 9"/>
          <p:cNvSpPr/>
          <p:nvPr/>
        </p:nvSpPr>
        <p:spPr>
          <a:xfrm>
            <a:off x="4374794"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4794" y="4992624"/>
            <a:ext cx="40640" cy="11430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5962"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1E63A8"/>
                </a:solidFill>
                <a:latin typeface="Calibri"/>
              </a:rPr>
              <a:t>3</a:t>
            </a:r>
          </a:p>
          <a:p>
            <a:pPr>
              <a:lnSpc>
                <a:spcPct val="100000"/>
              </a:lnSpc>
              <a:spcBef>
                <a:spcPts val="0"/>
              </a:spcBef>
              <a:spcAft>
                <a:spcPts val="0"/>
              </a:spcAft>
            </a:pPr>
            <a:r>
              <a:rPr sz="1300" b="0" i="0">
                <a:solidFill>
                  <a:srgbClr val="62707E"/>
                </a:solidFill>
                <a:latin typeface="Calibri"/>
              </a:rPr>
              <a:t>líneas de IRQ, de las 8 disponibles</a:t>
            </a:r>
          </a:p>
        </p:txBody>
      </p:sp>
      <p:sp>
        <p:nvSpPr>
          <p:cNvPr id="13" name="Rectangle 12"/>
          <p:cNvSpPr/>
          <p:nvPr/>
        </p:nvSpPr>
        <p:spPr>
          <a:xfrm>
            <a:off x="8091220" y="4992624"/>
            <a:ext cx="3442106" cy="1143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1220" y="4992624"/>
            <a:ext cx="40640" cy="1143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2388" y="5120640"/>
            <a:ext cx="3131210" cy="923544"/>
          </a:xfrm>
          <a:prstGeom prst="rect">
            <a:avLst/>
          </a:prstGeom>
          <a:noFill/>
        </p:spPr>
        <p:txBody>
          <a:bodyPr wrap="square" lIns="0" tIns="0" rIns="0" bIns="0" anchor="ctr">
            <a:spAutoFit/>
          </a:bodyPr>
          <a:lstStyle/>
          <a:p>
            <a:pPr algn="l">
              <a:lnSpc>
                <a:spcPct val="95000"/>
              </a:lnSpc>
              <a:spcBef>
                <a:spcPts val="0"/>
              </a:spcBef>
              <a:spcAft>
                <a:spcPts val="200"/>
              </a:spcAft>
            </a:pPr>
            <a:r>
              <a:rPr sz="3200" b="1" i="0">
                <a:solidFill>
                  <a:srgbClr val="E09B2D"/>
                </a:solidFill>
                <a:latin typeface="Calibri"/>
              </a:rPr>
              <a:t>3</a:t>
            </a:r>
          </a:p>
          <a:p>
            <a:pPr>
              <a:lnSpc>
                <a:spcPct val="100000"/>
              </a:lnSpc>
              <a:spcBef>
                <a:spcPts val="0"/>
              </a:spcBef>
              <a:spcAft>
                <a:spcPts val="0"/>
              </a:spcAft>
            </a:pPr>
            <a:r>
              <a:rPr sz="1300" b="0" i="0">
                <a:solidFill>
                  <a:srgbClr val="62707E"/>
                </a:solidFill>
                <a:latin typeface="Calibri"/>
              </a:rPr>
              <a:t>interrupciones por KB</a:t>
            </a:r>
          </a:p>
        </p:txBody>
      </p:sp>
      <p:sp>
        <p:nvSpPr>
          <p:cNvPr id="16" name="TextBox 15"/>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única variante con lógica propia y no sólo IP de terceros</a:t>
            </a:r>
          </a:p>
        </p:txBody>
      </p:sp>
      <p:sp>
        <p:nvSpPr>
          <p:cNvPr id="17" name="TextBox 16"/>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Reparto de los 14 canales dentro del puente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pic>
        <p:nvPicPr>
          <p:cNvPr id="6" name="Picture 5" descr="diagrama_mcdma_interior.png"/>
          <p:cNvPicPr>
            <a:picLocks noChangeAspect="1"/>
          </p:cNvPicPr>
          <p:nvPr/>
        </p:nvPicPr>
        <p:blipFill>
          <a:blip r:embed="rId3"/>
          <a:stretch>
            <a:fillRect/>
          </a:stretch>
        </p:blipFill>
        <p:spPr>
          <a:xfrm>
            <a:off x="1784782" y="1655064"/>
            <a:ext cx="8622130" cy="3200400"/>
          </a:xfrm>
          <a:prstGeom prst="rect">
            <a:avLst/>
          </a:prstGeom>
        </p:spPr>
      </p:pic>
      <p:sp>
        <p:nvSpPr>
          <p:cNvPr id="7" name="Rectangle 6"/>
          <p:cNvSpPr/>
          <p:nvPr/>
        </p:nvSpPr>
        <p:spPr>
          <a:xfrm>
            <a:off x="658368" y="5084064"/>
            <a:ext cx="5254599" cy="10972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5084064"/>
            <a:ext cx="40640" cy="10972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230368"/>
            <a:ext cx="4705959" cy="868680"/>
          </a:xfrm>
          <a:prstGeom prst="rect">
            <a:avLst/>
          </a:prstGeom>
          <a:noFill/>
        </p:spPr>
        <p:txBody>
          <a:bodyPr wrap="square" lIns="0" tIns="0" rIns="0" bIns="0" anchor="t">
            <a:spAutoFit/>
          </a:bodyPr>
          <a:lstStyle/>
          <a:p>
            <a:pPr algn="l">
              <a:lnSpc>
                <a:spcPct val="108000"/>
              </a:lnSpc>
              <a:spcBef>
                <a:spcPts val="0"/>
              </a:spcBef>
              <a:spcAft>
                <a:spcPts val="500"/>
              </a:spcAft>
            </a:pPr>
            <a:r>
              <a:rPr sz="1550" b="1" i="0">
                <a:solidFill>
                  <a:srgbClr val="12345C"/>
                </a:solidFill>
                <a:latin typeface="Calibri"/>
              </a:rPr>
              <a:t>Transmisión · 1 canal</a:t>
            </a:r>
          </a:p>
          <a:p>
            <a:pPr>
              <a:lnSpc>
                <a:spcPct val="114000"/>
              </a:lnSpc>
              <a:spcBef>
                <a:spcPts val="0"/>
              </a:spcBef>
              <a:spcAft>
                <a:spcPts val="0"/>
              </a:spcAft>
            </a:pPr>
            <a:r>
              <a:rPr sz="1300" b="0" i="0">
                <a:solidFill>
                  <a:srgbClr val="1F2933"/>
                </a:solidFill>
                <a:latin typeface="Calibri"/>
              </a:rPr>
              <a:t>El destino viaja en el dato: cabecera de 2 B con canal y longitud.</a:t>
            </a:r>
          </a:p>
        </p:txBody>
      </p:sp>
      <p:sp>
        <p:nvSpPr>
          <p:cNvPr id="10" name="Rectangle 9"/>
          <p:cNvSpPr/>
          <p:nvPr/>
        </p:nvSpPr>
        <p:spPr>
          <a:xfrm>
            <a:off x="6278727" y="5084064"/>
            <a:ext cx="5254599" cy="10972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78727" y="5084064"/>
            <a:ext cx="40640" cy="109728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3047" y="5230368"/>
            <a:ext cx="4705959" cy="868680"/>
          </a:xfrm>
          <a:prstGeom prst="rect">
            <a:avLst/>
          </a:prstGeom>
          <a:noFill/>
        </p:spPr>
        <p:txBody>
          <a:bodyPr wrap="square" lIns="0" tIns="0" rIns="0" bIns="0" anchor="t">
            <a:spAutoFit/>
          </a:bodyPr>
          <a:lstStyle/>
          <a:p>
            <a:pPr algn="l">
              <a:lnSpc>
                <a:spcPct val="108000"/>
              </a:lnSpc>
              <a:spcBef>
                <a:spcPts val="0"/>
              </a:spcBef>
              <a:spcAft>
                <a:spcPts val="500"/>
              </a:spcAft>
            </a:pPr>
            <a:r>
              <a:rPr sz="1550" b="1" i="0">
                <a:solidFill>
                  <a:srgbClr val="12345C"/>
                </a:solidFill>
                <a:latin typeface="Calibri"/>
              </a:rPr>
              <a:t>Recepción · 14 canales</a:t>
            </a:r>
          </a:p>
          <a:p>
            <a:pPr>
              <a:lnSpc>
                <a:spcPct val="114000"/>
              </a:lnSpc>
              <a:spcBef>
                <a:spcPts val="0"/>
              </a:spcBef>
              <a:spcAft>
                <a:spcPts val="0"/>
              </a:spcAft>
            </a:pPr>
            <a:r>
              <a:rPr sz="1300" b="0" i="0">
                <a:solidFill>
                  <a:srgbClr val="1F2933"/>
                </a:solidFill>
                <a:latin typeface="Calibri"/>
              </a:rPr>
              <a:t>Cada UART habla sin avisar. TDEST marca el canal de origen de cada paquete.</a:t>
            </a:r>
          </a:p>
        </p:txBody>
      </p:sp>
      <p:sp>
        <p:nvSpPr>
          <p:cNvPr id="13" name="TextBox 12"/>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sin TDEST, los 14 flujos caen en el canal 0</a:t>
            </a:r>
          </a:p>
        </p:txBody>
      </p:sp>
      <p:sp>
        <p:nvSpPr>
          <p:cNvPr id="14" name="TextBox 13"/>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02 · FIRMWARE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Depuración del bus AXI-Stream</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02</a:t>
            </a:r>
          </a:p>
        </p:txBody>
      </p:sp>
      <p:sp>
        <p:nvSpPr>
          <p:cNvPr id="6" name="Rectangle 5"/>
          <p:cNvSpPr/>
          <p:nvPr/>
        </p:nvSpPr>
        <p:spPr>
          <a:xfrm>
            <a:off x="658368" y="1645920"/>
            <a:ext cx="10874959" cy="77724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1645920"/>
            <a:ext cx="10289743" cy="777240"/>
          </a:xfrm>
          <a:prstGeom prst="rect">
            <a:avLst/>
          </a:prstGeom>
          <a:noFill/>
        </p:spPr>
        <p:txBody>
          <a:bodyPr wrap="square" lIns="0" tIns="0" rIns="0" bIns="0" anchor="ctr">
            <a:spAutoFit/>
          </a:bodyPr>
          <a:lstStyle/>
          <a:p>
            <a:pPr algn="l">
              <a:lnSpc>
                <a:spcPct val="112000"/>
              </a:lnSpc>
              <a:spcBef>
                <a:spcPts val="0"/>
              </a:spcBef>
              <a:spcAft>
                <a:spcPts val="0"/>
              </a:spcAft>
            </a:pPr>
            <a:r>
              <a:rPr sz="1550" b="1" i="0">
                <a:solidFill>
                  <a:srgbClr val="E09B2D"/>
                </a:solidFill>
                <a:latin typeface="Calibri"/>
              </a:rPr>
              <a:t>Sin observabilidad desde software · </a:t>
            </a:r>
            <a:r>
              <a:rPr sz="1500" b="0" i="0">
                <a:solidFill>
                  <a:srgbClr val="FFFFFF"/>
                </a:solidFill>
                <a:latin typeface="Calibri"/>
              </a:rPr>
              <a:t>el motor deja de aceptar datos y el canal enmudece, sin bit de estado ni interrupción.</a:t>
            </a:r>
          </a:p>
        </p:txBody>
      </p:sp>
      <p:sp>
        <p:nvSpPr>
          <p:cNvPr id="8" name="Rectangle 7"/>
          <p:cNvSpPr/>
          <p:nvPr/>
        </p:nvSpPr>
        <p:spPr>
          <a:xfrm>
            <a:off x="658368" y="2660904"/>
            <a:ext cx="5254599" cy="22402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2660904"/>
            <a:ext cx="40640" cy="22402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2862072"/>
            <a:ext cx="4669383" cy="457200"/>
          </a:xfrm>
          <a:prstGeom prst="rect">
            <a:avLst/>
          </a:prstGeom>
          <a:noFill/>
        </p:spPr>
        <p:txBody>
          <a:bodyPr wrap="square" lIns="0" tIns="0" rIns="0" bIns="0" anchor="t">
            <a:spAutoFit/>
          </a:bodyPr>
          <a:lstStyle/>
          <a:p>
            <a:pPr algn="l">
              <a:lnSpc>
                <a:spcPct val="108000"/>
              </a:lnSpc>
              <a:spcBef>
                <a:spcPts val="0"/>
              </a:spcBef>
              <a:spcAft>
                <a:spcPts val="0"/>
              </a:spcAft>
            </a:pPr>
            <a:r>
              <a:rPr sz="1750" b="1" i="0">
                <a:solidFill>
                  <a:srgbClr val="12345C"/>
                </a:solidFill>
                <a:latin typeface="Calibri"/>
              </a:rPr>
              <a:t>Paquete acotado</a:t>
            </a:r>
          </a:p>
        </p:txBody>
      </p:sp>
      <p:sp>
        <p:nvSpPr>
          <p:cNvPr id="11" name="TextBox 10"/>
          <p:cNvSpPr txBox="1"/>
          <p:nvPr/>
        </p:nvSpPr>
        <p:spPr>
          <a:xfrm>
            <a:off x="950976" y="3374136"/>
            <a:ext cx="4669383" cy="640080"/>
          </a:xfrm>
          <a:prstGeom prst="rect">
            <a:avLst/>
          </a:prstGeom>
          <a:noFill/>
        </p:spPr>
        <p:txBody>
          <a:bodyPr wrap="square" lIns="0" tIns="0" rIns="0" bIns="0" anchor="t">
            <a:spAutoFit/>
          </a:bodyPr>
          <a:lstStyle/>
          <a:p>
            <a:pPr algn="l">
              <a:lnSpc>
                <a:spcPct val="108000"/>
              </a:lnSpc>
              <a:spcBef>
                <a:spcPts val="0"/>
              </a:spcBef>
              <a:spcAft>
                <a:spcPts val="0"/>
              </a:spcAft>
            </a:pPr>
            <a:r>
              <a:rPr sz="2600" b="1" i="0">
                <a:solidFill>
                  <a:srgbClr val="1E63A8"/>
                </a:solidFill>
                <a:latin typeface="Calibri"/>
              </a:rPr>
              <a:t>512 B  </a:t>
            </a:r>
            <a:r>
              <a:rPr sz="1300" b="0" i="0">
                <a:solidFill>
                  <a:srgbClr val="62707E"/>
                </a:solidFill>
                <a:latin typeface="Calibri"/>
              </a:rPr>
              <a:t>buffer interno del motor RX</a:t>
            </a:r>
          </a:p>
        </p:txBody>
      </p:sp>
      <p:sp>
        <p:nvSpPr>
          <p:cNvPr id="12" name="TextBox 11"/>
          <p:cNvSpPr txBox="1"/>
          <p:nvPr/>
        </p:nvSpPr>
        <p:spPr>
          <a:xfrm>
            <a:off x="950976" y="4123944"/>
            <a:ext cx="4669383" cy="731520"/>
          </a:xfrm>
          <a:prstGeom prst="rect">
            <a:avLst/>
          </a:prstGeom>
          <a:noFill/>
        </p:spPr>
        <p:txBody>
          <a:bodyPr wrap="square" lIns="0" tIns="0" rIns="0" bIns="0" anchor="t">
            <a:spAutoFit/>
          </a:bodyPr>
          <a:lstStyle/>
          <a:p>
            <a:pPr algn="l">
              <a:lnSpc>
                <a:spcPct val="116000"/>
              </a:lnSpc>
              <a:spcBef>
                <a:spcPts val="0"/>
              </a:spcBef>
              <a:spcAft>
                <a:spcPts val="0"/>
              </a:spcAft>
            </a:pPr>
            <a:r>
              <a:rPr sz="1350" b="1" i="0">
                <a:solidFill>
                  <a:srgbClr val="E09B2D"/>
                </a:solidFill>
                <a:latin typeface="Calibri"/>
              </a:rPr>
              <a:t>▸  </a:t>
            </a:r>
            <a:r>
              <a:rPr sz="1350" b="0" i="0">
                <a:solidFill>
                  <a:srgbClr val="1F2933"/>
                </a:solidFill>
                <a:latin typeface="Calibri"/>
              </a:rPr>
              <a:t>MAX_PKT = 256 B, la mitad: invariante, no una carrera ganada</a:t>
            </a:r>
          </a:p>
        </p:txBody>
      </p:sp>
      <p:sp>
        <p:nvSpPr>
          <p:cNvPr id="13" name="Rectangle 12"/>
          <p:cNvSpPr/>
          <p:nvPr/>
        </p:nvSpPr>
        <p:spPr>
          <a:xfrm>
            <a:off x="6278727" y="2660904"/>
            <a:ext cx="5254599" cy="22402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78727" y="2660904"/>
            <a:ext cx="40640" cy="224028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71335" y="2862072"/>
            <a:ext cx="4669383" cy="457200"/>
          </a:xfrm>
          <a:prstGeom prst="rect">
            <a:avLst/>
          </a:prstGeom>
          <a:noFill/>
        </p:spPr>
        <p:txBody>
          <a:bodyPr wrap="square" lIns="0" tIns="0" rIns="0" bIns="0" anchor="t">
            <a:spAutoFit/>
          </a:bodyPr>
          <a:lstStyle/>
          <a:p>
            <a:pPr algn="l">
              <a:lnSpc>
                <a:spcPct val="108000"/>
              </a:lnSpc>
              <a:spcBef>
                <a:spcPts val="0"/>
              </a:spcBef>
              <a:spcAft>
                <a:spcPts val="0"/>
              </a:spcAft>
            </a:pPr>
            <a:r>
              <a:rPr sz="1750" b="1" i="0">
                <a:solidFill>
                  <a:srgbClr val="12345C"/>
                </a:solidFill>
                <a:latin typeface="Calibri"/>
              </a:rPr>
              <a:t>TLAST registrado</a:t>
            </a:r>
          </a:p>
        </p:txBody>
      </p:sp>
      <p:sp>
        <p:nvSpPr>
          <p:cNvPr id="16" name="TextBox 15"/>
          <p:cNvSpPr txBox="1"/>
          <p:nvPr/>
        </p:nvSpPr>
        <p:spPr>
          <a:xfrm>
            <a:off x="6571335" y="3374136"/>
            <a:ext cx="4669383" cy="640080"/>
          </a:xfrm>
          <a:prstGeom prst="rect">
            <a:avLst/>
          </a:prstGeom>
          <a:noFill/>
        </p:spPr>
        <p:txBody>
          <a:bodyPr wrap="square" lIns="0" tIns="0" rIns="0" bIns="0" anchor="t">
            <a:spAutoFit/>
          </a:bodyPr>
          <a:lstStyle/>
          <a:p>
            <a:pPr algn="l">
              <a:lnSpc>
                <a:spcPct val="108000"/>
              </a:lnSpc>
              <a:spcBef>
                <a:spcPts val="0"/>
              </a:spcBef>
              <a:spcAft>
                <a:spcPts val="0"/>
              </a:spcAft>
            </a:pPr>
            <a:r>
              <a:rPr sz="2600" b="1" i="0">
                <a:solidFill>
                  <a:srgbClr val="1E63A8"/>
                </a:solidFill>
                <a:latin typeface="Calibri"/>
              </a:rPr>
              <a:t>1 ciclo  </a:t>
            </a:r>
            <a:r>
              <a:rPr sz="1300" b="0" i="0">
                <a:solidFill>
                  <a:srgbClr val="62707E"/>
                </a:solidFill>
                <a:latin typeface="Calibri"/>
              </a:rPr>
              <a:t>se congela al ofrecer el byte</a:t>
            </a:r>
          </a:p>
        </p:txBody>
      </p:sp>
      <p:sp>
        <p:nvSpPr>
          <p:cNvPr id="17" name="TextBox 16"/>
          <p:cNvSpPr txBox="1"/>
          <p:nvPr/>
        </p:nvSpPr>
        <p:spPr>
          <a:xfrm>
            <a:off x="6571335" y="4123944"/>
            <a:ext cx="4669383" cy="731520"/>
          </a:xfrm>
          <a:prstGeom prst="rect">
            <a:avLst/>
          </a:prstGeom>
          <a:noFill/>
        </p:spPr>
        <p:txBody>
          <a:bodyPr wrap="square" lIns="0" tIns="0" rIns="0" bIns="0" anchor="t">
            <a:spAutoFit/>
          </a:bodyPr>
          <a:lstStyle/>
          <a:p>
            <a:pPr algn="l">
              <a:lnSpc>
                <a:spcPct val="116000"/>
              </a:lnSpc>
              <a:spcBef>
                <a:spcPts val="0"/>
              </a:spcBef>
              <a:spcAft>
                <a:spcPts val="0"/>
              </a:spcAft>
            </a:pPr>
            <a:r>
              <a:rPr sz="1350" b="1" i="0">
                <a:solidFill>
                  <a:srgbClr val="E09B2D"/>
                </a:solidFill>
                <a:latin typeface="Calibri"/>
              </a:rPr>
              <a:t>▸  </a:t>
            </a:r>
            <a:r>
              <a:rPr sz="1350" b="0" i="0">
                <a:solidFill>
                  <a:srgbClr val="1F2933"/>
                </a:solidFill>
                <a:latin typeface="Calibri"/>
              </a:rPr>
              <a:t>combinacional sobre «FIFO vacía» lo tumbaría la contrapresión</a:t>
            </a:r>
          </a:p>
        </p:txBody>
      </p:sp>
      <p:sp>
        <p:nvSpPr>
          <p:cNvPr id="18" name="Rectangle 17"/>
          <p:cNvSpPr/>
          <p:nvPr/>
        </p:nvSpPr>
        <p:spPr>
          <a:xfrm>
            <a:off x="658368" y="5148072"/>
            <a:ext cx="3442106"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8368" y="5148072"/>
            <a:ext cx="40640" cy="9601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 y="5276088"/>
            <a:ext cx="3131210" cy="740664"/>
          </a:xfrm>
          <a:prstGeom prst="rect">
            <a:avLst/>
          </a:prstGeom>
          <a:noFill/>
        </p:spPr>
        <p:txBody>
          <a:bodyPr wrap="square" lIns="0" tIns="0" rIns="0" bIns="0" anchor="ctr">
            <a:spAutoFit/>
          </a:bodyPr>
          <a:lstStyle/>
          <a:p>
            <a:pPr algn="l">
              <a:lnSpc>
                <a:spcPct val="95000"/>
              </a:lnSpc>
              <a:spcBef>
                <a:spcPts val="0"/>
              </a:spcBef>
              <a:spcAft>
                <a:spcPts val="200"/>
              </a:spcAft>
            </a:pPr>
            <a:r>
              <a:rPr sz="2000" b="1" i="0">
                <a:solidFill>
                  <a:srgbClr val="E09B2D"/>
                </a:solidFill>
                <a:latin typeface="Calibri"/>
              </a:rPr>
              <a:t>0/36  →  36/36</a:t>
            </a:r>
          </a:p>
          <a:p>
            <a:pPr>
              <a:lnSpc>
                <a:spcPct val="100000"/>
              </a:lnSpc>
              <a:spcBef>
                <a:spcPts val="0"/>
              </a:spcBef>
              <a:spcAft>
                <a:spcPts val="0"/>
              </a:spcAft>
            </a:pPr>
            <a:r>
              <a:rPr sz="1200" b="0" i="0">
                <a:solidFill>
                  <a:srgbClr val="62707E"/>
                </a:solidFill>
                <a:latin typeface="Calibri"/>
              </a:rPr>
              <a:t>batería en placa tras las correcciones</a:t>
            </a:r>
          </a:p>
        </p:txBody>
      </p:sp>
      <p:sp>
        <p:nvSpPr>
          <p:cNvPr id="21" name="Rectangle 20"/>
          <p:cNvSpPr/>
          <p:nvPr/>
        </p:nvSpPr>
        <p:spPr>
          <a:xfrm>
            <a:off x="4374794" y="5148072"/>
            <a:ext cx="3442106"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74794" y="5148072"/>
            <a:ext cx="40640" cy="9601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5962" y="5276088"/>
            <a:ext cx="3131210" cy="740664"/>
          </a:xfrm>
          <a:prstGeom prst="rect">
            <a:avLst/>
          </a:prstGeom>
          <a:noFill/>
        </p:spPr>
        <p:txBody>
          <a:bodyPr wrap="square" lIns="0" tIns="0" rIns="0" bIns="0" anchor="ctr">
            <a:spAutoFit/>
          </a:bodyPr>
          <a:lstStyle/>
          <a:p>
            <a:pPr algn="l">
              <a:lnSpc>
                <a:spcPct val="95000"/>
              </a:lnSpc>
              <a:spcBef>
                <a:spcPts val="0"/>
              </a:spcBef>
              <a:spcAft>
                <a:spcPts val="200"/>
              </a:spcAft>
            </a:pPr>
            <a:r>
              <a:rPr sz="2000" b="1" i="0">
                <a:solidFill>
                  <a:srgbClr val="1E63A8"/>
                </a:solidFill>
                <a:latin typeface="Calibri"/>
              </a:rPr>
              <a:t>802 checks · 0 errores</a:t>
            </a:r>
          </a:p>
          <a:p>
            <a:pPr>
              <a:lnSpc>
                <a:spcPct val="100000"/>
              </a:lnSpc>
              <a:spcBef>
                <a:spcPts val="0"/>
              </a:spcBef>
              <a:spcAft>
                <a:spcPts val="0"/>
              </a:spcAft>
            </a:pPr>
            <a:r>
              <a:rPr sz="1200" b="0" i="0">
                <a:solidFill>
                  <a:srgbClr val="62707E"/>
                </a:solidFill>
                <a:latin typeface="Calibri"/>
              </a:rPr>
              <a:t>tb_bridge_rx, byte a byte</a:t>
            </a:r>
          </a:p>
        </p:txBody>
      </p:sp>
      <p:sp>
        <p:nvSpPr>
          <p:cNvPr id="24" name="Rectangle 23"/>
          <p:cNvSpPr/>
          <p:nvPr/>
        </p:nvSpPr>
        <p:spPr>
          <a:xfrm>
            <a:off x="8091220" y="5148072"/>
            <a:ext cx="3442106"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91220" y="5148072"/>
            <a:ext cx="40640" cy="9601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92388" y="5276088"/>
            <a:ext cx="3131210" cy="740664"/>
          </a:xfrm>
          <a:prstGeom prst="rect">
            <a:avLst/>
          </a:prstGeom>
          <a:noFill/>
        </p:spPr>
        <p:txBody>
          <a:bodyPr wrap="square" lIns="0" tIns="0" rIns="0" bIns="0" anchor="ctr">
            <a:spAutoFit/>
          </a:bodyPr>
          <a:lstStyle/>
          <a:p>
            <a:pPr algn="l">
              <a:lnSpc>
                <a:spcPct val="95000"/>
              </a:lnSpc>
              <a:spcBef>
                <a:spcPts val="0"/>
              </a:spcBef>
              <a:spcAft>
                <a:spcPts val="200"/>
              </a:spcAft>
            </a:pPr>
            <a:r>
              <a:rPr sz="2000" b="1" i="0">
                <a:solidFill>
                  <a:srgbClr val="1E63A8"/>
                </a:solidFill>
                <a:latin typeface="Calibri"/>
              </a:rPr>
              <a:t>SIM_RESULT: PASS</a:t>
            </a:r>
          </a:p>
          <a:p>
            <a:pPr>
              <a:lnSpc>
                <a:spcPct val="100000"/>
              </a:lnSpc>
              <a:spcBef>
                <a:spcPts val="0"/>
              </a:spcBef>
              <a:spcAft>
                <a:spcPts val="0"/>
              </a:spcAft>
            </a:pPr>
            <a:r>
              <a:rPr sz="1200" b="0" i="0">
                <a:solidFill>
                  <a:srgbClr val="62707E"/>
                </a:solidFill>
                <a:latin typeface="Calibri"/>
              </a:rPr>
              <a:t>tb_system_e2e a 921.600 8N1</a:t>
            </a:r>
          </a:p>
        </p:txBody>
      </p:sp>
      <p:sp>
        <p:nvSpPr>
          <p:cNvPr id="27" name="TextBox 26"/>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02 · Firmware  ·  verificación aislada → integración incremental → regresión en placa</a:t>
            </a:r>
          </a:p>
        </p:txBody>
      </p:sp>
      <p:sp>
        <p:nvSpPr>
          <p:cNvPr id="28" name="TextBox 27"/>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148840"/>
            <a:ext cx="2194560" cy="1737360"/>
          </a:xfrm>
          <a:prstGeom prst="rect">
            <a:avLst/>
          </a:prstGeom>
          <a:noFill/>
        </p:spPr>
        <p:txBody>
          <a:bodyPr wrap="square" lIns="0" tIns="0" rIns="0" bIns="0" anchor="t">
            <a:spAutoFit/>
          </a:bodyPr>
          <a:lstStyle/>
          <a:p>
            <a:pPr algn="l">
              <a:lnSpc>
                <a:spcPct val="90000"/>
              </a:lnSpc>
              <a:spcBef>
                <a:spcPts val="0"/>
              </a:spcBef>
              <a:spcAft>
                <a:spcPts val="0"/>
              </a:spcAft>
            </a:pPr>
            <a:r>
              <a:rPr sz="9600" b="1" i="0">
                <a:solidFill>
                  <a:srgbClr val="E09B2D"/>
                </a:solidFill>
                <a:latin typeface="Calibri"/>
              </a:rPr>
              <a:t>03</a:t>
            </a:r>
          </a:p>
        </p:txBody>
      </p:sp>
      <p:sp>
        <p:nvSpPr>
          <p:cNvPr id="5" name="TextBox 4"/>
          <p:cNvSpPr txBox="1"/>
          <p:nvPr/>
        </p:nvSpPr>
        <p:spPr>
          <a:xfrm>
            <a:off x="3840480" y="2331720"/>
            <a:ext cx="7498079" cy="1737360"/>
          </a:xfrm>
          <a:prstGeom prst="rect">
            <a:avLst/>
          </a:prstGeom>
          <a:noFill/>
        </p:spPr>
        <p:txBody>
          <a:bodyPr wrap="square" lIns="0" tIns="0" rIns="0" bIns="0" anchor="t">
            <a:spAutoFit/>
          </a:bodyPr>
          <a:lstStyle/>
          <a:p>
            <a:pPr algn="l">
              <a:lnSpc>
                <a:spcPct val="108000"/>
              </a:lnSpc>
              <a:spcBef>
                <a:spcPts val="0"/>
              </a:spcBef>
              <a:spcAft>
                <a:spcPts val="1400"/>
              </a:spcAft>
            </a:pPr>
            <a:r>
              <a:rPr sz="4000" b="1" i="0">
                <a:solidFill>
                  <a:srgbClr val="FFFFFF"/>
                </a:solidFill>
                <a:latin typeface="Calibri"/>
              </a:rPr>
              <a:t>Hardware</a:t>
            </a:r>
          </a:p>
        </p:txBody>
      </p:sp>
      <p:sp>
        <p:nvSpPr>
          <p:cNvPr id="6" name="Rectangle 5"/>
          <p:cNvSpPr/>
          <p:nvPr/>
        </p:nvSpPr>
        <p:spPr>
          <a:xfrm>
            <a:off x="3840480" y="3703320"/>
            <a:ext cx="146304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3977639"/>
            <a:ext cx="7498079" cy="822960"/>
          </a:xfrm>
          <a:prstGeom prst="rect">
            <a:avLst/>
          </a:prstGeom>
          <a:noFill/>
        </p:spPr>
        <p:txBody>
          <a:bodyPr wrap="square" lIns="0" tIns="0" rIns="0" bIns="0" anchor="t">
            <a:spAutoFit/>
          </a:bodyPr>
          <a:lstStyle/>
          <a:p>
            <a:pPr algn="l">
              <a:lnSpc>
                <a:spcPct val="116000"/>
              </a:lnSpc>
              <a:spcBef>
                <a:spcPts val="0"/>
              </a:spcBef>
              <a:spcAft>
                <a:spcPts val="0"/>
              </a:spcAft>
            </a:pPr>
            <a:r>
              <a:rPr sz="1700" b="0" i="0">
                <a:solidFill>
                  <a:srgbClr val="9FB6D1"/>
                </a:solidFill>
                <a:latin typeface="Calibri"/>
              </a:rPr>
              <a:t>Tres placas de expansión de la ZCU102, diseñadas, fabricadas y montadas.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03 · HARDWARE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Tres PCB de expansión de la ZCU102</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03</a:t>
            </a:r>
          </a:p>
        </p:txBody>
      </p:sp>
      <p:sp>
        <p:nvSpPr>
          <p:cNvPr id="6" name="Rectangle 5"/>
          <p:cNvSpPr/>
          <p:nvPr/>
        </p:nvSpPr>
        <p:spPr>
          <a:xfrm>
            <a:off x="658368" y="1700784"/>
            <a:ext cx="3442106" cy="3749039"/>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rial_3d_top.png"/>
          <p:cNvPicPr>
            <a:picLocks noChangeAspect="1"/>
          </p:cNvPicPr>
          <p:nvPr/>
        </p:nvPicPr>
        <p:blipFill>
          <a:blip r:embed="rId3"/>
          <a:stretch>
            <a:fillRect/>
          </a:stretch>
        </p:blipFill>
        <p:spPr>
          <a:xfrm>
            <a:off x="846632" y="1847088"/>
            <a:ext cx="3065577" cy="2057400"/>
          </a:xfrm>
          <a:prstGeom prst="rect">
            <a:avLst/>
          </a:prstGeom>
        </p:spPr>
      </p:pic>
      <p:sp>
        <p:nvSpPr>
          <p:cNvPr id="8" name="TextBox 7"/>
          <p:cNvSpPr txBox="1"/>
          <p:nvPr/>
        </p:nvSpPr>
        <p:spPr>
          <a:xfrm>
            <a:off x="932688" y="4078224"/>
            <a:ext cx="2893466" cy="365760"/>
          </a:xfrm>
          <a:prstGeom prst="rect">
            <a:avLst/>
          </a:prstGeom>
          <a:noFill/>
        </p:spPr>
        <p:txBody>
          <a:bodyPr wrap="square" lIns="0" tIns="0" rIns="0" bIns="0" anchor="t">
            <a:spAutoFit/>
          </a:bodyPr>
          <a:lstStyle/>
          <a:p>
            <a:pPr algn="l">
              <a:lnSpc>
                <a:spcPct val="108000"/>
              </a:lnSpc>
              <a:spcBef>
                <a:spcPts val="0"/>
              </a:spcBef>
              <a:spcAft>
                <a:spcPts val="0"/>
              </a:spcAft>
            </a:pPr>
            <a:r>
              <a:rPr sz="1700" b="1" i="0">
                <a:solidFill>
                  <a:srgbClr val="12345C"/>
                </a:solidFill>
                <a:latin typeface="Calibri"/>
              </a:rPr>
              <a:t>Comunicación serie</a:t>
            </a:r>
          </a:p>
        </p:txBody>
      </p:sp>
      <p:sp>
        <p:nvSpPr>
          <p:cNvPr id="9" name="TextBox 8"/>
          <p:cNvSpPr txBox="1"/>
          <p:nvPr/>
        </p:nvSpPr>
        <p:spPr>
          <a:xfrm>
            <a:off x="932688" y="4517136"/>
            <a:ext cx="2893466" cy="914400"/>
          </a:xfrm>
          <a:prstGeom prst="rect">
            <a:avLst/>
          </a:prstGeom>
          <a:noFill/>
        </p:spPr>
        <p:txBody>
          <a:bodyPr wrap="square" lIns="0" tIns="0" rIns="0" bIns="0" anchor="t">
            <a:spAutoFit/>
          </a:bodyPr>
          <a:lstStyle/>
          <a:p>
            <a:pPr algn="l">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14 × LTC2865</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bus A: RS485, 7 nodos</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buses B y C: RS422</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topología por jumper</a:t>
            </a:r>
          </a:p>
        </p:txBody>
      </p:sp>
      <p:sp>
        <p:nvSpPr>
          <p:cNvPr id="10" name="Rectangle 9"/>
          <p:cNvSpPr/>
          <p:nvPr/>
        </p:nvSpPr>
        <p:spPr>
          <a:xfrm>
            <a:off x="4374794" y="1700784"/>
            <a:ext cx="3442106" cy="3749039"/>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dhs_3d_top.png"/>
          <p:cNvPicPr>
            <a:picLocks noChangeAspect="1"/>
          </p:cNvPicPr>
          <p:nvPr/>
        </p:nvPicPr>
        <p:blipFill>
          <a:blip r:embed="rId4"/>
          <a:stretch>
            <a:fillRect/>
          </a:stretch>
        </p:blipFill>
        <p:spPr>
          <a:xfrm>
            <a:off x="4709083" y="1847088"/>
            <a:ext cx="2773527" cy="2057400"/>
          </a:xfrm>
          <a:prstGeom prst="rect">
            <a:avLst/>
          </a:prstGeom>
        </p:spPr>
      </p:pic>
      <p:sp>
        <p:nvSpPr>
          <p:cNvPr id="12" name="TextBox 11"/>
          <p:cNvSpPr txBox="1"/>
          <p:nvPr/>
        </p:nvSpPr>
        <p:spPr>
          <a:xfrm>
            <a:off x="4649114" y="4078224"/>
            <a:ext cx="2893466" cy="365760"/>
          </a:xfrm>
          <a:prstGeom prst="rect">
            <a:avLst/>
          </a:prstGeom>
          <a:noFill/>
        </p:spPr>
        <p:txBody>
          <a:bodyPr wrap="square" lIns="0" tIns="0" rIns="0" bIns="0" anchor="t">
            <a:spAutoFit/>
          </a:bodyPr>
          <a:lstStyle/>
          <a:p>
            <a:pPr algn="l">
              <a:lnSpc>
                <a:spcPct val="108000"/>
              </a:lnSpc>
              <a:spcBef>
                <a:spcPts val="0"/>
              </a:spcBef>
              <a:spcAft>
                <a:spcPts val="0"/>
              </a:spcAft>
            </a:pPr>
            <a:r>
              <a:rPr sz="1700" b="1" i="0">
                <a:solidFill>
                  <a:srgbClr val="12345C"/>
                </a:solidFill>
                <a:latin typeface="Calibri"/>
              </a:rPr>
              <a:t>CDHS</a:t>
            </a:r>
          </a:p>
        </p:txBody>
      </p:sp>
      <p:sp>
        <p:nvSpPr>
          <p:cNvPr id="13" name="TextBox 12"/>
          <p:cNvSpPr txBox="1"/>
          <p:nvPr/>
        </p:nvSpPr>
        <p:spPr>
          <a:xfrm>
            <a:off x="4649114" y="4517136"/>
            <a:ext cx="2893466" cy="914400"/>
          </a:xfrm>
          <a:prstGeom prst="rect">
            <a:avLst/>
          </a:prstGeom>
          <a:noFill/>
        </p:spPr>
        <p:txBody>
          <a:bodyPr wrap="square" lIns="0" tIns="0" rIns="0" bIns="0" anchor="t">
            <a:spAutoFit/>
          </a:bodyPr>
          <a:lstStyle/>
          <a:p>
            <a:pPr algn="l">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CAN redundante</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3 × RS422/RS485</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4 PWM de calentadores</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ADC de 4 termistores</a:t>
            </a:r>
          </a:p>
        </p:txBody>
      </p:sp>
      <p:sp>
        <p:nvSpPr>
          <p:cNvPr id="14" name="Rectangle 13"/>
          <p:cNvSpPr/>
          <p:nvPr/>
        </p:nvSpPr>
        <p:spPr>
          <a:xfrm>
            <a:off x="8091220" y="1700784"/>
            <a:ext cx="3442106" cy="3749039"/>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ocs_3d_top.png"/>
          <p:cNvPicPr>
            <a:picLocks noChangeAspect="1"/>
          </p:cNvPicPr>
          <p:nvPr/>
        </p:nvPicPr>
        <p:blipFill>
          <a:blip r:embed="rId5"/>
          <a:stretch>
            <a:fillRect/>
          </a:stretch>
        </p:blipFill>
        <p:spPr>
          <a:xfrm>
            <a:off x="8237524" y="2163876"/>
            <a:ext cx="3149498" cy="1423823"/>
          </a:xfrm>
          <a:prstGeom prst="rect">
            <a:avLst/>
          </a:prstGeom>
        </p:spPr>
      </p:pic>
      <p:sp>
        <p:nvSpPr>
          <p:cNvPr id="16" name="TextBox 15"/>
          <p:cNvSpPr txBox="1"/>
          <p:nvPr/>
        </p:nvSpPr>
        <p:spPr>
          <a:xfrm>
            <a:off x="8365540" y="4078224"/>
            <a:ext cx="2893466" cy="365760"/>
          </a:xfrm>
          <a:prstGeom prst="rect">
            <a:avLst/>
          </a:prstGeom>
          <a:noFill/>
        </p:spPr>
        <p:txBody>
          <a:bodyPr wrap="square" lIns="0" tIns="0" rIns="0" bIns="0" anchor="t">
            <a:spAutoFit/>
          </a:bodyPr>
          <a:lstStyle/>
          <a:p>
            <a:pPr algn="l">
              <a:lnSpc>
                <a:spcPct val="108000"/>
              </a:lnSpc>
              <a:spcBef>
                <a:spcPts val="0"/>
              </a:spcBef>
              <a:spcAft>
                <a:spcPts val="0"/>
              </a:spcAft>
            </a:pPr>
            <a:r>
              <a:rPr sz="1700" b="1" i="0">
                <a:solidFill>
                  <a:srgbClr val="12345C"/>
                </a:solidFill>
                <a:latin typeface="Calibri"/>
              </a:rPr>
              <a:t>AOCS</a:t>
            </a:r>
          </a:p>
        </p:txBody>
      </p:sp>
      <p:sp>
        <p:nvSpPr>
          <p:cNvPr id="17" name="TextBox 16"/>
          <p:cNvSpPr txBox="1"/>
          <p:nvPr/>
        </p:nvSpPr>
        <p:spPr>
          <a:xfrm>
            <a:off x="8365540" y="4517136"/>
            <a:ext cx="2893466" cy="914400"/>
          </a:xfrm>
          <a:prstGeom prst="rect">
            <a:avLst/>
          </a:prstGeom>
          <a:noFill/>
        </p:spPr>
        <p:txBody>
          <a:bodyPr wrap="square" lIns="0" tIns="0" rIns="0" bIns="0" anchor="t">
            <a:spAutoFit/>
          </a:bodyPr>
          <a:lstStyle/>
          <a:p>
            <a:pPr algn="l">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6 × RS422/RS485</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PWM de motores, 3 ejes</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2 × SpaceWire</a:t>
            </a:r>
          </a:p>
          <a:p>
            <a:pPr>
              <a:lnSpc>
                <a:spcPct val="108000"/>
              </a:lnSpc>
              <a:spcBef>
                <a:spcPts val="0"/>
              </a:spcBef>
              <a:spcAft>
                <a:spcPts val="300"/>
              </a:spcAft>
            </a:pPr>
            <a:r>
              <a:rPr sz="1250" b="1" i="0">
                <a:solidFill>
                  <a:srgbClr val="E09B2D"/>
                </a:solidFill>
                <a:latin typeface="Calibri"/>
              </a:rPr>
              <a:t>· </a:t>
            </a:r>
            <a:r>
              <a:rPr sz="1250" b="0" i="0">
                <a:solidFill>
                  <a:srgbClr val="1F2933"/>
                </a:solidFill>
                <a:latin typeface="Calibri"/>
              </a:rPr>
              <a:t>8 conectores D-Sub-9</a:t>
            </a:r>
          </a:p>
        </p:txBody>
      </p:sp>
      <p:sp>
        <p:nvSpPr>
          <p:cNvPr id="18" name="TextBox 17"/>
          <p:cNvSpPr txBox="1"/>
          <p:nvPr/>
        </p:nvSpPr>
        <p:spPr>
          <a:xfrm>
            <a:off x="658368" y="5669280"/>
            <a:ext cx="10874959" cy="457200"/>
          </a:xfrm>
          <a:prstGeom prst="rect">
            <a:avLst/>
          </a:prstGeom>
          <a:noFill/>
        </p:spPr>
        <p:txBody>
          <a:bodyPr wrap="square" lIns="0" tIns="0" rIns="0" bIns="0" anchor="t">
            <a:spAutoFit/>
          </a:bodyPr>
          <a:lstStyle/>
          <a:p>
            <a:pPr algn="l">
              <a:lnSpc>
                <a:spcPct val="108000"/>
              </a:lnSpc>
              <a:spcBef>
                <a:spcPts val="0"/>
              </a:spcBef>
              <a:spcAft>
                <a:spcPts val="0"/>
              </a:spcAft>
            </a:pPr>
            <a:r>
              <a:rPr sz="1400" b="1" i="0">
                <a:solidFill>
                  <a:srgbClr val="12345C"/>
                </a:solidFill>
                <a:latin typeface="Calibri"/>
              </a:rPr>
              <a:t>Altium Designer · reglas de PCBWay, no propias  </a:t>
            </a:r>
            <a:r>
              <a:rPr sz="1400" b="0" i="0">
                <a:solidFill>
                  <a:srgbClr val="1F2933"/>
                </a:solidFill>
                <a:latin typeface="Calibri"/>
              </a:rPr>
              <a:t>→  fabricables a coste ordinario en primera tirada. Montaje propio: stencil, pasta y horno de reflujo.</a:t>
            </a:r>
          </a:p>
        </p:txBody>
      </p:sp>
      <p:sp>
        <p:nvSpPr>
          <p:cNvPr id="19" name="TextBox 18"/>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03 · Hardware  ·  esquemáticos y BOM en el repositorio</a:t>
            </a:r>
          </a:p>
        </p:txBody>
      </p:sp>
      <p:sp>
        <p:nvSpPr>
          <p:cNvPr id="20" name="TextBox 19"/>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1.778_0.50_serial_pcb_jumpers.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84048" y="6016752"/>
            <a:ext cx="453175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016752"/>
            <a:ext cx="4165998"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Placa de comunicación serie · 14 × LTC2865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0.889_0.50_cdhs_soldada.jpg"/>
          <p:cNvPicPr>
            <a:picLocks noChangeAspect="1"/>
          </p:cNvPicPr>
          <p:nvPr/>
        </p:nvPicPr>
        <p:blipFill>
          <a:blip r:embed="rId3"/>
          <a:stretch>
            <a:fillRect/>
          </a:stretch>
        </p:blipFill>
        <p:spPr>
          <a:xfrm>
            <a:off x="0" y="0"/>
            <a:ext cx="6095847" cy="6858000"/>
          </a:xfrm>
          <a:prstGeom prst="rect">
            <a:avLst/>
          </a:prstGeom>
        </p:spPr>
      </p:pic>
      <p:sp>
        <p:nvSpPr>
          <p:cNvPr id="3" name="Rectangle 2"/>
          <p:cNvSpPr/>
          <p:nvPr/>
        </p:nvSpPr>
        <p:spPr>
          <a:xfrm>
            <a:off x="274320" y="6016752"/>
            <a:ext cx="77906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016752"/>
            <a:ext cx="413308"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FFFFFF"/>
                </a:solidFill>
                <a:latin typeface="Calibri"/>
              </a:rPr>
              <a:t>CDHS</a:t>
            </a:r>
          </a:p>
        </p:txBody>
      </p:sp>
      <p:pic>
        <p:nvPicPr>
          <p:cNvPr id="5" name="Picture 4" descr="cov_0.889_0.50_aocs_soldada_caras.jpg"/>
          <p:cNvPicPr>
            <a:picLocks noChangeAspect="1"/>
          </p:cNvPicPr>
          <p:nvPr/>
        </p:nvPicPr>
        <p:blipFill>
          <a:blip r:embed="rId4"/>
          <a:stretch>
            <a:fillRect/>
          </a:stretch>
        </p:blipFill>
        <p:spPr>
          <a:xfrm>
            <a:off x="6095847" y="0"/>
            <a:ext cx="6095847" cy="6858000"/>
          </a:xfrm>
          <a:prstGeom prst="rect">
            <a:avLst/>
          </a:prstGeom>
        </p:spPr>
      </p:pic>
      <p:sp>
        <p:nvSpPr>
          <p:cNvPr id="6" name="Rectangle 5"/>
          <p:cNvSpPr/>
          <p:nvPr/>
        </p:nvSpPr>
        <p:spPr>
          <a:xfrm>
            <a:off x="6370167" y="6016752"/>
            <a:ext cx="77906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3047" y="6016752"/>
            <a:ext cx="413308"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FFFFFF"/>
                </a:solidFill>
                <a:latin typeface="Calibri"/>
              </a:rPr>
              <a:t>AOCS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03 · HARDWARE</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Selección de componentes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03</a:t>
            </a:r>
          </a:p>
        </p:txBody>
      </p:sp>
      <p:sp>
        <p:nvSpPr>
          <p:cNvPr id="6" name="Rectangle 5"/>
          <p:cNvSpPr/>
          <p:nvPr/>
        </p:nvSpPr>
        <p:spPr>
          <a:xfrm>
            <a:off x="658368" y="1645920"/>
            <a:ext cx="10874959" cy="73152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1645920"/>
            <a:ext cx="10289743" cy="731520"/>
          </a:xfrm>
          <a:prstGeom prst="rect">
            <a:avLst/>
          </a:prstGeom>
          <a:noFill/>
        </p:spPr>
        <p:txBody>
          <a:bodyPr wrap="square" lIns="0" tIns="0" rIns="0" bIns="0" anchor="ctr">
            <a:spAutoFit/>
          </a:bodyPr>
          <a:lstStyle/>
          <a:p>
            <a:pPr algn="l">
              <a:lnSpc>
                <a:spcPct val="108000"/>
              </a:lnSpc>
              <a:spcBef>
                <a:spcPts val="0"/>
              </a:spcBef>
              <a:spcAft>
                <a:spcPts val="0"/>
              </a:spcAft>
            </a:pPr>
            <a:r>
              <a:rPr sz="1600" b="1" i="0">
                <a:solidFill>
                  <a:srgbClr val="E09B2D"/>
                </a:solidFill>
                <a:latin typeface="Calibri"/>
              </a:rPr>
              <a:t>Los bancos de E/S del FMC operan a 1,8 V (carril VADJ)</a:t>
            </a:r>
            <a:r>
              <a:rPr sz="1500" b="0" i="0">
                <a:solidFill>
                  <a:srgbClr val="FFFFFF"/>
                </a:solidFill>
                <a:latin typeface="Calibri"/>
              </a:rPr>
              <a:t>   ·   todo lo conectado directamente tiene que admitirlo</a:t>
            </a:r>
          </a:p>
        </p:txBody>
      </p:sp>
      <p:sp>
        <p:nvSpPr>
          <p:cNvPr id="8" name="Rectangle 7"/>
          <p:cNvSpPr/>
          <p:nvPr/>
        </p:nvSpPr>
        <p:spPr>
          <a:xfrm>
            <a:off x="658368" y="2660904"/>
            <a:ext cx="5254599" cy="21945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2660904"/>
            <a:ext cx="40640" cy="219456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2898648"/>
            <a:ext cx="4669383" cy="1737360"/>
          </a:xfrm>
          <a:prstGeom prst="rect">
            <a:avLst/>
          </a:prstGeom>
          <a:noFill/>
        </p:spPr>
        <p:txBody>
          <a:bodyPr wrap="square" lIns="0" tIns="0" rIns="0" bIns="0" anchor="t">
            <a:spAutoFit/>
          </a:bodyPr>
          <a:lstStyle/>
          <a:p>
            <a:pPr algn="l">
              <a:lnSpc>
                <a:spcPct val="108000"/>
              </a:lnSpc>
              <a:spcBef>
                <a:spcPts val="0"/>
              </a:spcBef>
              <a:spcAft>
                <a:spcPts val="1200"/>
              </a:spcAft>
            </a:pPr>
            <a:r>
              <a:rPr sz="1700" b="1" i="0">
                <a:solidFill>
                  <a:srgbClr val="12345C"/>
                </a:solidFill>
                <a:latin typeface="Calibri"/>
              </a:rPr>
              <a:t>Herencia de vuelo: 0 candidatos</a:t>
            </a:r>
          </a:p>
          <a:p>
            <a:pPr>
              <a:lnSpc>
                <a:spcPct val="108000"/>
              </a:lnSpc>
              <a:spcBef>
                <a:spcPts val="0"/>
              </a:spcBef>
              <a:spcAft>
                <a:spcPts val="800"/>
              </a:spcAft>
            </a:pPr>
            <a:r>
              <a:rPr sz="1400" b="1" i="0">
                <a:solidFill>
                  <a:srgbClr val="E09B2D"/>
                </a:solidFill>
                <a:latin typeface="Calibri"/>
              </a:rPr>
              <a:t>· </a:t>
            </a:r>
            <a:r>
              <a:rPr sz="1400" b="0" i="0">
                <a:solidFill>
                  <a:srgbClr val="1F2933"/>
                </a:solidFill>
                <a:latin typeface="Calibri"/>
              </a:rPr>
              <a:t>Generación tecnológica anterior</a:t>
            </a:r>
          </a:p>
          <a:p>
            <a:pPr>
              <a:lnSpc>
                <a:spcPct val="108000"/>
              </a:lnSpc>
              <a:spcBef>
                <a:spcPts val="0"/>
              </a:spcBef>
              <a:spcAft>
                <a:spcPts val="800"/>
              </a:spcAft>
            </a:pPr>
            <a:r>
              <a:rPr sz="1400" b="1" i="0">
                <a:solidFill>
                  <a:srgbClr val="E09B2D"/>
                </a:solidFill>
                <a:latin typeface="Calibri"/>
              </a:rPr>
              <a:t>· </a:t>
            </a:r>
            <a:r>
              <a:rPr sz="1400" b="0" i="0">
                <a:solidFill>
                  <a:srgbClr val="1F2933"/>
                </a:solidFill>
                <a:latin typeface="Calibri"/>
              </a:rPr>
              <a:t>Interfaz a 3,3 V o 5 V, nunca 1,8 V</a:t>
            </a:r>
          </a:p>
          <a:p>
            <a:pPr>
              <a:lnSpc>
                <a:spcPct val="108000"/>
              </a:lnSpc>
              <a:spcBef>
                <a:spcPts val="0"/>
              </a:spcBef>
              <a:spcAft>
                <a:spcPts val="800"/>
              </a:spcAft>
            </a:pPr>
            <a:r>
              <a:rPr sz="1400" b="1" i="0">
                <a:solidFill>
                  <a:srgbClr val="E09B2D"/>
                </a:solidFill>
                <a:latin typeface="Calibri"/>
              </a:rPr>
              <a:t>· </a:t>
            </a:r>
            <a:r>
              <a:rPr sz="1400" b="0" i="0">
                <a:solidFill>
                  <a:srgbClr val="1F2933"/>
                </a:solidFill>
                <a:latin typeface="Calibri"/>
              </a:rPr>
              <a:t>Rad-hard: coste y plazos fuera de NewSpace</a:t>
            </a:r>
          </a:p>
        </p:txBody>
      </p:sp>
      <p:sp>
        <p:nvSpPr>
          <p:cNvPr id="11" name="Rectangle 10"/>
          <p:cNvSpPr/>
          <p:nvPr/>
        </p:nvSpPr>
        <p:spPr>
          <a:xfrm>
            <a:off x="6278727" y="2660904"/>
            <a:ext cx="5254599" cy="21945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78727" y="2660904"/>
            <a:ext cx="40640" cy="219456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71335" y="2898648"/>
            <a:ext cx="4669383" cy="1737360"/>
          </a:xfrm>
          <a:prstGeom prst="rect">
            <a:avLst/>
          </a:prstGeom>
          <a:noFill/>
        </p:spPr>
        <p:txBody>
          <a:bodyPr wrap="square" lIns="0" tIns="0" rIns="0" bIns="0" anchor="t">
            <a:spAutoFit/>
          </a:bodyPr>
          <a:lstStyle/>
          <a:p>
            <a:pPr algn="l">
              <a:lnSpc>
                <a:spcPct val="108000"/>
              </a:lnSpc>
              <a:spcBef>
                <a:spcPts val="0"/>
              </a:spcBef>
              <a:spcAft>
                <a:spcPts val="1200"/>
              </a:spcAft>
            </a:pPr>
            <a:r>
              <a:rPr sz="1700" b="1" i="0">
                <a:solidFill>
                  <a:srgbClr val="12345C"/>
                </a:solidFill>
                <a:latin typeface="Calibri"/>
              </a:rPr>
              <a:t>Grado automotriz · AEC-Q100</a:t>
            </a:r>
          </a:p>
          <a:p>
            <a:pPr>
              <a:lnSpc>
                <a:spcPct val="108000"/>
              </a:lnSpc>
              <a:spcBef>
                <a:spcPts val="0"/>
              </a:spcBef>
              <a:spcAft>
                <a:spcPts val="700"/>
              </a:spcAft>
            </a:pPr>
            <a:r>
              <a:rPr sz="1300" b="1" i="0">
                <a:solidFill>
                  <a:srgbClr val="12345C"/>
                </a:solidFill>
                <a:latin typeface="Consolas"/>
              </a:rPr>
              <a:t>THVD1424RGTR</a:t>
            </a:r>
            <a:r>
              <a:rPr sz="1300" b="0" i="0">
                <a:solidFill>
                  <a:srgbClr val="62707E"/>
                </a:solidFill>
                <a:latin typeface="Calibri"/>
              </a:rPr>
              <a:t>   serie de CDHS y AOCS</a:t>
            </a:r>
          </a:p>
          <a:p>
            <a:pPr>
              <a:lnSpc>
                <a:spcPct val="108000"/>
              </a:lnSpc>
              <a:spcBef>
                <a:spcPts val="0"/>
              </a:spcBef>
              <a:spcAft>
                <a:spcPts val="700"/>
              </a:spcAft>
            </a:pPr>
            <a:r>
              <a:rPr sz="1300" b="1" i="0">
                <a:solidFill>
                  <a:srgbClr val="12345C"/>
                </a:solidFill>
                <a:latin typeface="Consolas"/>
              </a:rPr>
              <a:t>TCAN1044AVDRQ1</a:t>
            </a:r>
            <a:r>
              <a:rPr sz="1300" b="0" i="0">
                <a:solidFill>
                  <a:srgbClr val="62707E"/>
                </a:solidFill>
                <a:latin typeface="Calibri"/>
              </a:rPr>
              <a:t>   CAN</a:t>
            </a:r>
          </a:p>
          <a:p>
            <a:pPr>
              <a:lnSpc>
                <a:spcPct val="108000"/>
              </a:lnSpc>
              <a:spcBef>
                <a:spcPts val="0"/>
              </a:spcBef>
              <a:spcAft>
                <a:spcPts val="700"/>
              </a:spcAft>
            </a:pPr>
            <a:r>
              <a:rPr sz="1300" b="1" i="0">
                <a:solidFill>
                  <a:srgbClr val="12345C"/>
                </a:solidFill>
                <a:latin typeface="Consolas"/>
              </a:rPr>
              <a:t>ADS7950QDBTRQ1</a:t>
            </a:r>
            <a:r>
              <a:rPr sz="1300" b="0" i="0">
                <a:solidFill>
                  <a:srgbClr val="62707E"/>
                </a:solidFill>
                <a:latin typeface="Calibri"/>
              </a:rPr>
              <a:t>   ADC SAR 12 bits</a:t>
            </a:r>
          </a:p>
          <a:p>
            <a:pPr>
              <a:lnSpc>
                <a:spcPct val="108000"/>
              </a:lnSpc>
              <a:spcBef>
                <a:spcPts val="0"/>
              </a:spcBef>
              <a:spcAft>
                <a:spcPts val="700"/>
              </a:spcAft>
            </a:pPr>
            <a:r>
              <a:rPr sz="1300" b="1" i="0">
                <a:solidFill>
                  <a:srgbClr val="12345C"/>
                </a:solidFill>
                <a:latin typeface="Consolas"/>
              </a:rPr>
              <a:t>LTC2865</a:t>
            </a:r>
            <a:r>
              <a:rPr sz="1300" b="0" i="0">
                <a:solidFill>
                  <a:srgbClr val="62707E"/>
                </a:solidFill>
                <a:latin typeface="Calibri"/>
              </a:rPr>
              <a:t>   placa serie, hasta 20 Mbps</a:t>
            </a:r>
          </a:p>
        </p:txBody>
      </p:sp>
      <p:sp>
        <p:nvSpPr>
          <p:cNvPr id="14" name="Rectangle 13"/>
          <p:cNvSpPr/>
          <p:nvPr/>
        </p:nvSpPr>
        <p:spPr>
          <a:xfrm>
            <a:off x="658368" y="5056632"/>
            <a:ext cx="10874959" cy="868680"/>
          </a:xfrm>
          <a:prstGeom prst="rect">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 y="5056632"/>
            <a:ext cx="40640" cy="86868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0976" y="5056632"/>
            <a:ext cx="10289743" cy="868680"/>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12345C"/>
                </a:solidFill>
                <a:latin typeface="Calibri"/>
              </a:rPr>
              <a:t>Hardware de validación funcional, no modelo de vuelo</a:t>
            </a:r>
            <a:r>
              <a:rPr sz="1500" b="0" i="0">
                <a:solidFill>
                  <a:srgbClr val="1F2933"/>
                </a:solidFill>
                <a:latin typeface="Calibri"/>
              </a:rPr>
              <a:t>   ·   para el modelo de vuelo habrá que cambiar VADJ o interponer adaptadores.</a:t>
            </a:r>
          </a:p>
        </p:txBody>
      </p:sp>
      <p:sp>
        <p:nvSpPr>
          <p:cNvPr id="17" name="TextBox 16"/>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03 · Hardware</a:t>
            </a:r>
          </a:p>
        </p:txBody>
      </p:sp>
      <p:sp>
        <p:nvSpPr>
          <p:cNvPr id="18" name="TextBox 17"/>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0.593_0.50_arnes_rs422.jpg"/>
          <p:cNvPicPr>
            <a:picLocks noChangeAspect="1"/>
          </p:cNvPicPr>
          <p:nvPr/>
        </p:nvPicPr>
        <p:blipFill>
          <a:blip r:embed="rId3"/>
          <a:stretch>
            <a:fillRect/>
          </a:stretch>
        </p:blipFill>
        <p:spPr>
          <a:xfrm>
            <a:off x="0" y="0"/>
            <a:ext cx="4063898" cy="6858000"/>
          </a:xfrm>
          <a:prstGeom prst="rect">
            <a:avLst/>
          </a:prstGeom>
        </p:spPr>
      </p:pic>
      <p:sp>
        <p:nvSpPr>
          <p:cNvPr id="3" name="Rectangle 2"/>
          <p:cNvSpPr/>
          <p:nvPr/>
        </p:nvSpPr>
        <p:spPr>
          <a:xfrm>
            <a:off x="274320" y="6016752"/>
            <a:ext cx="186537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016752"/>
            <a:ext cx="1499613"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FFFFFF"/>
                </a:solidFill>
                <a:latin typeface="Calibri"/>
              </a:rPr>
              <a:t>RS422 · 4 hilos</a:t>
            </a:r>
          </a:p>
        </p:txBody>
      </p:sp>
      <p:pic>
        <p:nvPicPr>
          <p:cNvPr id="5" name="Picture 4" descr="cov_0.593_0.50_arnes_rs485.jpg"/>
          <p:cNvPicPr>
            <a:picLocks noChangeAspect="1"/>
          </p:cNvPicPr>
          <p:nvPr/>
        </p:nvPicPr>
        <p:blipFill>
          <a:blip r:embed="rId4"/>
          <a:stretch>
            <a:fillRect/>
          </a:stretch>
        </p:blipFill>
        <p:spPr>
          <a:xfrm>
            <a:off x="4063898" y="0"/>
            <a:ext cx="4063898" cy="6858000"/>
          </a:xfrm>
          <a:prstGeom prst="rect">
            <a:avLst/>
          </a:prstGeom>
        </p:spPr>
      </p:pic>
      <p:sp>
        <p:nvSpPr>
          <p:cNvPr id="6" name="Rectangle 5"/>
          <p:cNvSpPr/>
          <p:nvPr/>
        </p:nvSpPr>
        <p:spPr>
          <a:xfrm>
            <a:off x="4338218" y="6016752"/>
            <a:ext cx="186537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1098" y="6016752"/>
            <a:ext cx="1499613"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FFFFFF"/>
                </a:solidFill>
                <a:latin typeface="Calibri"/>
              </a:rPr>
              <a:t>RS485 · 2 hilos</a:t>
            </a:r>
          </a:p>
        </p:txBody>
      </p:sp>
      <p:pic>
        <p:nvPicPr>
          <p:cNvPr id="8" name="Picture 7" descr="cov_0.593_0.50_arnes_can.jpg"/>
          <p:cNvPicPr>
            <a:picLocks noChangeAspect="1"/>
          </p:cNvPicPr>
          <p:nvPr/>
        </p:nvPicPr>
        <p:blipFill>
          <a:blip r:embed="rId5"/>
          <a:stretch>
            <a:fillRect/>
          </a:stretch>
        </p:blipFill>
        <p:spPr>
          <a:xfrm>
            <a:off x="8127796" y="0"/>
            <a:ext cx="4063898" cy="6858000"/>
          </a:xfrm>
          <a:prstGeom prst="rect">
            <a:avLst/>
          </a:prstGeom>
        </p:spPr>
      </p:pic>
      <p:sp>
        <p:nvSpPr>
          <p:cNvPr id="9" name="Rectangle 8"/>
          <p:cNvSpPr/>
          <p:nvPr/>
        </p:nvSpPr>
        <p:spPr>
          <a:xfrm>
            <a:off x="8402116" y="6016752"/>
            <a:ext cx="295167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84996" y="6016752"/>
            <a:ext cx="2585918"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FFFFFF"/>
                </a:solidFill>
                <a:latin typeface="Calibri"/>
              </a:rPr>
              <a:t>CAN · nominal a redundante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148840"/>
            <a:ext cx="2194560" cy="1737360"/>
          </a:xfrm>
          <a:prstGeom prst="rect">
            <a:avLst/>
          </a:prstGeom>
          <a:noFill/>
        </p:spPr>
        <p:txBody>
          <a:bodyPr wrap="square" lIns="0" tIns="0" rIns="0" bIns="0" anchor="t">
            <a:spAutoFit/>
          </a:bodyPr>
          <a:lstStyle/>
          <a:p>
            <a:pPr algn="l">
              <a:lnSpc>
                <a:spcPct val="90000"/>
              </a:lnSpc>
              <a:spcBef>
                <a:spcPts val="0"/>
              </a:spcBef>
              <a:spcAft>
                <a:spcPts val="0"/>
              </a:spcAft>
            </a:pPr>
            <a:r>
              <a:rPr sz="9600" b="1" i="0">
                <a:solidFill>
                  <a:srgbClr val="E09B2D"/>
                </a:solidFill>
                <a:latin typeface="Calibri"/>
              </a:rPr>
              <a:t>04</a:t>
            </a:r>
          </a:p>
        </p:txBody>
      </p:sp>
      <p:sp>
        <p:nvSpPr>
          <p:cNvPr id="5" name="TextBox 4"/>
          <p:cNvSpPr txBox="1"/>
          <p:nvPr/>
        </p:nvSpPr>
        <p:spPr>
          <a:xfrm>
            <a:off x="3840480" y="2331720"/>
            <a:ext cx="7498079" cy="1737360"/>
          </a:xfrm>
          <a:prstGeom prst="rect">
            <a:avLst/>
          </a:prstGeom>
          <a:noFill/>
        </p:spPr>
        <p:txBody>
          <a:bodyPr wrap="square" lIns="0" tIns="0" rIns="0" bIns="0" anchor="t">
            <a:spAutoFit/>
          </a:bodyPr>
          <a:lstStyle/>
          <a:p>
            <a:pPr algn="l">
              <a:lnSpc>
                <a:spcPct val="108000"/>
              </a:lnSpc>
              <a:spcBef>
                <a:spcPts val="0"/>
              </a:spcBef>
              <a:spcAft>
                <a:spcPts val="1400"/>
              </a:spcAft>
            </a:pPr>
            <a:r>
              <a:rPr sz="4000" b="1" i="0">
                <a:solidFill>
                  <a:srgbClr val="FFFFFF"/>
                </a:solidFill>
                <a:latin typeface="Calibri"/>
              </a:rPr>
              <a:t>Resultados</a:t>
            </a:r>
          </a:p>
        </p:txBody>
      </p:sp>
      <p:sp>
        <p:nvSpPr>
          <p:cNvPr id="6" name="Rectangle 5"/>
          <p:cNvSpPr/>
          <p:nvPr/>
        </p:nvSpPr>
        <p:spPr>
          <a:xfrm>
            <a:off x="3840480" y="3703320"/>
            <a:ext cx="146304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3977639"/>
            <a:ext cx="7498079" cy="822960"/>
          </a:xfrm>
          <a:prstGeom prst="rect">
            <a:avLst/>
          </a:prstGeom>
          <a:noFill/>
        </p:spPr>
        <p:txBody>
          <a:bodyPr wrap="square" lIns="0" tIns="0" rIns="0" bIns="0" anchor="t">
            <a:spAutoFit/>
          </a:bodyPr>
          <a:lstStyle/>
          <a:p>
            <a:pPr algn="l">
              <a:lnSpc>
                <a:spcPct val="116000"/>
              </a:lnSpc>
              <a:spcBef>
                <a:spcPts val="0"/>
              </a:spcBef>
              <a:spcAft>
                <a:spcPts val="0"/>
              </a:spcAft>
            </a:pPr>
            <a:r>
              <a:rPr sz="1700" b="0" i="0">
                <a:solidFill>
                  <a:srgbClr val="9FB6D1"/>
                </a:solidFill>
                <a:latin typeface="Calibri"/>
              </a:rPr>
              <a:t>Validación de las tres placas y comparativa medida de las tres arquitecturas de transporte.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1.778_0.45_sistema_montado.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84048" y="6016752"/>
            <a:ext cx="314918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6016752"/>
            <a:ext cx="2783428"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ZCU102 + CDHS sobre FMC HPC0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Validación de las placas CDHS y AOCS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sp>
        <p:nvSpPr>
          <p:cNvPr id="6" name="Rectangle 5"/>
          <p:cNvSpPr/>
          <p:nvPr/>
        </p:nvSpPr>
        <p:spPr>
          <a:xfrm>
            <a:off x="658368" y="1700784"/>
            <a:ext cx="10874959" cy="10241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40640" cy="1024128"/>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828800"/>
            <a:ext cx="10564063" cy="804672"/>
          </a:xfrm>
          <a:prstGeom prst="rect">
            <a:avLst/>
          </a:prstGeom>
          <a:noFill/>
        </p:spPr>
        <p:txBody>
          <a:bodyPr wrap="square" lIns="0" tIns="0" rIns="0" bIns="0" anchor="ctr">
            <a:spAutoFit/>
          </a:bodyPr>
          <a:lstStyle/>
          <a:p>
            <a:pPr algn="l">
              <a:lnSpc>
                <a:spcPct val="95000"/>
              </a:lnSpc>
              <a:spcBef>
                <a:spcPts val="0"/>
              </a:spcBef>
              <a:spcAft>
                <a:spcPts val="200"/>
              </a:spcAft>
            </a:pPr>
            <a:r>
              <a:rPr sz="2800" b="1" i="0">
                <a:solidFill>
                  <a:srgbClr val="1E63A8"/>
                </a:solidFill>
                <a:latin typeface="Calibri"/>
              </a:rPr>
              <a:t>26 / 26 PASS</a:t>
            </a:r>
          </a:p>
          <a:p>
            <a:pPr>
              <a:lnSpc>
                <a:spcPct val="100000"/>
              </a:lnSpc>
              <a:spcBef>
                <a:spcPts val="0"/>
              </a:spcBef>
              <a:spcAft>
                <a:spcPts val="0"/>
              </a:spcAft>
            </a:pPr>
            <a:r>
              <a:rPr sz="1300" b="0" i="0">
                <a:solidFill>
                  <a:srgbClr val="62707E"/>
                </a:solidFill>
                <a:latin typeface="Calibri"/>
              </a:rPr>
              <a:t>batería del driver CANps · inicialización · loopback interno · transferencia física CAN0↔CAN1 · filtrado de ID estándar y extendido · tramas RTR · interrupción hardware</a:t>
            </a:r>
          </a:p>
        </p:txBody>
      </p:sp>
      <p:sp>
        <p:nvSpPr>
          <p:cNvPr id="9" name="Rectangle 8"/>
          <p:cNvSpPr/>
          <p:nvPr/>
        </p:nvSpPr>
        <p:spPr>
          <a:xfrm>
            <a:off x="658368" y="3026664"/>
            <a:ext cx="10874959"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026664"/>
            <a:ext cx="2189702"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Interfaz</a:t>
            </a:r>
          </a:p>
        </p:txBody>
      </p:sp>
      <p:sp>
        <p:nvSpPr>
          <p:cNvPr id="11" name="TextBox 10"/>
          <p:cNvSpPr txBox="1"/>
          <p:nvPr/>
        </p:nvSpPr>
        <p:spPr>
          <a:xfrm>
            <a:off x="3204686" y="3026664"/>
            <a:ext cx="3160680"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Ensayo</a:t>
            </a:r>
          </a:p>
        </p:txBody>
      </p:sp>
      <p:sp>
        <p:nvSpPr>
          <p:cNvPr id="12" name="TextBox 11"/>
          <p:cNvSpPr txBox="1"/>
          <p:nvPr/>
        </p:nvSpPr>
        <p:spPr>
          <a:xfrm>
            <a:off x="6603110" y="3026664"/>
            <a:ext cx="2869387"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Detalle</a:t>
            </a:r>
          </a:p>
        </p:txBody>
      </p:sp>
      <p:sp>
        <p:nvSpPr>
          <p:cNvPr id="13" name="TextBox 12"/>
          <p:cNvSpPr txBox="1"/>
          <p:nvPr/>
        </p:nvSpPr>
        <p:spPr>
          <a:xfrm>
            <a:off x="9710241" y="3026664"/>
            <a:ext cx="1704212"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Resultado</a:t>
            </a:r>
          </a:p>
        </p:txBody>
      </p:sp>
      <p:sp>
        <p:nvSpPr>
          <p:cNvPr id="14" name="Rectangle 13"/>
          <p:cNvSpPr/>
          <p:nvPr/>
        </p:nvSpPr>
        <p:spPr>
          <a:xfrm>
            <a:off x="658368" y="3392424"/>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92424"/>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RS422 / RS485</a:t>
            </a:r>
          </a:p>
        </p:txBody>
      </p:sp>
      <p:sp>
        <p:nvSpPr>
          <p:cNvPr id="16" name="TextBox 15"/>
          <p:cNvSpPr txBox="1"/>
          <p:nvPr/>
        </p:nvSpPr>
        <p:spPr>
          <a:xfrm>
            <a:off x="3204686" y="3392424"/>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consola interactiva y arneses de loopback</a:t>
            </a:r>
          </a:p>
        </p:txBody>
      </p:sp>
      <p:sp>
        <p:nvSpPr>
          <p:cNvPr id="17" name="TextBox 16"/>
          <p:cNvSpPr txBox="1"/>
          <p:nvPr/>
        </p:nvSpPr>
        <p:spPr>
          <a:xfrm>
            <a:off x="6603110" y="3392424"/>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CDHS 3 canales · AOCS 5</a:t>
            </a:r>
          </a:p>
        </p:txBody>
      </p:sp>
      <p:sp>
        <p:nvSpPr>
          <p:cNvPr id="18" name="TextBox 17"/>
          <p:cNvSpPr txBox="1"/>
          <p:nvPr/>
        </p:nvSpPr>
        <p:spPr>
          <a:xfrm>
            <a:off x="9710241" y="3392424"/>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correcto</a:t>
            </a:r>
          </a:p>
        </p:txBody>
      </p:sp>
      <p:sp>
        <p:nvSpPr>
          <p:cNvPr id="19" name="Rectangle 18"/>
          <p:cNvSpPr/>
          <p:nvPr/>
        </p:nvSpPr>
        <p:spPr>
          <a:xfrm>
            <a:off x="658368" y="3776472"/>
            <a:ext cx="10874959" cy="384048"/>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8368" y="3776472"/>
            <a:ext cx="40640" cy="384048"/>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776472"/>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E63A8"/>
                </a:solidFill>
                <a:latin typeface="Calibri"/>
              </a:rPr>
              <a:t>Bus CAN</a:t>
            </a:r>
          </a:p>
        </p:txBody>
      </p:sp>
      <p:sp>
        <p:nvSpPr>
          <p:cNvPr id="22" name="TextBox 21"/>
          <p:cNvSpPr txBox="1"/>
          <p:nvPr/>
        </p:nvSpPr>
        <p:spPr>
          <a:xfrm>
            <a:off x="3204686" y="3776472"/>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batería CANps, 26 pruebas</a:t>
            </a:r>
          </a:p>
        </p:txBody>
      </p:sp>
      <p:sp>
        <p:nvSpPr>
          <p:cNvPr id="23" name="TextBox 22"/>
          <p:cNvSpPr txBox="1"/>
          <p:nvPr/>
        </p:nvSpPr>
        <p:spPr>
          <a:xfrm>
            <a:off x="6603110" y="3776472"/>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CAN0 ↔ CAN1 físico</a:t>
            </a:r>
          </a:p>
        </p:txBody>
      </p:sp>
      <p:sp>
        <p:nvSpPr>
          <p:cNvPr id="24" name="TextBox 23"/>
          <p:cNvSpPr txBox="1"/>
          <p:nvPr/>
        </p:nvSpPr>
        <p:spPr>
          <a:xfrm>
            <a:off x="9710241" y="3776472"/>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26/26 PASS</a:t>
            </a:r>
          </a:p>
        </p:txBody>
      </p:sp>
      <p:sp>
        <p:nvSpPr>
          <p:cNvPr id="25" name="Rectangle 24"/>
          <p:cNvSpPr/>
          <p:nvPr/>
        </p:nvSpPr>
        <p:spPr>
          <a:xfrm>
            <a:off x="658368" y="4160520"/>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160520"/>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ADC de termistores</a:t>
            </a:r>
          </a:p>
        </p:txBody>
      </p:sp>
      <p:sp>
        <p:nvSpPr>
          <p:cNvPr id="27" name="TextBox 26"/>
          <p:cNvSpPr txBox="1"/>
          <p:nvPr/>
        </p:nvSpPr>
        <p:spPr>
          <a:xfrm>
            <a:off x="3204686" y="4160520"/>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barrido de tensión en CH2</a:t>
            </a:r>
          </a:p>
        </p:txBody>
      </p:sp>
      <p:sp>
        <p:nvSpPr>
          <p:cNvPr id="28" name="TextBox 27"/>
          <p:cNvSpPr txBox="1"/>
          <p:nvPr/>
        </p:nvSpPr>
        <p:spPr>
          <a:xfrm>
            <a:off x="6603110" y="4160520"/>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ADS7950 · 12 bits por SPI</a:t>
            </a:r>
          </a:p>
        </p:txBody>
      </p:sp>
      <p:sp>
        <p:nvSpPr>
          <p:cNvPr id="29" name="TextBox 28"/>
          <p:cNvSpPr txBox="1"/>
          <p:nvPr/>
        </p:nvSpPr>
        <p:spPr>
          <a:xfrm>
            <a:off x="9710241" y="4160520"/>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lineal 0–4095</a:t>
            </a:r>
          </a:p>
        </p:txBody>
      </p:sp>
      <p:sp>
        <p:nvSpPr>
          <p:cNvPr id="30" name="Rectangle 29"/>
          <p:cNvSpPr/>
          <p:nvPr/>
        </p:nvSpPr>
        <p:spPr>
          <a:xfrm>
            <a:off x="658368" y="4544568"/>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544568"/>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PWM de calentadores</a:t>
            </a:r>
          </a:p>
        </p:txBody>
      </p:sp>
      <p:sp>
        <p:nvSpPr>
          <p:cNvPr id="32" name="TextBox 31"/>
          <p:cNvSpPr txBox="1"/>
          <p:nvPr/>
        </p:nvSpPr>
        <p:spPr>
          <a:xfrm>
            <a:off x="3204686" y="4544568"/>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medida en el conector J5</a:t>
            </a:r>
          </a:p>
        </p:txBody>
      </p:sp>
      <p:sp>
        <p:nvSpPr>
          <p:cNvPr id="33" name="TextBox 32"/>
          <p:cNvSpPr txBox="1"/>
          <p:nvPr/>
        </p:nvSpPr>
        <p:spPr>
          <a:xfrm>
            <a:off x="6603110" y="4544568"/>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10 / 5 / 1 kHz y 100 Hz</a:t>
            </a:r>
          </a:p>
        </p:txBody>
      </p:sp>
      <p:sp>
        <p:nvSpPr>
          <p:cNvPr id="34" name="TextBox 33"/>
          <p:cNvSpPr txBox="1"/>
          <p:nvPr/>
        </p:nvSpPr>
        <p:spPr>
          <a:xfrm>
            <a:off x="9710241" y="4544568"/>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correcto</a:t>
            </a:r>
          </a:p>
        </p:txBody>
      </p:sp>
      <p:sp>
        <p:nvSpPr>
          <p:cNvPr id="35" name="Rectangle 34"/>
          <p:cNvSpPr/>
          <p:nvPr/>
        </p:nvSpPr>
        <p:spPr>
          <a:xfrm>
            <a:off x="658368" y="4928616"/>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4928616"/>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PWM de motores</a:t>
            </a:r>
          </a:p>
        </p:txBody>
      </p:sp>
      <p:sp>
        <p:nvSpPr>
          <p:cNvPr id="37" name="TextBox 36"/>
          <p:cNvSpPr txBox="1"/>
          <p:nvPr/>
        </p:nvSpPr>
        <p:spPr>
          <a:xfrm>
            <a:off x="3204686" y="4928616"/>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giro alternado en los 3 ejes</a:t>
            </a:r>
          </a:p>
        </p:txBody>
      </p:sp>
      <p:sp>
        <p:nvSpPr>
          <p:cNvPr id="38" name="TextBox 37"/>
          <p:cNvSpPr txBox="1"/>
          <p:nvPr/>
        </p:nvSpPr>
        <p:spPr>
          <a:xfrm>
            <a:off x="6603110" y="4928616"/>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puentes en H · AOCS</a:t>
            </a:r>
          </a:p>
        </p:txBody>
      </p:sp>
      <p:sp>
        <p:nvSpPr>
          <p:cNvPr id="39" name="TextBox 38"/>
          <p:cNvSpPr txBox="1"/>
          <p:nvPr/>
        </p:nvSpPr>
        <p:spPr>
          <a:xfrm>
            <a:off x="9710241" y="4928616"/>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correcto</a:t>
            </a:r>
          </a:p>
        </p:txBody>
      </p:sp>
      <p:sp>
        <p:nvSpPr>
          <p:cNvPr id="40" name="Rectangle 39"/>
          <p:cNvSpPr/>
          <p:nvPr/>
        </p:nvSpPr>
        <p:spPr>
          <a:xfrm>
            <a:off x="658368" y="5312664"/>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312664"/>
            <a:ext cx="2189702"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SpaceWire</a:t>
            </a:r>
          </a:p>
        </p:txBody>
      </p:sp>
      <p:sp>
        <p:nvSpPr>
          <p:cNvPr id="42" name="TextBox 41"/>
          <p:cNvSpPr txBox="1"/>
          <p:nvPr/>
        </p:nvSpPr>
        <p:spPr>
          <a:xfrm>
            <a:off x="3204686" y="5312664"/>
            <a:ext cx="31606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a:t>
            </a:r>
          </a:p>
        </p:txBody>
      </p:sp>
      <p:sp>
        <p:nvSpPr>
          <p:cNvPr id="43" name="TextBox 42"/>
          <p:cNvSpPr txBox="1"/>
          <p:nvPr/>
        </p:nvSpPr>
        <p:spPr>
          <a:xfrm>
            <a:off x="6603110" y="5312664"/>
            <a:ext cx="2869387"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capa física LVDS expuesta</a:t>
            </a:r>
          </a:p>
        </p:txBody>
      </p:sp>
      <p:sp>
        <p:nvSpPr>
          <p:cNvPr id="44" name="TextBox 43"/>
          <p:cNvSpPr txBox="1"/>
          <p:nvPr/>
        </p:nvSpPr>
        <p:spPr>
          <a:xfrm>
            <a:off x="9710241" y="5312664"/>
            <a:ext cx="17042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sin validar</a:t>
            </a:r>
          </a:p>
        </p:txBody>
      </p:sp>
      <p:sp>
        <p:nvSpPr>
          <p:cNvPr id="45" name="Rectangle 44"/>
          <p:cNvSpPr/>
          <p:nvPr/>
        </p:nvSpPr>
        <p:spPr>
          <a:xfrm>
            <a:off x="658368" y="5769864"/>
            <a:ext cx="10874959" cy="841248"/>
          </a:xfrm>
          <a:prstGeom prst="rect">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58368" y="5769864"/>
            <a:ext cx="40640" cy="841248"/>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2688" y="5769864"/>
            <a:ext cx="10326319" cy="841248"/>
          </a:xfrm>
          <a:prstGeom prst="rect">
            <a:avLst/>
          </a:prstGeom>
          <a:noFill/>
        </p:spPr>
        <p:txBody>
          <a:bodyPr wrap="square" lIns="0" tIns="0" rIns="0" bIns="0" anchor="ctr">
            <a:spAutoFit/>
          </a:bodyPr>
          <a:lstStyle/>
          <a:p>
            <a:pPr algn="l">
              <a:lnSpc>
                <a:spcPct val="114000"/>
              </a:lnSpc>
              <a:spcBef>
                <a:spcPts val="0"/>
              </a:spcBef>
              <a:spcAft>
                <a:spcPts val="0"/>
              </a:spcAft>
            </a:pPr>
            <a:r>
              <a:rPr sz="1450" b="1" i="0">
                <a:solidFill>
                  <a:srgbClr val="12345C"/>
                </a:solidFill>
                <a:latin typeface="Calibri"/>
              </a:rPr>
              <a:t>SpaceWire sin validar · </a:t>
            </a:r>
            <a:r>
              <a:rPr sz="1450" b="0" i="0">
                <a:solidFill>
                  <a:srgbClr val="1F2933"/>
                </a:solidFill>
                <a:latin typeface="Calibri"/>
              </a:rPr>
              <a:t>la placa expone la capa física LVDS, pero ejercitarlo exige implementar Data-Strobe, la FSM de enlace y los niveles de paquete y red: excede el alcance.</a:t>
            </a:r>
          </a:p>
        </p:txBody>
      </p:sp>
      <p:sp>
        <p:nvSpPr>
          <p:cNvPr id="48" name="TextBox 47"/>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batería CAN del driver CANps (TFG de Diego Ramos)</a:t>
            </a:r>
          </a:p>
        </p:txBody>
      </p:sp>
      <p:sp>
        <p:nvSpPr>
          <p:cNvPr id="49" name="TextBox 48"/>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3.555_0.50_can_sin_term.jpg"/>
          <p:cNvPicPr>
            <a:picLocks noChangeAspect="1"/>
          </p:cNvPicPr>
          <p:nvPr/>
        </p:nvPicPr>
        <p:blipFill>
          <a:blip r:embed="rId3"/>
          <a:stretch>
            <a:fillRect/>
          </a:stretch>
        </p:blipFill>
        <p:spPr>
          <a:xfrm>
            <a:off x="0" y="0"/>
            <a:ext cx="12191695" cy="3429000"/>
          </a:xfrm>
          <a:prstGeom prst="rect">
            <a:avLst/>
          </a:prstGeom>
        </p:spPr>
      </p:pic>
      <p:sp>
        <p:nvSpPr>
          <p:cNvPr id="3" name="Rectangle 2"/>
          <p:cNvSpPr/>
          <p:nvPr/>
        </p:nvSpPr>
        <p:spPr>
          <a:xfrm>
            <a:off x="384048" y="2715768"/>
            <a:ext cx="186537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715768"/>
            <a:ext cx="1499613"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sin terminación</a:t>
            </a:r>
          </a:p>
        </p:txBody>
      </p:sp>
      <p:pic>
        <p:nvPicPr>
          <p:cNvPr id="5" name="Picture 4" descr="cov_3.555_0.50_can_con_term.jpg"/>
          <p:cNvPicPr>
            <a:picLocks noChangeAspect="1"/>
          </p:cNvPicPr>
          <p:nvPr/>
        </p:nvPicPr>
        <p:blipFill>
          <a:blip r:embed="rId4"/>
          <a:stretch>
            <a:fillRect/>
          </a:stretch>
        </p:blipFill>
        <p:spPr>
          <a:xfrm>
            <a:off x="0" y="3429000"/>
            <a:ext cx="12191695" cy="3429000"/>
          </a:xfrm>
          <a:prstGeom prst="rect">
            <a:avLst/>
          </a:prstGeom>
        </p:spPr>
      </p:pic>
      <p:sp>
        <p:nvSpPr>
          <p:cNvPr id="6" name="Rectangle 5"/>
          <p:cNvSpPr/>
          <p:nvPr/>
        </p:nvSpPr>
        <p:spPr>
          <a:xfrm>
            <a:off x="384048" y="6144768"/>
            <a:ext cx="186537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144768"/>
            <a:ext cx="1499613"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con 60 Ω + 60 Ω</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3.555_0.50_cdhs_pwm_1khz.jpg"/>
          <p:cNvPicPr>
            <a:picLocks noChangeAspect="1"/>
          </p:cNvPicPr>
          <p:nvPr/>
        </p:nvPicPr>
        <p:blipFill>
          <a:blip r:embed="rId3"/>
          <a:stretch>
            <a:fillRect/>
          </a:stretch>
        </p:blipFill>
        <p:spPr>
          <a:xfrm>
            <a:off x="0" y="0"/>
            <a:ext cx="12191695" cy="3429000"/>
          </a:xfrm>
          <a:prstGeom prst="rect">
            <a:avLst/>
          </a:prstGeom>
        </p:spPr>
      </p:pic>
      <p:sp>
        <p:nvSpPr>
          <p:cNvPr id="3" name="Rectangle 2"/>
          <p:cNvSpPr/>
          <p:nvPr/>
        </p:nvSpPr>
        <p:spPr>
          <a:xfrm>
            <a:off x="384048" y="2715768"/>
            <a:ext cx="374171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715768"/>
            <a:ext cx="3375958"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CDHS · calentadores, 1 kHz al 50 %</a:t>
            </a:r>
          </a:p>
        </p:txBody>
      </p:sp>
      <p:pic>
        <p:nvPicPr>
          <p:cNvPr id="5" name="Picture 4" descr="cov_3.555_0.50_aocs_pwm_motor.jpg"/>
          <p:cNvPicPr>
            <a:picLocks noChangeAspect="1"/>
          </p:cNvPicPr>
          <p:nvPr/>
        </p:nvPicPr>
        <p:blipFill>
          <a:blip r:embed="rId4"/>
          <a:stretch>
            <a:fillRect/>
          </a:stretch>
        </p:blipFill>
        <p:spPr>
          <a:xfrm>
            <a:off x="0" y="3429000"/>
            <a:ext cx="12191695" cy="3429000"/>
          </a:xfrm>
          <a:prstGeom prst="rect">
            <a:avLst/>
          </a:prstGeom>
        </p:spPr>
      </p:pic>
      <p:sp>
        <p:nvSpPr>
          <p:cNvPr id="6" name="Rectangle 5"/>
          <p:cNvSpPr/>
          <p:nvPr/>
        </p:nvSpPr>
        <p:spPr>
          <a:xfrm>
            <a:off x="384048" y="6144768"/>
            <a:ext cx="314918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144768"/>
            <a:ext cx="2783428"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AOCS · motor, giro alternado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FD2D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F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prep_2600_serial_pcb_zcu102.jpg"/>
          <p:cNvPicPr>
            <a:picLocks noChangeAspect="1"/>
          </p:cNvPicPr>
          <p:nvPr/>
        </p:nvPicPr>
        <p:blipFill>
          <a:blip r:embed="rId3"/>
          <a:stretch>
            <a:fillRect/>
          </a:stretch>
        </p:blipFill>
        <p:spPr>
          <a:xfrm>
            <a:off x="3524097" y="0"/>
            <a:ext cx="5143500" cy="6858000"/>
          </a:xfrm>
          <a:prstGeom prst="rect">
            <a:avLst/>
          </a:prstGeom>
        </p:spPr>
      </p:pic>
      <p:sp>
        <p:nvSpPr>
          <p:cNvPr id="4" name="Rectangle 3"/>
          <p:cNvSpPr/>
          <p:nvPr/>
        </p:nvSpPr>
        <p:spPr>
          <a:xfrm>
            <a:off x="384048" y="6016752"/>
            <a:ext cx="522304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016752"/>
            <a:ext cx="4857283"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14 transceptores en 3 buses · A: RS485 de 7 nodos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Caracterización eléctrica de la placa serie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sp>
        <p:nvSpPr>
          <p:cNvPr id="6" name="TextBox 5"/>
          <p:cNvSpPr txBox="1"/>
          <p:nvPr/>
        </p:nvSpPr>
        <p:spPr>
          <a:xfrm>
            <a:off x="658368" y="1627632"/>
            <a:ext cx="6949440" cy="292608"/>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9 TESTS SOBRE COBRE REAL · 14 TRANSCEPTORES</a:t>
            </a:r>
          </a:p>
        </p:txBody>
      </p:sp>
      <p:sp>
        <p:nvSpPr>
          <p:cNvPr id="7" name="Rectangle 6"/>
          <p:cNvSpPr/>
          <p:nvPr/>
        </p:nvSpPr>
        <p:spPr>
          <a:xfrm>
            <a:off x="658368" y="1975104"/>
            <a:ext cx="6949440"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75104"/>
            <a:ext cx="2487526"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Test</a:t>
            </a:r>
          </a:p>
        </p:txBody>
      </p:sp>
      <p:sp>
        <p:nvSpPr>
          <p:cNvPr id="9" name="TextBox 8"/>
          <p:cNvSpPr txBox="1"/>
          <p:nvPr/>
        </p:nvSpPr>
        <p:spPr>
          <a:xfrm>
            <a:off x="3502510" y="1975104"/>
            <a:ext cx="3986425"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Resultado</a:t>
            </a:r>
          </a:p>
        </p:txBody>
      </p:sp>
      <p:sp>
        <p:nvSpPr>
          <p:cNvPr id="10" name="Rectangle 9"/>
          <p:cNvSpPr/>
          <p:nvPr/>
        </p:nvSpPr>
        <p:spPr>
          <a:xfrm>
            <a:off x="658368" y="2340864"/>
            <a:ext cx="6949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340864"/>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T1  Reposo</a:t>
            </a:r>
          </a:p>
        </p:txBody>
      </p:sp>
      <p:sp>
        <p:nvSpPr>
          <p:cNvPr id="12" name="TextBox 11"/>
          <p:cNvSpPr txBox="1"/>
          <p:nvPr/>
        </p:nvSpPr>
        <p:spPr>
          <a:xfrm>
            <a:off x="3502510" y="2340864"/>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0 bytes espurios en 14 canales</a:t>
            </a:r>
          </a:p>
        </p:txBody>
      </p:sp>
      <p:sp>
        <p:nvSpPr>
          <p:cNvPr id="13" name="Rectangle 12"/>
          <p:cNvSpPr/>
          <p:nvPr/>
        </p:nvSpPr>
        <p:spPr>
          <a:xfrm>
            <a:off x="658368" y="2724912"/>
            <a:ext cx="6949440"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724912"/>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T2  Topología</a:t>
            </a:r>
          </a:p>
        </p:txBody>
      </p:sp>
      <p:sp>
        <p:nvSpPr>
          <p:cNvPr id="15" name="TextBox 14"/>
          <p:cNvSpPr txBox="1"/>
          <p:nvPr/>
        </p:nvSpPr>
        <p:spPr>
          <a:xfrm>
            <a:off x="3502510" y="2724912"/>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buses puenteados, 0 cruces</a:t>
            </a:r>
          </a:p>
        </p:txBody>
      </p:sp>
      <p:sp>
        <p:nvSpPr>
          <p:cNvPr id="16" name="Rectangle 15"/>
          <p:cNvSpPr/>
          <p:nvPr/>
        </p:nvSpPr>
        <p:spPr>
          <a:xfrm>
            <a:off x="658368" y="3108960"/>
            <a:ext cx="6949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108960"/>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T3  Multipunto</a:t>
            </a:r>
          </a:p>
        </p:txBody>
      </p:sp>
      <p:sp>
        <p:nvSpPr>
          <p:cNvPr id="18" name="TextBox 17"/>
          <p:cNvSpPr txBox="1"/>
          <p:nvPr/>
        </p:nvSpPr>
        <p:spPr>
          <a:xfrm>
            <a:off x="3502510" y="3108960"/>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6/6 esclavos íntegros hasta 460 kbaudios</a:t>
            </a:r>
          </a:p>
        </p:txBody>
      </p:sp>
      <p:sp>
        <p:nvSpPr>
          <p:cNvPr id="19" name="Rectangle 18"/>
          <p:cNvSpPr/>
          <p:nvPr/>
        </p:nvSpPr>
        <p:spPr>
          <a:xfrm>
            <a:off x="658368" y="3493008"/>
            <a:ext cx="6949440"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493008"/>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T5  Limitador SLO</a:t>
            </a:r>
          </a:p>
        </p:txBody>
      </p:sp>
      <p:sp>
        <p:nvSpPr>
          <p:cNvPr id="21" name="TextBox 20"/>
          <p:cNvSpPr txBox="1"/>
          <p:nvPr/>
        </p:nvSpPr>
        <p:spPr>
          <a:xfrm>
            <a:off x="3502510" y="3493008"/>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los 3 buses limpios a 4 Mbaudios</a:t>
            </a:r>
          </a:p>
        </p:txBody>
      </p:sp>
      <p:sp>
        <p:nvSpPr>
          <p:cNvPr id="22" name="Rectangle 21"/>
          <p:cNvSpPr/>
          <p:nvPr/>
        </p:nvSpPr>
        <p:spPr>
          <a:xfrm>
            <a:off x="658368" y="3877056"/>
            <a:ext cx="6949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877056"/>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T6  Vuelta del bus</a:t>
            </a:r>
          </a:p>
        </p:txBody>
      </p:sp>
      <p:sp>
        <p:nvSpPr>
          <p:cNvPr id="24" name="TextBox 23"/>
          <p:cNvSpPr txBox="1"/>
          <p:nvPr/>
        </p:nvSpPr>
        <p:spPr>
          <a:xfrm>
            <a:off x="3502510" y="3877056"/>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guard time mínimo de 0 µs</a:t>
            </a:r>
          </a:p>
        </p:txBody>
      </p:sp>
      <p:sp>
        <p:nvSpPr>
          <p:cNvPr id="25" name="Rectangle 24"/>
          <p:cNvSpPr/>
          <p:nvPr/>
        </p:nvSpPr>
        <p:spPr>
          <a:xfrm>
            <a:off x="658368" y="4261104"/>
            <a:ext cx="6949440"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261104"/>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T7  Diafonía</a:t>
            </a:r>
          </a:p>
        </p:txBody>
      </p:sp>
      <p:sp>
        <p:nvSpPr>
          <p:cNvPr id="27" name="TextBox 26"/>
          <p:cNvSpPr txBox="1"/>
          <p:nvPr/>
        </p:nvSpPr>
        <p:spPr>
          <a:xfrm>
            <a:off x="3502510" y="4261104"/>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0 bytes de fuga entre buses</a:t>
            </a:r>
          </a:p>
        </p:txBody>
      </p:sp>
      <p:sp>
        <p:nvSpPr>
          <p:cNvPr id="28" name="Rectangle 27"/>
          <p:cNvSpPr/>
          <p:nvPr/>
        </p:nvSpPr>
        <p:spPr>
          <a:xfrm>
            <a:off x="658368" y="4645152"/>
            <a:ext cx="6949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645152"/>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T8  Colisión</a:t>
            </a:r>
          </a:p>
        </p:txBody>
      </p:sp>
      <p:sp>
        <p:nvSpPr>
          <p:cNvPr id="30" name="TextBox 29"/>
          <p:cNvSpPr txBox="1"/>
          <p:nvPr/>
        </p:nvSpPr>
        <p:spPr>
          <a:xfrm>
            <a:off x="3502510" y="4645152"/>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trama corrupta y el bus se recupera</a:t>
            </a:r>
          </a:p>
        </p:txBody>
      </p:sp>
      <p:sp>
        <p:nvSpPr>
          <p:cNvPr id="31" name="Rectangle 30"/>
          <p:cNvSpPr/>
          <p:nvPr/>
        </p:nvSpPr>
        <p:spPr>
          <a:xfrm>
            <a:off x="658368" y="5029200"/>
            <a:ext cx="6949440"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5029200"/>
            <a:ext cx="2487526"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T9  Estabilidad 10 s</a:t>
            </a:r>
          </a:p>
        </p:txBody>
      </p:sp>
      <p:sp>
        <p:nvSpPr>
          <p:cNvPr id="33" name="TextBox 32"/>
          <p:cNvSpPr txBox="1"/>
          <p:nvPr/>
        </p:nvSpPr>
        <p:spPr>
          <a:xfrm>
            <a:off x="3502510" y="5029200"/>
            <a:ext cx="3986425"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0" i="0">
                <a:solidFill>
                  <a:srgbClr val="1F2933"/>
                </a:solidFill>
                <a:latin typeface="Calibri"/>
              </a:rPr>
              <a:t>RS422: BER 0 · RS485 multipunto: 147 ppm</a:t>
            </a:r>
          </a:p>
        </p:txBody>
      </p:sp>
      <p:sp>
        <p:nvSpPr>
          <p:cNvPr id="34" name="Rectangle 33"/>
          <p:cNvSpPr/>
          <p:nvPr/>
        </p:nvSpPr>
        <p:spPr>
          <a:xfrm>
            <a:off x="8019288" y="1975104"/>
            <a:ext cx="3514039" cy="1371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19288" y="1975104"/>
            <a:ext cx="40640" cy="13716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0456" y="2103120"/>
            <a:ext cx="3203143" cy="1152144"/>
          </a:xfrm>
          <a:prstGeom prst="rect">
            <a:avLst/>
          </a:prstGeom>
          <a:noFill/>
        </p:spPr>
        <p:txBody>
          <a:bodyPr wrap="square" lIns="0" tIns="0" rIns="0" bIns="0" anchor="ctr">
            <a:spAutoFit/>
          </a:bodyPr>
          <a:lstStyle/>
          <a:p>
            <a:pPr algn="l">
              <a:lnSpc>
                <a:spcPct val="95000"/>
              </a:lnSpc>
              <a:spcBef>
                <a:spcPts val="0"/>
              </a:spcBef>
              <a:spcAft>
                <a:spcPts val="200"/>
              </a:spcAft>
            </a:pPr>
            <a:r>
              <a:rPr sz="3400" b="1" i="0">
                <a:solidFill>
                  <a:srgbClr val="1E63A8"/>
                </a:solidFill>
                <a:latin typeface="Calibri"/>
              </a:rPr>
              <a:t>0 fallos</a:t>
            </a:r>
          </a:p>
          <a:p>
            <a:pPr>
              <a:lnSpc>
                <a:spcPct val="100000"/>
              </a:lnSpc>
              <a:spcBef>
                <a:spcPts val="0"/>
              </a:spcBef>
              <a:spcAft>
                <a:spcPts val="0"/>
              </a:spcAft>
            </a:pPr>
            <a:r>
              <a:rPr sz="1300" b="0" i="0">
                <a:solidFill>
                  <a:srgbClr val="62707E"/>
                </a:solidFill>
                <a:latin typeface="Calibri"/>
              </a:rPr>
              <a:t>de transmisión en la campaña completa, sobre las tres topologías de bus</a:t>
            </a:r>
          </a:p>
        </p:txBody>
      </p:sp>
      <p:sp>
        <p:nvSpPr>
          <p:cNvPr id="37" name="TextBox 36"/>
          <p:cNvSpPr txBox="1"/>
          <p:nvPr/>
        </p:nvSpPr>
        <p:spPr>
          <a:xfrm>
            <a:off x="8019288" y="3621024"/>
            <a:ext cx="3514039" cy="1828800"/>
          </a:xfrm>
          <a:prstGeom prst="rect">
            <a:avLst/>
          </a:prstGeom>
          <a:noFill/>
        </p:spPr>
        <p:txBody>
          <a:bodyPr wrap="square" lIns="0" tIns="0" rIns="0" bIns="0" anchor="t">
            <a:spAutoFit/>
          </a:bodyPr>
          <a:lstStyle/>
          <a:p>
            <a:pPr algn="l">
              <a:lnSpc>
                <a:spcPct val="110000"/>
              </a:lnSpc>
              <a:spcBef>
                <a:spcPts val="0"/>
              </a:spcBef>
              <a:spcAft>
                <a:spcPts val="1200"/>
              </a:spcAft>
            </a:pPr>
            <a:r>
              <a:rPr sz="1400" b="1" i="0">
                <a:solidFill>
                  <a:srgbClr val="E09B2D"/>
                </a:solidFill>
                <a:latin typeface="Calibri"/>
              </a:rPr>
              <a:t>▪  </a:t>
            </a:r>
            <a:r>
              <a:rPr sz="1400" b="1" i="0">
                <a:solidFill>
                  <a:srgbClr val="12345C"/>
                </a:solidFill>
                <a:latin typeface="Calibri"/>
              </a:rPr>
              <a:t>Bus A · </a:t>
            </a:r>
            <a:r>
              <a:rPr sz="1400" b="0" i="0">
                <a:solidFill>
                  <a:srgbClr val="1F2933"/>
                </a:solidFill>
                <a:latin typeface="Calibri"/>
              </a:rPr>
              <a:t>RS485 multipunto de 7 nodos.</a:t>
            </a:r>
          </a:p>
          <a:p>
            <a:pPr>
              <a:lnSpc>
                <a:spcPct val="110000"/>
              </a:lnSpc>
              <a:spcBef>
                <a:spcPts val="0"/>
              </a:spcBef>
              <a:spcAft>
                <a:spcPts val="1200"/>
              </a:spcAft>
            </a:pPr>
            <a:r>
              <a:rPr sz="1400" b="1" i="0">
                <a:solidFill>
                  <a:srgbClr val="E09B2D"/>
                </a:solidFill>
                <a:latin typeface="Calibri"/>
              </a:rPr>
              <a:t>▪  </a:t>
            </a:r>
            <a:r>
              <a:rPr sz="1400" b="1" i="0">
                <a:solidFill>
                  <a:srgbClr val="12345C"/>
                </a:solidFill>
                <a:latin typeface="Calibri"/>
              </a:rPr>
              <a:t>Buses B y C · </a:t>
            </a:r>
            <a:r>
              <a:rPr sz="1400" b="0" i="0">
                <a:solidFill>
                  <a:srgbClr val="1F2933"/>
                </a:solidFill>
                <a:latin typeface="Calibri"/>
              </a:rPr>
              <a:t>RS422 en estrella, 4 y 3 nodos.</a:t>
            </a:r>
          </a:p>
        </p:txBody>
      </p:sp>
      <p:sp>
        <p:nvSpPr>
          <p:cNvPr id="38" name="TextBox 37"/>
          <p:cNvSpPr txBox="1"/>
          <p:nvPr/>
        </p:nvSpPr>
        <p:spPr>
          <a:xfrm>
            <a:off x="8019288" y="4946904"/>
            <a:ext cx="3514039" cy="1097280"/>
          </a:xfrm>
          <a:prstGeom prst="rect">
            <a:avLst/>
          </a:prstGeom>
          <a:noFill/>
        </p:spPr>
        <p:txBody>
          <a:bodyPr wrap="square" lIns="0" tIns="0" rIns="0" bIns="0" anchor="t">
            <a:spAutoFit/>
          </a:bodyPr>
          <a:lstStyle/>
          <a:p>
            <a:pPr algn="l">
              <a:lnSpc>
                <a:spcPct val="116000"/>
              </a:lnSpc>
              <a:spcBef>
                <a:spcPts val="0"/>
              </a:spcBef>
              <a:spcAft>
                <a:spcPts val="0"/>
              </a:spcAft>
            </a:pPr>
            <a:r>
              <a:rPr sz="1300" b="0" i="1">
                <a:solidFill>
                  <a:srgbClr val="62707E"/>
                </a:solidFill>
                <a:latin typeface="Calibri"/>
              </a:rPr>
              <a:t>El cronómetro va siempre en el receptor, nunca al retornar del envío: MCDMA bloquea en transmisión y las otras dos no.</a:t>
            </a:r>
          </a:p>
        </p:txBody>
      </p:sp>
      <p:sp>
        <p:nvSpPr>
          <p:cNvPr id="39" name="TextBox 38"/>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bus A: RS485 multipunto de 7 nodos  ·  buses B y C: RS422 en estrella</a:t>
            </a:r>
          </a:p>
        </p:txBody>
      </p:sp>
      <p:sp>
        <p:nvSpPr>
          <p:cNvPr id="40" name="TextBox 39"/>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Efecto del limitador de slew rate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pic>
        <p:nvPicPr>
          <p:cNvPr id="6" name="Picture 5" descr="chart_slo.png"/>
          <p:cNvPicPr>
            <a:picLocks noChangeAspect="1"/>
          </p:cNvPicPr>
          <p:nvPr/>
        </p:nvPicPr>
        <p:blipFill>
          <a:blip r:embed="rId3"/>
          <a:stretch>
            <a:fillRect/>
          </a:stretch>
        </p:blipFill>
        <p:spPr>
          <a:xfrm>
            <a:off x="970139" y="1655064"/>
            <a:ext cx="10251416" cy="3383280"/>
          </a:xfrm>
          <a:prstGeom prst="rect">
            <a:avLst/>
          </a:prstGeom>
        </p:spPr>
      </p:pic>
      <p:sp>
        <p:nvSpPr>
          <p:cNvPr id="7" name="Rectangle 6"/>
          <p:cNvSpPr/>
          <p:nvPr/>
        </p:nvSpPr>
        <p:spPr>
          <a:xfrm>
            <a:off x="658368" y="5440680"/>
            <a:ext cx="10874959" cy="868680"/>
          </a:xfrm>
          <a:prstGeom prst="rect">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5440680"/>
            <a:ext cx="40640" cy="86868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5440680"/>
            <a:ext cx="10289743" cy="868680"/>
          </a:xfrm>
          <a:prstGeom prst="rect">
            <a:avLst/>
          </a:prstGeom>
          <a:noFill/>
        </p:spPr>
        <p:txBody>
          <a:bodyPr wrap="square" lIns="0" tIns="0" rIns="0" bIns="0" anchor="ctr">
            <a:spAutoFit/>
          </a:bodyPr>
          <a:lstStyle/>
          <a:p>
            <a:pPr algn="l">
              <a:lnSpc>
                <a:spcPct val="114000"/>
              </a:lnSpc>
              <a:spcBef>
                <a:spcPts val="0"/>
              </a:spcBef>
              <a:spcAft>
                <a:spcPts val="0"/>
              </a:spcAft>
            </a:pPr>
            <a:r>
              <a:rPr sz="1500" b="1" i="0">
                <a:solidFill>
                  <a:srgbClr val="12345C"/>
                </a:solidFill>
                <a:latin typeface="Calibri"/>
              </a:rPr>
              <a:t>Un bit de configuración cuadruplica el techo de la placa · </a:t>
            </a:r>
            <a:r>
              <a:rPr sz="1500" b="0" i="0">
                <a:solidFill>
                  <a:srgbClr val="1F2933"/>
                </a:solidFill>
                <a:latin typeface="Calibri"/>
              </a:rPr>
              <a:t>el limitador viene activo de fábrica; desactivado desde el MPSoC con el bit SLO, los tres buses van limpios a 4 Mbaudios con BER nulo, sin tocar cobre ni lógica.</a:t>
            </a:r>
          </a:p>
        </p:txBody>
      </p:sp>
      <p:sp>
        <p:nvSpPr>
          <p:cNvPr id="10" name="TextBox 9"/>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LTC2865: SLO a nivel bajo limita a 250 kbps; a nivel alto admite hasta 20 Mbps</a:t>
            </a:r>
          </a:p>
        </p:txBody>
      </p:sp>
      <p:sp>
        <p:nvSpPr>
          <p:cNvPr id="11" name="TextBox 10"/>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_1.778_0.50_rs485_flanco_rapido.jpg"/>
          <p:cNvPicPr>
            <a:picLocks noChangeAspect="1"/>
          </p:cNvPicPr>
          <p:nvPr/>
        </p:nvPicPr>
        <p:blipFill>
          <a:blip r:embed="rId3"/>
          <a:stretch>
            <a:fillRect/>
          </a:stretch>
        </p:blipFill>
        <p:spPr>
          <a:xfrm>
            <a:off x="0" y="0"/>
            <a:ext cx="6095847" cy="3429000"/>
          </a:xfrm>
          <a:prstGeom prst="rect">
            <a:avLst/>
          </a:prstGeom>
        </p:spPr>
      </p:pic>
      <p:sp>
        <p:nvSpPr>
          <p:cNvPr id="3" name="Rectangle 2"/>
          <p:cNvSpPr/>
          <p:nvPr/>
        </p:nvSpPr>
        <p:spPr>
          <a:xfrm>
            <a:off x="274320" y="2752344"/>
            <a:ext cx="255665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52344"/>
            <a:ext cx="2190898" cy="420624"/>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FFFFFF"/>
                </a:solidFill>
                <a:latin typeface="Calibri"/>
              </a:rPr>
              <a:t>subida · sin limitador</a:t>
            </a:r>
          </a:p>
        </p:txBody>
      </p:sp>
      <p:pic>
        <p:nvPicPr>
          <p:cNvPr id="5" name="Picture 4" descr="cov_1.778_0.50_rs485_flanco_lento.jpg"/>
          <p:cNvPicPr>
            <a:picLocks noChangeAspect="1"/>
          </p:cNvPicPr>
          <p:nvPr/>
        </p:nvPicPr>
        <p:blipFill>
          <a:blip r:embed="rId4"/>
          <a:stretch>
            <a:fillRect/>
          </a:stretch>
        </p:blipFill>
        <p:spPr>
          <a:xfrm>
            <a:off x="6095847" y="0"/>
            <a:ext cx="6095847" cy="3429000"/>
          </a:xfrm>
          <a:prstGeom prst="rect">
            <a:avLst/>
          </a:prstGeom>
        </p:spPr>
      </p:pic>
      <p:sp>
        <p:nvSpPr>
          <p:cNvPr id="6" name="Rectangle 5"/>
          <p:cNvSpPr/>
          <p:nvPr/>
        </p:nvSpPr>
        <p:spPr>
          <a:xfrm>
            <a:off x="6370167" y="2752344"/>
            <a:ext cx="255665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3047" y="2752344"/>
            <a:ext cx="2190898" cy="420624"/>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FFFFFF"/>
                </a:solidFill>
                <a:latin typeface="Calibri"/>
              </a:rPr>
              <a:t>subida · con limitador</a:t>
            </a:r>
          </a:p>
        </p:txBody>
      </p:sp>
      <p:pic>
        <p:nvPicPr>
          <p:cNvPr id="8" name="Picture 7" descr="cov_1.778_0.50_rs485_bajada_rapida.jpg"/>
          <p:cNvPicPr>
            <a:picLocks noChangeAspect="1"/>
          </p:cNvPicPr>
          <p:nvPr/>
        </p:nvPicPr>
        <p:blipFill>
          <a:blip r:embed="rId5"/>
          <a:stretch>
            <a:fillRect/>
          </a:stretch>
        </p:blipFill>
        <p:spPr>
          <a:xfrm>
            <a:off x="0" y="3429000"/>
            <a:ext cx="6095847" cy="3429000"/>
          </a:xfrm>
          <a:prstGeom prst="rect">
            <a:avLst/>
          </a:prstGeom>
        </p:spPr>
      </p:pic>
      <p:sp>
        <p:nvSpPr>
          <p:cNvPr id="9" name="Rectangle 8"/>
          <p:cNvSpPr/>
          <p:nvPr/>
        </p:nvSpPr>
        <p:spPr>
          <a:xfrm>
            <a:off x="274320" y="6181344"/>
            <a:ext cx="255665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181344"/>
            <a:ext cx="2190898" cy="420624"/>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FFFFFF"/>
                </a:solidFill>
                <a:latin typeface="Calibri"/>
              </a:rPr>
              <a:t>bajada · sin limitador</a:t>
            </a:r>
          </a:p>
        </p:txBody>
      </p:sp>
      <p:pic>
        <p:nvPicPr>
          <p:cNvPr id="11" name="Picture 10" descr="cov_1.778_0.50_rs485_bajada_lenta.jpg"/>
          <p:cNvPicPr>
            <a:picLocks noChangeAspect="1"/>
          </p:cNvPicPr>
          <p:nvPr/>
        </p:nvPicPr>
        <p:blipFill>
          <a:blip r:embed="rId6"/>
          <a:stretch>
            <a:fillRect/>
          </a:stretch>
        </p:blipFill>
        <p:spPr>
          <a:xfrm>
            <a:off x="6095847" y="3429000"/>
            <a:ext cx="6095847" cy="3429000"/>
          </a:xfrm>
          <a:prstGeom prst="rect">
            <a:avLst/>
          </a:prstGeom>
        </p:spPr>
      </p:pic>
      <p:sp>
        <p:nvSpPr>
          <p:cNvPr id="12" name="Rectangle 11"/>
          <p:cNvSpPr/>
          <p:nvPr/>
        </p:nvSpPr>
        <p:spPr>
          <a:xfrm>
            <a:off x="6370167" y="6181344"/>
            <a:ext cx="255665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3047" y="6181344"/>
            <a:ext cx="2190898" cy="420624"/>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FFFFFF"/>
                </a:solidFill>
                <a:latin typeface="Calibri"/>
              </a:rPr>
              <a:t>bajada · con limitador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Comparativa de transportes · caudal</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sp>
        <p:nvSpPr>
          <p:cNvPr id="6" name="TextBox 5"/>
          <p:cNvSpPr txBox="1"/>
          <p:nvPr/>
        </p:nvSpPr>
        <p:spPr>
          <a:xfrm>
            <a:off x="658368" y="1591056"/>
            <a:ext cx="10874959" cy="310896"/>
          </a:xfrm>
          <a:prstGeom prst="rect">
            <a:avLst/>
          </a:prstGeom>
          <a:noFill/>
        </p:spPr>
        <p:txBody>
          <a:bodyPr wrap="square" lIns="0" tIns="0" rIns="0" bIns="0" anchor="t">
            <a:spAutoFit/>
          </a:bodyPr>
          <a:lstStyle/>
          <a:p>
            <a:pPr algn="l">
              <a:lnSpc>
                <a:spcPct val="108000"/>
              </a:lnSpc>
              <a:spcBef>
                <a:spcPts val="0"/>
              </a:spcBef>
              <a:spcAft>
                <a:spcPts val="0"/>
              </a:spcAft>
            </a:pPr>
            <a:r>
              <a:rPr sz="1350" b="1" i="0">
                <a:solidFill>
                  <a:srgbClr val="12345C"/>
                </a:solidFill>
                <a:latin typeface="Calibri"/>
              </a:rPr>
              <a:t>Buses cerrados dentro de la FPGA </a:t>
            </a:r>
            <a:r>
              <a:rPr sz="1350" b="0" i="0">
                <a:solidFill>
                  <a:srgbClr val="62707E"/>
                </a:solidFill>
                <a:latin typeface="Calibri"/>
              </a:rPr>
              <a:t>— el módulo de loopback reproduce la topología de la PCB: mide el transporte PS–PL, no la capa física.</a:t>
            </a:r>
          </a:p>
        </p:txBody>
      </p:sp>
      <p:pic>
        <p:nvPicPr>
          <p:cNvPr id="7" name="Picture 6" descr="chart_throughput.png"/>
          <p:cNvPicPr>
            <a:picLocks noChangeAspect="1"/>
          </p:cNvPicPr>
          <p:nvPr/>
        </p:nvPicPr>
        <p:blipFill>
          <a:blip r:embed="rId3"/>
          <a:stretch>
            <a:fillRect/>
          </a:stretch>
        </p:blipFill>
        <p:spPr>
          <a:xfrm>
            <a:off x="658368" y="2045568"/>
            <a:ext cx="10874959" cy="3928151"/>
          </a:xfrm>
          <a:prstGeom prst="rect">
            <a:avLst/>
          </a:prstGeom>
        </p:spPr>
      </p:pic>
      <p:sp>
        <p:nvSpPr>
          <p:cNvPr id="8" name="TextBox 7"/>
          <p:cNvSpPr txBox="1"/>
          <p:nvPr/>
        </p:nvSpPr>
        <p:spPr>
          <a:xfrm>
            <a:off x="658368" y="6016752"/>
            <a:ext cx="10874959" cy="365760"/>
          </a:xfrm>
          <a:prstGeom prst="rect">
            <a:avLst/>
          </a:prstGeom>
          <a:noFill/>
        </p:spPr>
        <p:txBody>
          <a:bodyPr wrap="square" lIns="0" tIns="0" rIns="0" bIns="0" anchor="t">
            <a:spAutoFit/>
          </a:bodyPr>
          <a:lstStyle/>
          <a:p>
            <a:pPr algn="l">
              <a:lnSpc>
                <a:spcPct val="108000"/>
              </a:lnSpc>
              <a:spcBef>
                <a:spcPts val="0"/>
              </a:spcBef>
              <a:spcAft>
                <a:spcPts val="0"/>
              </a:spcAft>
            </a:pPr>
            <a:r>
              <a:rPr sz="1400" b="1" i="0">
                <a:solidFill>
                  <a:srgbClr val="C2685C"/>
                </a:solidFill>
                <a:latin typeface="Calibri"/>
              </a:rPr>
              <a:t>GPIO: ×35 en velocidad de línea → solo +41 % de caudal. </a:t>
            </a:r>
            <a:r>
              <a:rPr sz="1500" b="1" i="0">
                <a:solidFill>
                  <a:srgbClr val="1E63A8"/>
                </a:solidFill>
                <a:latin typeface="Calibri"/>
              </a:rPr>
              <a:t>MCDMA escala linealmente hasta 344.781 B/s a 4 Mbaudios, el 99 % del techo físico.</a:t>
            </a:r>
          </a:p>
        </p:txBody>
      </p:sp>
      <p:sp>
        <p:nvSpPr>
          <p:cNvPr id="9" name="TextBox 8"/>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misma ZCU102, mismo transceptor de 14 canales, mismo programa de pruebas</a:t>
            </a:r>
          </a:p>
        </p:txBody>
      </p:sp>
      <p:sp>
        <p:nvSpPr>
          <p:cNvPr id="10" name="TextBox 9"/>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Comparativa de transportes · interrupciones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pic>
        <p:nvPicPr>
          <p:cNvPr id="6" name="Picture 5" descr="chart_irq.png"/>
          <p:cNvPicPr>
            <a:picLocks noChangeAspect="1"/>
          </p:cNvPicPr>
          <p:nvPr/>
        </p:nvPicPr>
        <p:blipFill>
          <a:blip r:embed="rId3"/>
          <a:stretch>
            <a:fillRect/>
          </a:stretch>
        </p:blipFill>
        <p:spPr>
          <a:xfrm>
            <a:off x="1716024" y="1792224"/>
            <a:ext cx="8759647" cy="3246120"/>
          </a:xfrm>
          <a:prstGeom prst="rect">
            <a:avLst/>
          </a:prstGeom>
        </p:spPr>
      </p:pic>
      <p:sp>
        <p:nvSpPr>
          <p:cNvPr id="7" name="Rectangle 6"/>
          <p:cNvSpPr/>
          <p:nvPr/>
        </p:nvSpPr>
        <p:spPr>
          <a:xfrm>
            <a:off x="658368" y="5349240"/>
            <a:ext cx="5254599"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5349240"/>
            <a:ext cx="40640" cy="96012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349240"/>
            <a:ext cx="4705959" cy="960120"/>
          </a:xfrm>
          <a:prstGeom prst="rect">
            <a:avLst/>
          </a:prstGeom>
          <a:noFill/>
        </p:spPr>
        <p:txBody>
          <a:bodyPr wrap="square" lIns="0" tIns="0" rIns="0" bIns="0" anchor="ctr">
            <a:spAutoFit/>
          </a:bodyPr>
          <a:lstStyle/>
          <a:p>
            <a:pPr algn="l">
              <a:lnSpc>
                <a:spcPct val="114000"/>
              </a:lnSpc>
              <a:spcBef>
                <a:spcPts val="0"/>
              </a:spcBef>
              <a:spcAft>
                <a:spcPts val="0"/>
              </a:spcAft>
            </a:pPr>
            <a:r>
              <a:rPr sz="1450" b="1" i="0">
                <a:solidFill>
                  <a:srgbClr val="12345C"/>
                </a:solidFill>
                <a:latin typeface="Calibri"/>
              </a:rPr>
              <a:t>En GPIO, IRQ de TX = bytes transmitidos </a:t>
            </a:r>
            <a:r>
              <a:rPr sz="1450" b="0" i="0">
                <a:solidFill>
                  <a:srgbClr val="1F2933"/>
                </a:solidFill>
                <a:latin typeface="Calibri"/>
              </a:rPr>
              <a:t>(22.161 = 22.161): la CPU toca cada byte.</a:t>
            </a:r>
          </a:p>
        </p:txBody>
      </p:sp>
      <p:sp>
        <p:nvSpPr>
          <p:cNvPr id="10" name="Rectangle 9"/>
          <p:cNvSpPr/>
          <p:nvPr/>
        </p:nvSpPr>
        <p:spPr>
          <a:xfrm>
            <a:off x="6278727" y="5349240"/>
            <a:ext cx="5254599"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78727" y="5349240"/>
            <a:ext cx="40640" cy="9601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3047" y="5349240"/>
            <a:ext cx="4705959" cy="960120"/>
          </a:xfrm>
          <a:prstGeom prst="rect">
            <a:avLst/>
          </a:prstGeom>
          <a:noFill/>
        </p:spPr>
        <p:txBody>
          <a:bodyPr wrap="square" lIns="0" tIns="0" rIns="0" bIns="0" anchor="ctr">
            <a:spAutoFit/>
          </a:bodyPr>
          <a:lstStyle/>
          <a:p>
            <a:pPr algn="l">
              <a:lnSpc>
                <a:spcPct val="114000"/>
              </a:lnSpc>
              <a:spcBef>
                <a:spcPts val="0"/>
              </a:spcBef>
              <a:spcAft>
                <a:spcPts val="0"/>
              </a:spcAft>
            </a:pPr>
            <a:r>
              <a:rPr sz="1450" b="1" i="0">
                <a:solidFill>
                  <a:srgbClr val="12345C"/>
                </a:solidFill>
                <a:latin typeface="Calibri"/>
              </a:rPr>
              <a:t>Esa única cifra explica el resto · </a:t>
            </a:r>
            <a:r>
              <a:rPr sz="1450" b="0" i="0">
                <a:solidFill>
                  <a:srgbClr val="1F2933"/>
                </a:solidFill>
                <a:latin typeface="Calibri"/>
              </a:rPr>
              <a:t>latencia, 99 % del techo y escalabilidad.</a:t>
            </a:r>
          </a:p>
        </p:txBody>
      </p:sp>
      <p:sp>
        <p:nvSpPr>
          <p:cNvPr id="13" name="TextBox 12"/>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DMA14: cifra de transmisión únicamente, sin lazo de recepción operativo</a:t>
            </a:r>
          </a:p>
        </p:txBody>
      </p:sp>
      <p:sp>
        <p:nvSpPr>
          <p:cNvPr id="14" name="TextBox 13"/>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Comparativa de transportes · ocupación y margen para TMR</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pic>
        <p:nvPicPr>
          <p:cNvPr id="6" name="Picture 5" descr="chart_lut.png"/>
          <p:cNvPicPr>
            <a:picLocks noChangeAspect="1"/>
          </p:cNvPicPr>
          <p:nvPr/>
        </p:nvPicPr>
        <p:blipFill>
          <a:blip r:embed="rId3"/>
          <a:stretch>
            <a:fillRect/>
          </a:stretch>
        </p:blipFill>
        <p:spPr>
          <a:xfrm>
            <a:off x="1538938" y="1792224"/>
            <a:ext cx="9113818" cy="3246120"/>
          </a:xfrm>
          <a:prstGeom prst="rect">
            <a:avLst/>
          </a:prstGeom>
        </p:spPr>
      </p:pic>
      <p:sp>
        <p:nvSpPr>
          <p:cNvPr id="7" name="Rectangle 6"/>
          <p:cNvSpPr/>
          <p:nvPr/>
        </p:nvSpPr>
        <p:spPr>
          <a:xfrm>
            <a:off x="658368" y="5349240"/>
            <a:ext cx="5254599" cy="9601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5349240"/>
            <a:ext cx="40640" cy="960120"/>
          </a:xfrm>
          <a:prstGeom prst="rect">
            <a:avLst/>
          </a:prstGeom>
          <a:solidFill>
            <a:srgbClr val="C26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349240"/>
            <a:ext cx="4705959" cy="960120"/>
          </a:xfrm>
          <a:prstGeom prst="rect">
            <a:avLst/>
          </a:prstGeom>
          <a:noFill/>
        </p:spPr>
        <p:txBody>
          <a:bodyPr wrap="square" lIns="0" tIns="0" rIns="0" bIns="0" anchor="ctr">
            <a:spAutoFit/>
          </a:bodyPr>
          <a:lstStyle/>
          <a:p>
            <a:pPr algn="l">
              <a:lnSpc>
                <a:spcPct val="114000"/>
              </a:lnSpc>
              <a:spcBef>
                <a:spcPts val="0"/>
              </a:spcBef>
              <a:spcAft>
                <a:spcPts val="0"/>
              </a:spcAft>
            </a:pPr>
            <a:r>
              <a:rPr sz="1450" b="1" i="0">
                <a:solidFill>
                  <a:srgbClr val="12345C"/>
                </a:solidFill>
                <a:latin typeface="Calibri"/>
              </a:rPr>
              <a:t>28 líneas de interrupción en DMA14 </a:t>
            </a:r>
            <a:r>
              <a:rPr sz="1450" b="0" i="0">
                <a:solidFill>
                  <a:srgbClr val="1F2933"/>
                </a:solidFill>
                <a:latin typeface="Calibri"/>
              </a:rPr>
              <a:t>y el silicio ofrece 8: límite del dispositivo, no del diseño.</a:t>
            </a:r>
          </a:p>
        </p:txBody>
      </p:sp>
      <p:sp>
        <p:nvSpPr>
          <p:cNvPr id="10" name="Rectangle 9"/>
          <p:cNvSpPr/>
          <p:nvPr/>
        </p:nvSpPr>
        <p:spPr>
          <a:xfrm>
            <a:off x="6278727" y="5349240"/>
            <a:ext cx="5254599" cy="96012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78727" y="5349240"/>
            <a:ext cx="40640" cy="96012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3047" y="5349240"/>
            <a:ext cx="4705959" cy="960120"/>
          </a:xfrm>
          <a:prstGeom prst="rect">
            <a:avLst/>
          </a:prstGeom>
          <a:noFill/>
        </p:spPr>
        <p:txBody>
          <a:bodyPr wrap="square" lIns="0" tIns="0" rIns="0" bIns="0" anchor="ctr">
            <a:spAutoFit/>
          </a:bodyPr>
          <a:lstStyle/>
          <a:p>
            <a:pPr algn="l">
              <a:lnSpc>
                <a:spcPct val="114000"/>
              </a:lnSpc>
              <a:spcBef>
                <a:spcPts val="0"/>
              </a:spcBef>
              <a:spcAft>
                <a:spcPts val="0"/>
              </a:spcAft>
            </a:pPr>
            <a:r>
              <a:rPr sz="1450" b="1" i="0">
                <a:solidFill>
                  <a:srgbClr val="12345C"/>
                </a:solidFill>
                <a:latin typeface="Calibri"/>
              </a:rPr>
              <a:t>Con TMR futuro · </a:t>
            </a:r>
            <a:r>
              <a:rPr sz="1450" b="0" i="0">
                <a:solidFill>
                  <a:srgbClr val="1F2933"/>
                </a:solidFill>
                <a:latin typeface="Calibri"/>
              </a:rPr>
              <a:t>MCDMA cabe en el 16 % del dispositivo; DMA14 pide el 44 %.</a:t>
            </a:r>
          </a:p>
        </p:txBody>
      </p:sp>
      <p:sp>
        <p:nvSpPr>
          <p:cNvPr id="13" name="TextBox 12"/>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XCZU9EG · 274.080 LUT</a:t>
            </a:r>
          </a:p>
        </p:txBody>
      </p:sp>
      <p:sp>
        <p:nvSpPr>
          <p:cNvPr id="14" name="TextBox 13"/>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04 · RESULTADOS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Comparativa de transportes · la decisión</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04</a:t>
            </a:r>
          </a:p>
        </p:txBody>
      </p:sp>
      <p:sp>
        <p:nvSpPr>
          <p:cNvPr id="6" name="Rectangle 5"/>
          <p:cNvSpPr/>
          <p:nvPr/>
        </p:nvSpPr>
        <p:spPr>
          <a:xfrm>
            <a:off x="658368" y="1700784"/>
            <a:ext cx="10874959" cy="402336"/>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00784"/>
            <a:ext cx="2991410" cy="402336"/>
          </a:xfrm>
          <a:prstGeom prst="rect">
            <a:avLst/>
          </a:prstGeom>
          <a:noFill/>
        </p:spPr>
        <p:txBody>
          <a:bodyPr wrap="square" lIns="0" tIns="0" rIns="0" bIns="0" anchor="ctr">
            <a:spAutoFit/>
          </a:bodyPr>
          <a:lstStyle/>
          <a:p>
            <a:pPr algn="l">
              <a:lnSpc>
                <a:spcPct val="108000"/>
              </a:lnSpc>
              <a:spcBef>
                <a:spcPts val="0"/>
              </a:spcBef>
              <a:spcAft>
                <a:spcPts val="0"/>
              </a:spcAft>
            </a:pPr>
            <a:endParaRPr/>
          </a:p>
        </p:txBody>
      </p:sp>
      <p:sp>
        <p:nvSpPr>
          <p:cNvPr id="8" name="TextBox 7"/>
          <p:cNvSpPr txBox="1"/>
          <p:nvPr/>
        </p:nvSpPr>
        <p:spPr>
          <a:xfrm>
            <a:off x="4006394" y="1700784"/>
            <a:ext cx="2095580" cy="402336"/>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A · GPIO</a:t>
            </a:r>
          </a:p>
        </p:txBody>
      </p:sp>
      <p:sp>
        <p:nvSpPr>
          <p:cNvPr id="9" name="TextBox 8"/>
          <p:cNvSpPr txBox="1"/>
          <p:nvPr/>
        </p:nvSpPr>
        <p:spPr>
          <a:xfrm>
            <a:off x="6339718" y="1700784"/>
            <a:ext cx="2470579" cy="402336"/>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B · DMA14</a:t>
            </a:r>
          </a:p>
        </p:txBody>
      </p:sp>
      <p:sp>
        <p:nvSpPr>
          <p:cNvPr id="10" name="TextBox 9"/>
          <p:cNvSpPr txBox="1"/>
          <p:nvPr/>
        </p:nvSpPr>
        <p:spPr>
          <a:xfrm>
            <a:off x="9048041" y="1700784"/>
            <a:ext cx="2366412" cy="402336"/>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C · MCDMA</a:t>
            </a:r>
          </a:p>
        </p:txBody>
      </p:sp>
      <p:sp>
        <p:nvSpPr>
          <p:cNvPr id="11" name="Rectangle 10"/>
          <p:cNvSpPr/>
          <p:nvPr/>
        </p:nvSpPr>
        <p:spPr>
          <a:xfrm>
            <a:off x="658368" y="2103120"/>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Lógica (LUT)</a:t>
            </a:r>
          </a:p>
        </p:txBody>
      </p:sp>
      <p:sp>
        <p:nvSpPr>
          <p:cNvPr id="13" name="TextBox 12"/>
          <p:cNvSpPr txBox="1"/>
          <p:nvPr/>
        </p:nvSpPr>
        <p:spPr>
          <a:xfrm>
            <a:off x="4006394" y="2103120"/>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6.434 · 2,35 %</a:t>
            </a:r>
          </a:p>
        </p:txBody>
      </p:sp>
      <p:sp>
        <p:nvSpPr>
          <p:cNvPr id="14" name="TextBox 13"/>
          <p:cNvSpPr txBox="1"/>
          <p:nvPr/>
        </p:nvSpPr>
        <p:spPr>
          <a:xfrm>
            <a:off x="6339718" y="2103120"/>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40.217 · 14,67 %</a:t>
            </a:r>
          </a:p>
        </p:txBody>
      </p:sp>
      <p:sp>
        <p:nvSpPr>
          <p:cNvPr id="15" name="TextBox 14"/>
          <p:cNvSpPr txBox="1"/>
          <p:nvPr/>
        </p:nvSpPr>
        <p:spPr>
          <a:xfrm>
            <a:off x="9048041" y="2103120"/>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14.191 · 5,18 %</a:t>
            </a:r>
          </a:p>
        </p:txBody>
      </p:sp>
      <p:sp>
        <p:nvSpPr>
          <p:cNvPr id="16" name="Rectangle 15"/>
          <p:cNvSpPr/>
          <p:nvPr/>
        </p:nvSpPr>
        <p:spPr>
          <a:xfrm>
            <a:off x="658368" y="2487168"/>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487168"/>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LUT por canal</a:t>
            </a:r>
          </a:p>
        </p:txBody>
      </p:sp>
      <p:sp>
        <p:nvSpPr>
          <p:cNvPr id="18" name="TextBox 17"/>
          <p:cNvSpPr txBox="1"/>
          <p:nvPr/>
        </p:nvSpPr>
        <p:spPr>
          <a:xfrm>
            <a:off x="4006394" y="2487168"/>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460</a:t>
            </a:r>
          </a:p>
        </p:txBody>
      </p:sp>
      <p:sp>
        <p:nvSpPr>
          <p:cNvPr id="19" name="TextBox 18"/>
          <p:cNvSpPr txBox="1"/>
          <p:nvPr/>
        </p:nvSpPr>
        <p:spPr>
          <a:xfrm>
            <a:off x="6339718" y="2487168"/>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2.873</a:t>
            </a:r>
          </a:p>
        </p:txBody>
      </p:sp>
      <p:sp>
        <p:nvSpPr>
          <p:cNvPr id="20" name="TextBox 19"/>
          <p:cNvSpPr txBox="1"/>
          <p:nvPr/>
        </p:nvSpPr>
        <p:spPr>
          <a:xfrm>
            <a:off x="9048041" y="2487168"/>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1.014</a:t>
            </a:r>
          </a:p>
        </p:txBody>
      </p:sp>
      <p:sp>
        <p:nvSpPr>
          <p:cNvPr id="21" name="Rectangle 20"/>
          <p:cNvSpPr/>
          <p:nvPr/>
        </p:nvSpPr>
        <p:spPr>
          <a:xfrm>
            <a:off x="658368" y="2871216"/>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2871216"/>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IRQ por KB</a:t>
            </a:r>
          </a:p>
        </p:txBody>
      </p:sp>
      <p:sp>
        <p:nvSpPr>
          <p:cNvPr id="23" name="TextBox 22"/>
          <p:cNvSpPr txBox="1"/>
          <p:nvPr/>
        </p:nvSpPr>
        <p:spPr>
          <a:xfrm>
            <a:off x="4006394" y="2871216"/>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1.250</a:t>
            </a:r>
          </a:p>
        </p:txBody>
      </p:sp>
      <p:sp>
        <p:nvSpPr>
          <p:cNvPr id="24" name="TextBox 23"/>
          <p:cNvSpPr txBox="1"/>
          <p:nvPr/>
        </p:nvSpPr>
        <p:spPr>
          <a:xfrm>
            <a:off x="6339718" y="2871216"/>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3,8 (solo TX)</a:t>
            </a:r>
          </a:p>
        </p:txBody>
      </p:sp>
      <p:sp>
        <p:nvSpPr>
          <p:cNvPr id="25" name="TextBox 24"/>
          <p:cNvSpPr txBox="1"/>
          <p:nvPr/>
        </p:nvSpPr>
        <p:spPr>
          <a:xfrm>
            <a:off x="9048041" y="2871216"/>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3</a:t>
            </a:r>
          </a:p>
        </p:txBody>
      </p:sp>
      <p:sp>
        <p:nvSpPr>
          <p:cNvPr id="26" name="Rectangle 25"/>
          <p:cNvSpPr/>
          <p:nvPr/>
        </p:nvSpPr>
        <p:spPr>
          <a:xfrm>
            <a:off x="658368" y="3255264"/>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3255264"/>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Líneas IRQ necesarias</a:t>
            </a:r>
          </a:p>
        </p:txBody>
      </p:sp>
      <p:sp>
        <p:nvSpPr>
          <p:cNvPr id="28" name="TextBox 27"/>
          <p:cNvSpPr txBox="1"/>
          <p:nvPr/>
        </p:nvSpPr>
        <p:spPr>
          <a:xfrm>
            <a:off x="4006394" y="3255264"/>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a:t>
            </a:r>
          </a:p>
        </p:txBody>
      </p:sp>
      <p:sp>
        <p:nvSpPr>
          <p:cNvPr id="29" name="TextBox 28"/>
          <p:cNvSpPr txBox="1"/>
          <p:nvPr/>
        </p:nvSpPr>
        <p:spPr>
          <a:xfrm>
            <a:off x="6339718" y="3255264"/>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28  (el PS ofrece 8)</a:t>
            </a:r>
          </a:p>
        </p:txBody>
      </p:sp>
      <p:sp>
        <p:nvSpPr>
          <p:cNvPr id="30" name="TextBox 29"/>
          <p:cNvSpPr txBox="1"/>
          <p:nvPr/>
        </p:nvSpPr>
        <p:spPr>
          <a:xfrm>
            <a:off x="9048041" y="3255264"/>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3</a:t>
            </a:r>
          </a:p>
        </p:txBody>
      </p:sp>
      <p:sp>
        <p:nvSpPr>
          <p:cNvPr id="31" name="Rectangle 30"/>
          <p:cNvSpPr/>
          <p:nvPr/>
        </p:nvSpPr>
        <p:spPr>
          <a:xfrm>
            <a:off x="658368" y="3639312"/>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3639312"/>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Caudal en 1 canal</a:t>
            </a:r>
          </a:p>
        </p:txBody>
      </p:sp>
      <p:sp>
        <p:nvSpPr>
          <p:cNvPr id="33" name="TextBox 32"/>
          <p:cNvSpPr txBox="1"/>
          <p:nvPr/>
        </p:nvSpPr>
        <p:spPr>
          <a:xfrm>
            <a:off x="4006394" y="3639312"/>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3.471 B/s · 30 %</a:t>
            </a:r>
          </a:p>
        </p:txBody>
      </p:sp>
      <p:sp>
        <p:nvSpPr>
          <p:cNvPr id="34" name="TextBox 33"/>
          <p:cNvSpPr txBox="1"/>
          <p:nvPr/>
        </p:nvSpPr>
        <p:spPr>
          <a:xfrm>
            <a:off x="6339718" y="3639312"/>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a:t>
            </a:r>
          </a:p>
        </p:txBody>
      </p:sp>
      <p:sp>
        <p:nvSpPr>
          <p:cNvPr id="35" name="TextBox 34"/>
          <p:cNvSpPr txBox="1"/>
          <p:nvPr/>
        </p:nvSpPr>
        <p:spPr>
          <a:xfrm>
            <a:off x="9048041" y="3639312"/>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11.461 B/s · 99 %</a:t>
            </a:r>
          </a:p>
        </p:txBody>
      </p:sp>
      <p:sp>
        <p:nvSpPr>
          <p:cNvPr id="36" name="Rectangle 35"/>
          <p:cNvSpPr/>
          <p:nvPr/>
        </p:nvSpPr>
        <p:spPr>
          <a:xfrm>
            <a:off x="658368" y="4023360"/>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4023360"/>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Latencia de trama</a:t>
            </a:r>
          </a:p>
        </p:txBody>
      </p:sp>
      <p:sp>
        <p:nvSpPr>
          <p:cNvPr id="38" name="TextBox 37"/>
          <p:cNvSpPr txBox="1"/>
          <p:nvPr/>
        </p:nvSpPr>
        <p:spPr>
          <a:xfrm>
            <a:off x="4006394" y="4023360"/>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4.606 µs</a:t>
            </a:r>
          </a:p>
        </p:txBody>
      </p:sp>
      <p:sp>
        <p:nvSpPr>
          <p:cNvPr id="39" name="TextBox 38"/>
          <p:cNvSpPr txBox="1"/>
          <p:nvPr/>
        </p:nvSpPr>
        <p:spPr>
          <a:xfrm>
            <a:off x="6339718" y="4023360"/>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a:t>
            </a:r>
          </a:p>
        </p:txBody>
      </p:sp>
      <p:sp>
        <p:nvSpPr>
          <p:cNvPr id="40" name="TextBox 39"/>
          <p:cNvSpPr txBox="1"/>
          <p:nvPr/>
        </p:nvSpPr>
        <p:spPr>
          <a:xfrm>
            <a:off x="9048041" y="4023360"/>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1.530 µs</a:t>
            </a:r>
          </a:p>
        </p:txBody>
      </p:sp>
      <p:sp>
        <p:nvSpPr>
          <p:cNvPr id="41" name="Rectangle 40"/>
          <p:cNvSpPr/>
          <p:nvPr/>
        </p:nvSpPr>
        <p:spPr>
          <a:xfrm>
            <a:off x="658368" y="4407408"/>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7240" y="4407408"/>
            <a:ext cx="2991410" cy="384048"/>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Escala con el baudrate</a:t>
            </a:r>
          </a:p>
        </p:txBody>
      </p:sp>
      <p:sp>
        <p:nvSpPr>
          <p:cNvPr id="43" name="TextBox 42"/>
          <p:cNvSpPr txBox="1"/>
          <p:nvPr/>
        </p:nvSpPr>
        <p:spPr>
          <a:xfrm>
            <a:off x="4006394" y="4407408"/>
            <a:ext cx="2095580"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no</a:t>
            </a:r>
          </a:p>
        </p:txBody>
      </p:sp>
      <p:sp>
        <p:nvSpPr>
          <p:cNvPr id="44" name="TextBox 43"/>
          <p:cNvSpPr txBox="1"/>
          <p:nvPr/>
        </p:nvSpPr>
        <p:spPr>
          <a:xfrm>
            <a:off x="6339718" y="4407408"/>
            <a:ext cx="2470579"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a:t>
            </a:r>
          </a:p>
        </p:txBody>
      </p:sp>
      <p:sp>
        <p:nvSpPr>
          <p:cNvPr id="45" name="TextBox 44"/>
          <p:cNvSpPr txBox="1"/>
          <p:nvPr/>
        </p:nvSpPr>
        <p:spPr>
          <a:xfrm>
            <a:off x="9048041" y="4407408"/>
            <a:ext cx="2366412" cy="384048"/>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sí</a:t>
            </a:r>
          </a:p>
        </p:txBody>
      </p:sp>
      <p:sp>
        <p:nvSpPr>
          <p:cNvPr id="46" name="Rectangle 45"/>
          <p:cNvSpPr/>
          <p:nvPr/>
        </p:nvSpPr>
        <p:spPr>
          <a:xfrm>
            <a:off x="8929170" y="1700784"/>
            <a:ext cx="2604156" cy="3090672"/>
          </a:xfrm>
          <a:prstGeom prst="rect">
            <a:avLst/>
          </a:prstGeom>
          <a:noFill/>
          <a:ln w="27940">
            <a:solidFill>
              <a:srgbClr val="1E63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8368" y="4992624"/>
            <a:ext cx="10874959" cy="822960"/>
          </a:xfrm>
          <a:prstGeom prst="rect">
            <a:avLst/>
          </a:prstGeom>
          <a:noFill/>
        </p:spPr>
        <p:txBody>
          <a:bodyPr wrap="square" lIns="0" tIns="0" rIns="0" bIns="0" anchor="t">
            <a:spAutoFit/>
          </a:bodyPr>
          <a:lstStyle/>
          <a:p>
            <a:pPr algn="l">
              <a:lnSpc>
                <a:spcPct val="110000"/>
              </a:lnSpc>
              <a:spcBef>
                <a:spcPts val="0"/>
              </a:spcBef>
              <a:spcAft>
                <a:spcPts val="800"/>
              </a:spcAft>
            </a:pPr>
            <a:r>
              <a:rPr sz="1400" b="1" i="0">
                <a:solidFill>
                  <a:srgbClr val="E09B2D"/>
                </a:solidFill>
                <a:latin typeface="Calibri"/>
              </a:rPr>
              <a:t>▪  </a:t>
            </a:r>
            <a:r>
              <a:rPr sz="1400" b="1" i="0">
                <a:solidFill>
                  <a:srgbClr val="12345C"/>
                </a:solidFill>
                <a:latin typeface="Calibri"/>
              </a:rPr>
              <a:t>GPIO · </a:t>
            </a:r>
            <a:r>
              <a:rPr sz="1400" b="0" i="0">
                <a:solidFill>
                  <a:srgbClr val="1F2933"/>
                </a:solidFill>
                <a:latin typeface="Calibri"/>
              </a:rPr>
              <a:t>descartado por CPU: interrupt livelock.</a:t>
            </a:r>
          </a:p>
          <a:p>
            <a:pPr>
              <a:lnSpc>
                <a:spcPct val="110000"/>
              </a:lnSpc>
              <a:spcBef>
                <a:spcPts val="0"/>
              </a:spcBef>
              <a:spcAft>
                <a:spcPts val="800"/>
              </a:spcAft>
            </a:pPr>
            <a:r>
              <a:rPr sz="1400" b="1" i="0">
                <a:solidFill>
                  <a:srgbClr val="E09B2D"/>
                </a:solidFill>
                <a:latin typeface="Calibri"/>
              </a:rPr>
              <a:t>▪  </a:t>
            </a:r>
            <a:r>
              <a:rPr sz="1400" b="1" i="0">
                <a:solidFill>
                  <a:srgbClr val="12345C"/>
                </a:solidFill>
                <a:latin typeface="Calibri"/>
              </a:rPr>
              <a:t>DMA14 · </a:t>
            </a:r>
            <a:r>
              <a:rPr sz="1400" b="0" i="0">
                <a:solidFill>
                  <a:srgbClr val="1F2933"/>
                </a:solidFill>
                <a:latin typeface="Calibri"/>
              </a:rPr>
              <a:t>resuelve el problema correcto por un camino que no escala: 2,8× más lógica y 28 líneas de IRQ donde el silicio ofrece 8.</a:t>
            </a:r>
          </a:p>
        </p:txBody>
      </p:sp>
      <p:sp>
        <p:nvSpPr>
          <p:cNvPr id="48" name="Rectangle 47"/>
          <p:cNvSpPr/>
          <p:nvPr/>
        </p:nvSpPr>
        <p:spPr>
          <a:xfrm>
            <a:off x="658368" y="5577840"/>
            <a:ext cx="10874959" cy="749808"/>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50976" y="5577840"/>
            <a:ext cx="10289743" cy="749808"/>
          </a:xfrm>
          <a:prstGeom prst="rect">
            <a:avLst/>
          </a:prstGeom>
          <a:noFill/>
        </p:spPr>
        <p:txBody>
          <a:bodyPr wrap="square" lIns="0" tIns="0" rIns="0" bIns="0" anchor="ctr">
            <a:spAutoFit/>
          </a:bodyPr>
          <a:lstStyle/>
          <a:p>
            <a:pPr algn="l">
              <a:lnSpc>
                <a:spcPct val="112000"/>
              </a:lnSpc>
              <a:spcBef>
                <a:spcPts val="0"/>
              </a:spcBef>
              <a:spcAft>
                <a:spcPts val="0"/>
              </a:spcAft>
            </a:pPr>
            <a:r>
              <a:rPr sz="1500" b="1" i="0">
                <a:solidFill>
                  <a:srgbClr val="E09B2D"/>
                </a:solidFill>
                <a:latin typeface="Calibri"/>
              </a:rPr>
              <a:t>Se adopta MCDMA con puente VHDL · </a:t>
            </a:r>
            <a:r>
              <a:rPr sz="1500" b="0" i="0">
                <a:solidFill>
                  <a:srgbClr val="FFFFFF"/>
                </a:solidFill>
                <a:latin typeface="Calibri"/>
              </a:rPr>
              <a:t>las tres se implementaron y midieron sobre la misma ZCU102: la elección está respaldada por medidas propias, no por catálogo.</a:t>
            </a:r>
          </a:p>
        </p:txBody>
      </p:sp>
      <p:sp>
        <p:nvSpPr>
          <p:cNvPr id="50" name="TextBox 49"/>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04 · Resultados  ·  DMA14: sin lazo de recepción operativo, magnitudes que dependen de RX sin medir</a:t>
            </a:r>
          </a:p>
        </p:txBody>
      </p:sp>
      <p:sp>
        <p:nvSpPr>
          <p:cNvPr id="51" name="TextBox 50"/>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0160" y="2148840"/>
            <a:ext cx="2194560" cy="1737360"/>
          </a:xfrm>
          <a:prstGeom prst="rect">
            <a:avLst/>
          </a:prstGeom>
          <a:noFill/>
        </p:spPr>
        <p:txBody>
          <a:bodyPr wrap="square" lIns="0" tIns="0" rIns="0" bIns="0" anchor="t">
            <a:spAutoFit/>
          </a:bodyPr>
          <a:lstStyle/>
          <a:p>
            <a:pPr algn="l">
              <a:lnSpc>
                <a:spcPct val="90000"/>
              </a:lnSpc>
              <a:spcBef>
                <a:spcPts val="0"/>
              </a:spcBef>
              <a:spcAft>
                <a:spcPts val="0"/>
              </a:spcAft>
            </a:pPr>
            <a:r>
              <a:rPr sz="9600" b="1" i="0">
                <a:solidFill>
                  <a:srgbClr val="E09B2D"/>
                </a:solidFill>
                <a:latin typeface="Calibri"/>
              </a:rPr>
              <a:t>05</a:t>
            </a:r>
          </a:p>
        </p:txBody>
      </p:sp>
      <p:sp>
        <p:nvSpPr>
          <p:cNvPr id="5" name="TextBox 4"/>
          <p:cNvSpPr txBox="1"/>
          <p:nvPr/>
        </p:nvSpPr>
        <p:spPr>
          <a:xfrm>
            <a:off x="3840480" y="2331720"/>
            <a:ext cx="7498079" cy="1737360"/>
          </a:xfrm>
          <a:prstGeom prst="rect">
            <a:avLst/>
          </a:prstGeom>
          <a:noFill/>
        </p:spPr>
        <p:txBody>
          <a:bodyPr wrap="square" lIns="0" tIns="0" rIns="0" bIns="0" anchor="t">
            <a:spAutoFit/>
          </a:bodyPr>
          <a:lstStyle/>
          <a:p>
            <a:pPr algn="l">
              <a:lnSpc>
                <a:spcPct val="108000"/>
              </a:lnSpc>
              <a:spcBef>
                <a:spcPts val="0"/>
              </a:spcBef>
              <a:spcAft>
                <a:spcPts val="1400"/>
              </a:spcAft>
            </a:pPr>
            <a:r>
              <a:rPr sz="4000" b="1" i="0">
                <a:solidFill>
                  <a:srgbClr val="FFFFFF"/>
                </a:solidFill>
                <a:latin typeface="Calibri"/>
              </a:rPr>
              <a:t>Conclusiones</a:t>
            </a:r>
          </a:p>
        </p:txBody>
      </p:sp>
      <p:sp>
        <p:nvSpPr>
          <p:cNvPr id="6" name="Rectangle 5"/>
          <p:cNvSpPr/>
          <p:nvPr/>
        </p:nvSpPr>
        <p:spPr>
          <a:xfrm>
            <a:off x="3840480" y="3703320"/>
            <a:ext cx="146304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3977639"/>
            <a:ext cx="7498079" cy="822960"/>
          </a:xfrm>
          <a:prstGeom prst="rect">
            <a:avLst/>
          </a:prstGeom>
          <a:noFill/>
        </p:spPr>
        <p:txBody>
          <a:bodyPr wrap="square" lIns="0" tIns="0" rIns="0" bIns="0" anchor="t">
            <a:spAutoFit/>
          </a:bodyPr>
          <a:lstStyle/>
          <a:p>
            <a:pPr algn="l">
              <a:lnSpc>
                <a:spcPct val="116000"/>
              </a:lnSpc>
              <a:spcBef>
                <a:spcPts val="0"/>
              </a:spcBef>
              <a:spcAft>
                <a:spcPts val="0"/>
              </a:spcAft>
            </a:pPr>
            <a:r>
              <a:rPr sz="1700" b="0" i="0">
                <a:solidFill>
                  <a:srgbClr val="9FB6D1"/>
                </a:solidFill>
                <a:latin typeface="Calibri"/>
              </a:rPr>
              <a:t>Qué queda cumplido, qué queda declarado como pendiente y por dónde sigue.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05 · CONCLUSIONES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Conclusiones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05</a:t>
            </a:r>
          </a:p>
        </p:txBody>
      </p:sp>
      <p:sp>
        <p:nvSpPr>
          <p:cNvPr id="6" name="Rectangle 5"/>
          <p:cNvSpPr/>
          <p:nvPr/>
        </p:nvSpPr>
        <p:spPr>
          <a:xfrm>
            <a:off x="658368" y="1700784"/>
            <a:ext cx="7040880" cy="402336"/>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00784"/>
            <a:ext cx="2168632" cy="402336"/>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Objetivo</a:t>
            </a:r>
          </a:p>
        </p:txBody>
      </p:sp>
      <p:sp>
        <p:nvSpPr>
          <p:cNvPr id="8" name="TextBox 7"/>
          <p:cNvSpPr txBox="1"/>
          <p:nvPr/>
        </p:nvSpPr>
        <p:spPr>
          <a:xfrm>
            <a:off x="3183616" y="1700784"/>
            <a:ext cx="2881633" cy="402336"/>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Resultado medido</a:t>
            </a:r>
          </a:p>
        </p:txBody>
      </p:sp>
      <p:sp>
        <p:nvSpPr>
          <p:cNvPr id="9" name="TextBox 8"/>
          <p:cNvSpPr txBox="1"/>
          <p:nvPr/>
        </p:nvSpPr>
        <p:spPr>
          <a:xfrm>
            <a:off x="6302993" y="1700784"/>
            <a:ext cx="1277382" cy="402336"/>
          </a:xfrm>
          <a:prstGeom prst="rect">
            <a:avLst/>
          </a:prstGeom>
          <a:noFill/>
        </p:spPr>
        <p:txBody>
          <a:bodyPr wrap="square" lIns="0" tIns="0" rIns="0" bIns="0" anchor="ctr">
            <a:spAutoFit/>
          </a:bodyPr>
          <a:lstStyle/>
          <a:p>
            <a:pPr algn="ctr">
              <a:lnSpc>
                <a:spcPct val="108000"/>
              </a:lnSpc>
              <a:spcBef>
                <a:spcPts val="0"/>
              </a:spcBef>
              <a:spcAft>
                <a:spcPts val="0"/>
              </a:spcAft>
            </a:pPr>
            <a:endParaRPr/>
          </a:p>
        </p:txBody>
      </p:sp>
      <p:sp>
        <p:nvSpPr>
          <p:cNvPr id="10" name="Rectangle 9"/>
          <p:cNvSpPr/>
          <p:nvPr/>
        </p:nvSpPr>
        <p:spPr>
          <a:xfrm>
            <a:off x="658368" y="2103120"/>
            <a:ext cx="70408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103120"/>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1  Transceptor VHDL</a:t>
            </a:r>
          </a:p>
        </p:txBody>
      </p:sp>
      <p:sp>
        <p:nvSpPr>
          <p:cNvPr id="12" name="TextBox 11"/>
          <p:cNvSpPr txBox="1"/>
          <p:nvPr/>
        </p:nvSpPr>
        <p:spPr>
          <a:xfrm>
            <a:off x="3183616" y="2103120"/>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450/450 tramas · NCO a 120 ppm</a:t>
            </a:r>
          </a:p>
        </p:txBody>
      </p:sp>
      <p:sp>
        <p:nvSpPr>
          <p:cNvPr id="13" name="TextBox 12"/>
          <p:cNvSpPr txBox="1"/>
          <p:nvPr/>
        </p:nvSpPr>
        <p:spPr>
          <a:xfrm>
            <a:off x="6302993" y="2103120"/>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cumplido</a:t>
            </a:r>
          </a:p>
        </p:txBody>
      </p:sp>
      <p:sp>
        <p:nvSpPr>
          <p:cNvPr id="14" name="Rectangle 13"/>
          <p:cNvSpPr/>
          <p:nvPr/>
        </p:nvSpPr>
        <p:spPr>
          <a:xfrm>
            <a:off x="658368" y="2523744"/>
            <a:ext cx="7040880" cy="420624"/>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8368" y="2523744"/>
            <a:ext cx="40640" cy="420624"/>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523744"/>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E63A8"/>
                </a:solidFill>
                <a:latin typeface="Calibri"/>
              </a:rPr>
              <a:t>2  Transporte PL↔PS</a:t>
            </a:r>
          </a:p>
        </p:txBody>
      </p:sp>
      <p:sp>
        <p:nvSpPr>
          <p:cNvPr id="17" name="TextBox 16"/>
          <p:cNvSpPr txBox="1"/>
          <p:nvPr/>
        </p:nvSpPr>
        <p:spPr>
          <a:xfrm>
            <a:off x="3183616" y="2523744"/>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1" i="0">
                <a:solidFill>
                  <a:srgbClr val="1E63A8"/>
                </a:solidFill>
                <a:latin typeface="Calibri"/>
              </a:rPr>
              <a:t>3 IRQ/KB · 99 % del techo</a:t>
            </a:r>
          </a:p>
        </p:txBody>
      </p:sp>
      <p:sp>
        <p:nvSpPr>
          <p:cNvPr id="18" name="TextBox 17"/>
          <p:cNvSpPr txBox="1"/>
          <p:nvPr/>
        </p:nvSpPr>
        <p:spPr>
          <a:xfrm>
            <a:off x="6302993" y="2523744"/>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1" i="0">
                <a:solidFill>
                  <a:srgbClr val="1E63A8"/>
                </a:solidFill>
                <a:latin typeface="Calibri"/>
              </a:rPr>
              <a:t>cumplido</a:t>
            </a:r>
          </a:p>
        </p:txBody>
      </p:sp>
      <p:sp>
        <p:nvSpPr>
          <p:cNvPr id="19" name="Rectangle 18"/>
          <p:cNvSpPr/>
          <p:nvPr/>
        </p:nvSpPr>
        <p:spPr>
          <a:xfrm>
            <a:off x="658368" y="2944368"/>
            <a:ext cx="70408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2944368"/>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3  Driver RTEMS 7</a:t>
            </a:r>
          </a:p>
        </p:txBody>
      </p:sp>
      <p:sp>
        <p:nvSpPr>
          <p:cNvPr id="21" name="TextBox 20"/>
          <p:cNvSpPr txBox="1"/>
          <p:nvPr/>
        </p:nvSpPr>
        <p:spPr>
          <a:xfrm>
            <a:off x="3183616" y="2944368"/>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API de 6 funciones · 1 a 14 canales</a:t>
            </a:r>
          </a:p>
        </p:txBody>
      </p:sp>
      <p:sp>
        <p:nvSpPr>
          <p:cNvPr id="22" name="TextBox 21"/>
          <p:cNvSpPr txBox="1"/>
          <p:nvPr/>
        </p:nvSpPr>
        <p:spPr>
          <a:xfrm>
            <a:off x="6302993" y="2944368"/>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cumplido</a:t>
            </a:r>
          </a:p>
        </p:txBody>
      </p:sp>
      <p:sp>
        <p:nvSpPr>
          <p:cNvPr id="23" name="Rectangle 22"/>
          <p:cNvSpPr/>
          <p:nvPr/>
        </p:nvSpPr>
        <p:spPr>
          <a:xfrm>
            <a:off x="658368" y="3364992"/>
            <a:ext cx="7040880" cy="42062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3364992"/>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4  Placa serie</a:t>
            </a:r>
          </a:p>
        </p:txBody>
      </p:sp>
      <p:sp>
        <p:nvSpPr>
          <p:cNvPr id="25" name="TextBox 24"/>
          <p:cNvSpPr txBox="1"/>
          <p:nvPr/>
        </p:nvSpPr>
        <p:spPr>
          <a:xfrm>
            <a:off x="3183616" y="3364992"/>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9 tests · 0 fallos · 4 Mbaudios</a:t>
            </a:r>
          </a:p>
        </p:txBody>
      </p:sp>
      <p:sp>
        <p:nvSpPr>
          <p:cNvPr id="26" name="TextBox 25"/>
          <p:cNvSpPr txBox="1"/>
          <p:nvPr/>
        </p:nvSpPr>
        <p:spPr>
          <a:xfrm>
            <a:off x="6302993" y="3364992"/>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cumplido</a:t>
            </a:r>
          </a:p>
        </p:txBody>
      </p:sp>
      <p:sp>
        <p:nvSpPr>
          <p:cNvPr id="27" name="Rectangle 26"/>
          <p:cNvSpPr/>
          <p:nvPr/>
        </p:nvSpPr>
        <p:spPr>
          <a:xfrm>
            <a:off x="658368" y="3785616"/>
            <a:ext cx="704088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3785616"/>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5  Placas CDHS y AOCS</a:t>
            </a:r>
          </a:p>
        </p:txBody>
      </p:sp>
      <p:sp>
        <p:nvSpPr>
          <p:cNvPr id="29" name="TextBox 28"/>
          <p:cNvSpPr txBox="1"/>
          <p:nvPr/>
        </p:nvSpPr>
        <p:spPr>
          <a:xfrm>
            <a:off x="3183616" y="3785616"/>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fabricadas sin retrabajos</a:t>
            </a:r>
          </a:p>
        </p:txBody>
      </p:sp>
      <p:sp>
        <p:nvSpPr>
          <p:cNvPr id="30" name="TextBox 29"/>
          <p:cNvSpPr txBox="1"/>
          <p:nvPr/>
        </p:nvSpPr>
        <p:spPr>
          <a:xfrm>
            <a:off x="6302993" y="3785616"/>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cumplido</a:t>
            </a:r>
          </a:p>
        </p:txBody>
      </p:sp>
      <p:sp>
        <p:nvSpPr>
          <p:cNvPr id="31" name="Rectangle 30"/>
          <p:cNvSpPr/>
          <p:nvPr/>
        </p:nvSpPr>
        <p:spPr>
          <a:xfrm>
            <a:off x="658368" y="4206240"/>
            <a:ext cx="7040880" cy="42062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4206240"/>
            <a:ext cx="2168632" cy="420624"/>
          </a:xfrm>
          <a:prstGeom prst="rect">
            <a:avLst/>
          </a:prstGeom>
          <a:noFill/>
        </p:spPr>
        <p:txBody>
          <a:bodyPr wrap="square" lIns="0" tIns="0" rIns="0" bIns="0" anchor="ctr">
            <a:spAutoFit/>
          </a:bodyPr>
          <a:lstStyle/>
          <a:p>
            <a:pPr algn="l">
              <a:lnSpc>
                <a:spcPct val="108000"/>
              </a:lnSpc>
              <a:spcBef>
                <a:spcPts val="0"/>
              </a:spcBef>
              <a:spcAft>
                <a:spcPts val="0"/>
              </a:spcAft>
            </a:pPr>
            <a:r>
              <a:rPr sz="1400" b="1" i="0">
                <a:solidFill>
                  <a:srgbClr val="1F2933"/>
                </a:solidFill>
                <a:latin typeface="Calibri"/>
              </a:rPr>
              <a:t>6  Integración</a:t>
            </a:r>
          </a:p>
        </p:txBody>
      </p:sp>
      <p:sp>
        <p:nvSpPr>
          <p:cNvPr id="33" name="TextBox 32"/>
          <p:cNvSpPr txBox="1"/>
          <p:nvPr/>
        </p:nvSpPr>
        <p:spPr>
          <a:xfrm>
            <a:off x="3183616" y="4206240"/>
            <a:ext cx="2881633"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todo validado salvo SpaceWire</a:t>
            </a:r>
          </a:p>
        </p:txBody>
      </p:sp>
      <p:sp>
        <p:nvSpPr>
          <p:cNvPr id="34" name="TextBox 33"/>
          <p:cNvSpPr txBox="1"/>
          <p:nvPr/>
        </p:nvSpPr>
        <p:spPr>
          <a:xfrm>
            <a:off x="6302993" y="4206240"/>
            <a:ext cx="1277382" cy="420624"/>
          </a:xfrm>
          <a:prstGeom prst="rect">
            <a:avLst/>
          </a:prstGeom>
          <a:noFill/>
        </p:spPr>
        <p:txBody>
          <a:bodyPr wrap="square" lIns="0" tIns="0" rIns="0" bIns="0" anchor="ctr">
            <a:spAutoFit/>
          </a:bodyPr>
          <a:lstStyle/>
          <a:p>
            <a:pPr algn="ctr">
              <a:lnSpc>
                <a:spcPct val="108000"/>
              </a:lnSpc>
              <a:spcBef>
                <a:spcPts val="0"/>
              </a:spcBef>
              <a:spcAft>
                <a:spcPts val="0"/>
              </a:spcAft>
            </a:pPr>
            <a:r>
              <a:rPr sz="1400" b="0" i="0">
                <a:solidFill>
                  <a:srgbClr val="1F2933"/>
                </a:solidFill>
                <a:latin typeface="Calibri"/>
              </a:rPr>
              <a:t>con excepción</a:t>
            </a:r>
          </a:p>
        </p:txBody>
      </p:sp>
      <p:sp>
        <p:nvSpPr>
          <p:cNvPr id="35" name="Rectangle 34"/>
          <p:cNvSpPr/>
          <p:nvPr/>
        </p:nvSpPr>
        <p:spPr>
          <a:xfrm>
            <a:off x="8019288" y="1700784"/>
            <a:ext cx="3514039"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9288" y="1700784"/>
            <a:ext cx="40640" cy="123444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0456" y="1828800"/>
            <a:ext cx="3203143" cy="1014984"/>
          </a:xfrm>
          <a:prstGeom prst="rect">
            <a:avLst/>
          </a:prstGeom>
          <a:noFill/>
        </p:spPr>
        <p:txBody>
          <a:bodyPr wrap="square" lIns="0" tIns="0" rIns="0" bIns="0" anchor="ctr">
            <a:spAutoFit/>
          </a:bodyPr>
          <a:lstStyle/>
          <a:p>
            <a:pPr algn="l">
              <a:lnSpc>
                <a:spcPct val="95000"/>
              </a:lnSpc>
              <a:spcBef>
                <a:spcPts val="0"/>
              </a:spcBef>
              <a:spcAft>
                <a:spcPts val="200"/>
              </a:spcAft>
            </a:pPr>
            <a:r>
              <a:rPr sz="3600" b="1" i="0">
                <a:solidFill>
                  <a:srgbClr val="1E63A8"/>
                </a:solidFill>
                <a:latin typeface="Calibri"/>
              </a:rPr>
              <a:t>20.188</a:t>
            </a:r>
          </a:p>
          <a:p>
            <a:pPr>
              <a:lnSpc>
                <a:spcPct val="100000"/>
              </a:lnSpc>
              <a:spcBef>
                <a:spcPts val="0"/>
              </a:spcBef>
              <a:spcAft>
                <a:spcPts val="0"/>
              </a:spcAft>
            </a:pPr>
            <a:r>
              <a:rPr sz="1300" b="0" i="0">
                <a:solidFill>
                  <a:srgbClr val="62707E"/>
                </a:solidFill>
                <a:latin typeface="Calibri"/>
              </a:rPr>
              <a:t>líneas de código propio</a:t>
            </a:r>
          </a:p>
        </p:txBody>
      </p:sp>
      <p:sp>
        <p:nvSpPr>
          <p:cNvPr id="38" name="Rectangle 37"/>
          <p:cNvSpPr/>
          <p:nvPr/>
        </p:nvSpPr>
        <p:spPr>
          <a:xfrm>
            <a:off x="8019288" y="3163824"/>
            <a:ext cx="35140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38744" y="3163824"/>
            <a:ext cx="1234440" cy="566928"/>
          </a:xfrm>
          <a:prstGeom prst="rect">
            <a:avLst/>
          </a:prstGeom>
          <a:noFill/>
        </p:spPr>
        <p:txBody>
          <a:bodyPr wrap="square" lIns="0" tIns="0" rIns="0" bIns="0" anchor="ctr">
            <a:spAutoFit/>
          </a:bodyPr>
          <a:lstStyle/>
          <a:p>
            <a:pPr algn="l">
              <a:lnSpc>
                <a:spcPct val="108000"/>
              </a:lnSpc>
              <a:spcBef>
                <a:spcPts val="0"/>
              </a:spcBef>
              <a:spcAft>
                <a:spcPts val="0"/>
              </a:spcAft>
            </a:pPr>
            <a:r>
              <a:rPr sz="1700" b="1" i="0">
                <a:solidFill>
                  <a:srgbClr val="1E63A8"/>
                </a:solidFill>
                <a:latin typeface="Calibri"/>
              </a:rPr>
              <a:t>40,1 %</a:t>
            </a:r>
          </a:p>
        </p:txBody>
      </p:sp>
      <p:sp>
        <p:nvSpPr>
          <p:cNvPr id="40" name="TextBox 39"/>
          <p:cNvSpPr txBox="1"/>
          <p:nvPr/>
        </p:nvSpPr>
        <p:spPr>
          <a:xfrm>
            <a:off x="9537192" y="3163824"/>
            <a:ext cx="1776679" cy="566928"/>
          </a:xfrm>
          <a:prstGeom prst="rect">
            <a:avLst/>
          </a:prstGeom>
          <a:noFill/>
        </p:spPr>
        <p:txBody>
          <a:bodyPr wrap="square" lIns="0" tIns="0" rIns="0" bIns="0" anchor="ctr">
            <a:spAutoFit/>
          </a:bodyPr>
          <a:lstStyle/>
          <a:p>
            <a:pPr algn="l">
              <a:lnSpc>
                <a:spcPct val="108000"/>
              </a:lnSpc>
              <a:spcBef>
                <a:spcPts val="0"/>
              </a:spcBef>
              <a:spcAft>
                <a:spcPts val="0"/>
              </a:spcAft>
            </a:pPr>
            <a:r>
              <a:rPr sz="1200" b="0" i="0">
                <a:solidFill>
                  <a:srgbClr val="62707E"/>
                </a:solidFill>
                <a:latin typeface="Calibri"/>
              </a:rPr>
              <a:t>automatización: TCL, Bash y Python</a:t>
            </a:r>
          </a:p>
        </p:txBody>
      </p:sp>
      <p:sp>
        <p:nvSpPr>
          <p:cNvPr id="41" name="Rectangle 40"/>
          <p:cNvSpPr/>
          <p:nvPr/>
        </p:nvSpPr>
        <p:spPr>
          <a:xfrm>
            <a:off x="8019288" y="3803904"/>
            <a:ext cx="35140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38744" y="3803904"/>
            <a:ext cx="1234440" cy="566928"/>
          </a:xfrm>
          <a:prstGeom prst="rect">
            <a:avLst/>
          </a:prstGeom>
          <a:noFill/>
        </p:spPr>
        <p:txBody>
          <a:bodyPr wrap="square" lIns="0" tIns="0" rIns="0" bIns="0" anchor="ctr">
            <a:spAutoFit/>
          </a:bodyPr>
          <a:lstStyle/>
          <a:p>
            <a:pPr algn="l">
              <a:lnSpc>
                <a:spcPct val="108000"/>
              </a:lnSpc>
              <a:spcBef>
                <a:spcPts val="0"/>
              </a:spcBef>
              <a:spcAft>
                <a:spcPts val="0"/>
              </a:spcAft>
            </a:pPr>
            <a:r>
              <a:rPr sz="1700" b="1" i="0">
                <a:solidFill>
                  <a:srgbClr val="1E63A8"/>
                </a:solidFill>
                <a:latin typeface="Calibri"/>
              </a:rPr>
              <a:t>0,97 : 1</a:t>
            </a:r>
          </a:p>
        </p:txBody>
      </p:sp>
      <p:sp>
        <p:nvSpPr>
          <p:cNvPr id="43" name="TextBox 42"/>
          <p:cNvSpPr txBox="1"/>
          <p:nvPr/>
        </p:nvSpPr>
        <p:spPr>
          <a:xfrm>
            <a:off x="9537192" y="3803904"/>
            <a:ext cx="1776679" cy="566928"/>
          </a:xfrm>
          <a:prstGeom prst="rect">
            <a:avLst/>
          </a:prstGeom>
          <a:noFill/>
        </p:spPr>
        <p:txBody>
          <a:bodyPr wrap="square" lIns="0" tIns="0" rIns="0" bIns="0" anchor="ctr">
            <a:spAutoFit/>
          </a:bodyPr>
          <a:lstStyle/>
          <a:p>
            <a:pPr algn="l">
              <a:lnSpc>
                <a:spcPct val="108000"/>
              </a:lnSpc>
              <a:spcBef>
                <a:spcPts val="0"/>
              </a:spcBef>
              <a:spcAft>
                <a:spcPts val="0"/>
              </a:spcAft>
            </a:pPr>
            <a:r>
              <a:rPr sz="1200" b="0" i="0">
                <a:solidFill>
                  <a:srgbClr val="62707E"/>
                </a:solidFill>
                <a:latin typeface="Calibri"/>
              </a:rPr>
              <a:t>testbench frente a RTL sintetizable</a:t>
            </a:r>
          </a:p>
        </p:txBody>
      </p:sp>
      <p:sp>
        <p:nvSpPr>
          <p:cNvPr id="44" name="Rectangle 43"/>
          <p:cNvSpPr/>
          <p:nvPr/>
        </p:nvSpPr>
        <p:spPr>
          <a:xfrm>
            <a:off x="8019288" y="4443984"/>
            <a:ext cx="3514039" cy="56692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38744" y="4443984"/>
            <a:ext cx="1234440" cy="566928"/>
          </a:xfrm>
          <a:prstGeom prst="rect">
            <a:avLst/>
          </a:prstGeom>
          <a:noFill/>
        </p:spPr>
        <p:txBody>
          <a:bodyPr wrap="square" lIns="0" tIns="0" rIns="0" bIns="0" anchor="ctr">
            <a:spAutoFit/>
          </a:bodyPr>
          <a:lstStyle/>
          <a:p>
            <a:pPr algn="l">
              <a:lnSpc>
                <a:spcPct val="108000"/>
              </a:lnSpc>
              <a:spcBef>
                <a:spcPts val="0"/>
              </a:spcBef>
              <a:spcAft>
                <a:spcPts val="0"/>
              </a:spcAft>
            </a:pPr>
            <a:r>
              <a:rPr sz="1700" b="1" i="0">
                <a:solidFill>
                  <a:srgbClr val="1E63A8"/>
                </a:solidFill>
                <a:latin typeface="Calibri"/>
              </a:rPr>
              <a:t>4.710</a:t>
            </a:r>
          </a:p>
        </p:txBody>
      </p:sp>
      <p:sp>
        <p:nvSpPr>
          <p:cNvPr id="46" name="TextBox 45"/>
          <p:cNvSpPr txBox="1"/>
          <p:nvPr/>
        </p:nvSpPr>
        <p:spPr>
          <a:xfrm>
            <a:off x="9537192" y="4443984"/>
            <a:ext cx="1776679" cy="566928"/>
          </a:xfrm>
          <a:prstGeom prst="rect">
            <a:avLst/>
          </a:prstGeom>
          <a:noFill/>
        </p:spPr>
        <p:txBody>
          <a:bodyPr wrap="square" lIns="0" tIns="0" rIns="0" bIns="0" anchor="ctr">
            <a:spAutoFit/>
          </a:bodyPr>
          <a:lstStyle/>
          <a:p>
            <a:pPr algn="l">
              <a:lnSpc>
                <a:spcPct val="108000"/>
              </a:lnSpc>
              <a:spcBef>
                <a:spcPts val="0"/>
              </a:spcBef>
              <a:spcAft>
                <a:spcPts val="0"/>
              </a:spcAft>
            </a:pPr>
            <a:r>
              <a:rPr sz="1200" b="0" i="0">
                <a:solidFill>
                  <a:srgbClr val="62707E"/>
                </a:solidFill>
                <a:latin typeface="Calibri"/>
              </a:rPr>
              <a:t>líneas de VHDL sintetizable</a:t>
            </a:r>
          </a:p>
        </p:txBody>
      </p:sp>
      <p:sp>
        <p:nvSpPr>
          <p:cNvPr id="47" name="TextBox 46"/>
          <p:cNvSpPr txBox="1"/>
          <p:nvPr/>
        </p:nvSpPr>
        <p:spPr>
          <a:xfrm>
            <a:off x="658368" y="4992624"/>
            <a:ext cx="10874959" cy="457200"/>
          </a:xfrm>
          <a:prstGeom prst="rect">
            <a:avLst/>
          </a:prstGeom>
          <a:noFill/>
        </p:spPr>
        <p:txBody>
          <a:bodyPr wrap="square" lIns="0" tIns="0" rIns="0" bIns="0" anchor="t">
            <a:spAutoFit/>
          </a:bodyPr>
          <a:lstStyle/>
          <a:p>
            <a:pPr algn="l">
              <a:lnSpc>
                <a:spcPct val="108000"/>
              </a:lnSpc>
              <a:spcBef>
                <a:spcPts val="0"/>
              </a:spcBef>
              <a:spcAft>
                <a:spcPts val="0"/>
              </a:spcAft>
            </a:pPr>
            <a:r>
              <a:rPr sz="1400" b="1" i="0">
                <a:solidFill>
                  <a:srgbClr val="C2685C"/>
                </a:solidFill>
                <a:latin typeface="Calibri"/>
              </a:rPr>
              <a:t>SpaceWire sin validar · </a:t>
            </a:r>
            <a:r>
              <a:rPr sz="1400" b="0" i="0">
                <a:solidFill>
                  <a:srgbClr val="1F2933"/>
                </a:solidFill>
                <a:latin typeface="Calibri"/>
              </a:rPr>
              <a:t>la capa física LVDS está en la placa; ejercitarla exige Data-Strobe, FSM de enlace y niveles de red: excede el alcance.</a:t>
            </a:r>
          </a:p>
        </p:txBody>
      </p:sp>
      <p:sp>
        <p:nvSpPr>
          <p:cNvPr id="48" name="Rectangle 47"/>
          <p:cNvSpPr/>
          <p:nvPr/>
        </p:nvSpPr>
        <p:spPr>
          <a:xfrm>
            <a:off x="658368" y="5559552"/>
            <a:ext cx="10874959" cy="749808"/>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50976" y="5559552"/>
            <a:ext cx="10289743" cy="749808"/>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E09B2D"/>
                </a:solidFill>
                <a:latin typeface="Calibri"/>
              </a:rPr>
              <a:t>Arquitectura elegida por datos, no por catálogo</a:t>
            </a:r>
            <a:r>
              <a:rPr sz="1500" b="0" i="0">
                <a:solidFill>
                  <a:srgbClr val="FFFFFF"/>
                </a:solidFill>
                <a:latin typeface="Calibri"/>
              </a:rPr>
              <a:t>   ·   contribución directa a LINCE y base de trabajo para el B105.</a:t>
            </a:r>
          </a:p>
        </p:txBody>
      </p:sp>
      <p:sp>
        <p:nvSpPr>
          <p:cNvPr id="50" name="TextBox 49"/>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05 · Conclusiones y líneas futuras</a:t>
            </a:r>
          </a:p>
        </p:txBody>
      </p:sp>
      <p:sp>
        <p:nvSpPr>
          <p:cNvPr id="51" name="TextBox 50"/>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05 · CONCLUSIONES</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Líneas futuras</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18927" y="420624"/>
            <a:ext cx="914400" cy="365760"/>
          </a:xfrm>
          <a:prstGeom prst="rect">
            <a:avLst/>
          </a:prstGeom>
          <a:noFill/>
        </p:spPr>
        <p:txBody>
          <a:bodyPr wrap="square" lIns="0" tIns="0" rIns="0" bIns="0" anchor="t">
            <a:spAutoFit/>
          </a:bodyPr>
          <a:lstStyle/>
          <a:p>
            <a:pPr algn="r">
              <a:lnSpc>
                <a:spcPct val="108000"/>
              </a:lnSpc>
              <a:spcBef>
                <a:spcPts val="0"/>
              </a:spcBef>
              <a:spcAft>
                <a:spcPts val="0"/>
              </a:spcAft>
            </a:pPr>
            <a:r>
              <a:rPr sz="1300" b="1" i="0">
                <a:solidFill>
                  <a:srgbClr val="D5DBE2"/>
                </a:solidFill>
                <a:latin typeface="Calibri"/>
              </a:rPr>
              <a:t>05</a:t>
            </a:r>
          </a:p>
        </p:txBody>
      </p:sp>
      <p:sp>
        <p:nvSpPr>
          <p:cNvPr id="6" name="Rectangle 5"/>
          <p:cNvSpPr/>
          <p:nvPr/>
        </p:nvSpPr>
        <p:spPr>
          <a:xfrm>
            <a:off x="658368" y="1700784"/>
            <a:ext cx="3442106" cy="38404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00784"/>
            <a:ext cx="3442106" cy="508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011680"/>
            <a:ext cx="2893466" cy="3291840"/>
          </a:xfrm>
          <a:prstGeom prst="rect">
            <a:avLst/>
          </a:prstGeom>
          <a:noFill/>
        </p:spPr>
        <p:txBody>
          <a:bodyPr wrap="square" lIns="0" tIns="0" rIns="0" bIns="0" anchor="t">
            <a:spAutoFit/>
          </a:bodyPr>
          <a:lstStyle/>
          <a:p>
            <a:pPr algn="l">
              <a:lnSpc>
                <a:spcPct val="108000"/>
              </a:lnSpc>
              <a:spcBef>
                <a:spcPts val="0"/>
              </a:spcBef>
              <a:spcAft>
                <a:spcPts val="1600"/>
              </a:spcAft>
            </a:pPr>
            <a:r>
              <a:rPr sz="1350" b="1" i="0">
                <a:solidFill>
                  <a:srgbClr val="E09B2D"/>
                </a:solidFill>
                <a:latin typeface="Calibri"/>
              </a:rPr>
              <a:t>INMEDIATO</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Invertir el valor por defecto de SLO</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Fabricar y probar la revisión V2 de AOCS</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Completar la medida de recepción de DMA14</a:t>
            </a:r>
          </a:p>
        </p:txBody>
      </p:sp>
      <p:sp>
        <p:nvSpPr>
          <p:cNvPr id="9" name="Rectangle 8"/>
          <p:cNvSpPr/>
          <p:nvPr/>
        </p:nvSpPr>
        <p:spPr>
          <a:xfrm>
            <a:off x="4374794" y="1700784"/>
            <a:ext cx="3442106" cy="38404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4794" y="1700784"/>
            <a:ext cx="3442106" cy="5080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49114" y="2011680"/>
            <a:ext cx="2893466" cy="3291840"/>
          </a:xfrm>
          <a:prstGeom prst="rect">
            <a:avLst/>
          </a:prstGeom>
          <a:noFill/>
        </p:spPr>
        <p:txBody>
          <a:bodyPr wrap="square" lIns="0" tIns="0" rIns="0" bIns="0" anchor="t">
            <a:spAutoFit/>
          </a:bodyPr>
          <a:lstStyle/>
          <a:p>
            <a:pPr algn="l">
              <a:lnSpc>
                <a:spcPct val="108000"/>
              </a:lnSpc>
              <a:spcBef>
                <a:spcPts val="0"/>
              </a:spcBef>
              <a:spcAft>
                <a:spcPts val="1600"/>
              </a:spcAft>
            </a:pPr>
            <a:r>
              <a:rPr sz="1350" b="1" i="0">
                <a:solidFill>
                  <a:srgbClr val="1E63A8"/>
                </a:solidFill>
                <a:latin typeface="Calibri"/>
              </a:rPr>
              <a:t>MEDIO PLAZO</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Poner en servicio SpaceWire sobre la capa física ya disponible</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Colgarlo del MCDMA: admite más canales sin rediseño</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Ampliar driver y pruebas a condiciones de operación</a:t>
            </a:r>
          </a:p>
        </p:txBody>
      </p:sp>
      <p:sp>
        <p:nvSpPr>
          <p:cNvPr id="12" name="Rectangle 11"/>
          <p:cNvSpPr/>
          <p:nvPr/>
        </p:nvSpPr>
        <p:spPr>
          <a:xfrm>
            <a:off x="8091220" y="1700784"/>
            <a:ext cx="3442106" cy="38404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1220" y="1700784"/>
            <a:ext cx="3442106" cy="508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65540" y="2011680"/>
            <a:ext cx="2893466" cy="3291840"/>
          </a:xfrm>
          <a:prstGeom prst="rect">
            <a:avLst/>
          </a:prstGeom>
          <a:noFill/>
        </p:spPr>
        <p:txBody>
          <a:bodyPr wrap="square" lIns="0" tIns="0" rIns="0" bIns="0" anchor="t">
            <a:spAutoFit/>
          </a:bodyPr>
          <a:lstStyle/>
          <a:p>
            <a:pPr algn="l">
              <a:lnSpc>
                <a:spcPct val="108000"/>
              </a:lnSpc>
              <a:spcBef>
                <a:spcPts val="0"/>
              </a:spcBef>
              <a:spcAft>
                <a:spcPts val="1600"/>
              </a:spcAft>
            </a:pPr>
            <a:r>
              <a:rPr sz="1350" b="1" i="0">
                <a:solidFill>
                  <a:srgbClr val="12345C"/>
                </a:solidFill>
                <a:latin typeface="Calibri"/>
              </a:rPr>
              <a:t>LARGO PLAZO</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TMR del transceptor, del puente y de la lógica propia</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Scrubbing de configuración, watchdog y ECC</a:t>
            </a:r>
          </a:p>
          <a:p>
            <a:pPr>
              <a:lnSpc>
                <a:spcPct val="118000"/>
              </a:lnSpc>
              <a:spcBef>
                <a:spcPts val="0"/>
              </a:spcBef>
              <a:spcAft>
                <a:spcPts val="1400"/>
              </a:spcAft>
            </a:pPr>
            <a:r>
              <a:rPr sz="1450" b="1" i="0">
                <a:solidFill>
                  <a:srgbClr val="E09B2D"/>
                </a:solidFill>
                <a:latin typeface="Calibri"/>
              </a:rPr>
              <a:t>▪  </a:t>
            </a:r>
            <a:r>
              <a:rPr sz="1450" b="0" i="0">
                <a:solidFill>
                  <a:srgbClr val="1F2933"/>
                </a:solidFill>
                <a:latin typeface="Calibri"/>
              </a:rPr>
              <a:t>Componentes con herencia de vuelo</a:t>
            </a:r>
          </a:p>
        </p:txBody>
      </p:sp>
      <p:sp>
        <p:nvSpPr>
          <p:cNvPr id="15" name="TextBox 14"/>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05 · Conclusiones y líneas futuras</a:t>
            </a:r>
          </a:p>
        </p:txBody>
      </p:sp>
      <p:sp>
        <p:nvSpPr>
          <p:cNvPr id="16" name="TextBox 15"/>
          <p:cNvSpPr txBox="1"/>
          <p:nvPr/>
        </p:nvSpPr>
        <p:spPr>
          <a:xfrm>
            <a:off x="10984687" y="6382512"/>
            <a:ext cx="548640" cy="256032"/>
          </a:xfrm>
          <a:prstGeom prst="rect">
            <a:avLst/>
          </a:prstGeom>
          <a:noFill/>
        </p:spPr>
        <p:txBody>
          <a:bodyPr wrap="square" lIns="0" tIns="0" rIns="0" bIns="0" anchor="t">
            <a:spAutoFit/>
          </a:bodyPr>
          <a:lstStyle/>
          <a:p>
            <a:pPr algn="r">
              <a:lnSpc>
                <a:spcPct val="108000"/>
              </a:lnSpc>
              <a:spcBef>
                <a:spcPts val="0"/>
              </a:spcBef>
              <a:spcAft>
                <a:spcPts val="0"/>
              </a:spcAft>
            </a:pPr>
            <a:r>
              <a:rPr sz="1050" b="1" i="0">
                <a:solidFill>
                  <a:srgbClr val="62707E"/>
                </a:solidFill>
                <a:latin typeface="Calibri"/>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2148840"/>
            <a:ext cx="8229600" cy="1280160"/>
          </a:xfrm>
          <a:prstGeom prst="rect">
            <a:avLst/>
          </a:prstGeom>
          <a:noFill/>
        </p:spPr>
        <p:txBody>
          <a:bodyPr wrap="square" lIns="0" tIns="0" rIns="0" bIns="0" anchor="t">
            <a:spAutoFit/>
          </a:bodyPr>
          <a:lstStyle/>
          <a:p>
            <a:pPr algn="l">
              <a:lnSpc>
                <a:spcPct val="108000"/>
              </a:lnSpc>
              <a:spcBef>
                <a:spcPts val="0"/>
              </a:spcBef>
              <a:spcAft>
                <a:spcPts val="1400"/>
              </a:spcAft>
            </a:pPr>
            <a:r>
              <a:rPr sz="4200" b="1" i="0">
                <a:solidFill>
                  <a:srgbClr val="FFFFFF"/>
                </a:solidFill>
                <a:latin typeface="Calibri"/>
              </a:rPr>
              <a:t>Gracias por su atención</a:t>
            </a:r>
          </a:p>
          <a:p>
            <a:pPr>
              <a:lnSpc>
                <a:spcPct val="108000"/>
              </a:lnSpc>
              <a:spcBef>
                <a:spcPts val="0"/>
              </a:spcBef>
              <a:spcAft>
                <a:spcPts val="0"/>
              </a:spcAft>
            </a:pPr>
            <a:r>
              <a:rPr sz="2200" b="1" i="0">
                <a:solidFill>
                  <a:srgbClr val="E09B2D"/>
                </a:solidFill>
                <a:latin typeface="Calibri"/>
              </a:rPr>
              <a:t>Preguntas</a:t>
            </a:r>
          </a:p>
        </p:txBody>
      </p:sp>
      <p:sp>
        <p:nvSpPr>
          <p:cNvPr id="5" name="Rectangle 4"/>
          <p:cNvSpPr/>
          <p:nvPr/>
        </p:nvSpPr>
        <p:spPr>
          <a:xfrm>
            <a:off x="960120" y="3931920"/>
            <a:ext cx="1828800" cy="3302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297680"/>
            <a:ext cx="8229600" cy="1188720"/>
          </a:xfrm>
          <a:prstGeom prst="rect">
            <a:avLst/>
          </a:prstGeom>
          <a:noFill/>
        </p:spPr>
        <p:txBody>
          <a:bodyPr wrap="square" lIns="0" tIns="0" rIns="0" bIns="0" anchor="t">
            <a:spAutoFit/>
          </a:bodyPr>
          <a:lstStyle/>
          <a:p>
            <a:pPr algn="l">
              <a:lnSpc>
                <a:spcPct val="108000"/>
              </a:lnSpc>
              <a:spcBef>
                <a:spcPts val="0"/>
              </a:spcBef>
              <a:spcAft>
                <a:spcPts val="700"/>
              </a:spcAft>
            </a:pPr>
            <a:r>
              <a:rPr sz="1800" b="1" i="0">
                <a:solidFill>
                  <a:srgbClr val="FFFFFF"/>
                </a:solidFill>
                <a:latin typeface="Calibri"/>
              </a:rPr>
              <a:t>Jorge Alejandro Estefanía Hidalgo</a:t>
            </a:r>
          </a:p>
          <a:p>
            <a:pPr>
              <a:lnSpc>
                <a:spcPct val="108000"/>
              </a:lnSpc>
              <a:spcBef>
                <a:spcPts val="0"/>
              </a:spcBef>
              <a:spcAft>
                <a:spcPts val="400"/>
              </a:spcAft>
            </a:pPr>
            <a:r>
              <a:rPr sz="1400" b="0" i="0">
                <a:solidFill>
                  <a:srgbClr val="9FB6D1"/>
                </a:solidFill>
                <a:latin typeface="Calibri"/>
              </a:rPr>
              <a:t>Tutor: Daniel Sánchez García  ·  Ponente: Álvaro Araujo Pinto</a:t>
            </a:r>
          </a:p>
          <a:p>
            <a:pPr>
              <a:lnSpc>
                <a:spcPct val="108000"/>
              </a:lnSpc>
              <a:spcBef>
                <a:spcPts val="0"/>
              </a:spcBef>
              <a:spcAft>
                <a:spcPts val="0"/>
              </a:spcAft>
            </a:pPr>
            <a:r>
              <a:rPr sz="1400" b="0" i="0">
                <a:solidFill>
                  <a:srgbClr val="9FB6D1"/>
                </a:solidFill>
                <a:latin typeface="Calibri"/>
              </a:rPr>
              <a:t>B105 Electronic Systems Lab  ·  Departamento de Ingeniería Electrónica  ·  ETSIT-UPM</a:t>
            </a:r>
          </a:p>
        </p:txBody>
      </p:sp>
      <p:pic>
        <p:nvPicPr>
          <p:cNvPr id="7" name="Picture 6" descr="logo_etsit_blanco.png"/>
          <p:cNvPicPr>
            <a:picLocks noChangeAspect="1"/>
          </p:cNvPicPr>
          <p:nvPr/>
        </p:nvPicPr>
        <p:blipFill>
          <a:blip r:embed="rId3"/>
          <a:stretch>
            <a:fillRect/>
          </a:stretch>
        </p:blipFill>
        <p:spPr>
          <a:xfrm>
            <a:off x="8899855" y="5206264"/>
            <a:ext cx="2377440" cy="74315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788920"/>
            <a:ext cx="8229600" cy="1280160"/>
          </a:xfrm>
          <a:prstGeom prst="rect">
            <a:avLst/>
          </a:prstGeom>
          <a:noFill/>
        </p:spPr>
        <p:txBody>
          <a:bodyPr wrap="square" lIns="0" tIns="0" rIns="0" bIns="0" anchor="t">
            <a:spAutoFit/>
          </a:bodyPr>
          <a:lstStyle/>
          <a:p>
            <a:pPr algn="l">
              <a:lnSpc>
                <a:spcPct val="108000"/>
              </a:lnSpc>
              <a:spcBef>
                <a:spcPts val="0"/>
              </a:spcBef>
              <a:spcAft>
                <a:spcPts val="1000"/>
              </a:spcAft>
            </a:pPr>
            <a:r>
              <a:rPr sz="3400" b="1" i="0">
                <a:solidFill>
                  <a:srgbClr val="12345C"/>
                </a:solidFill>
                <a:latin typeface="Calibri"/>
              </a:rPr>
              <a:t>Diapositivas de reserva</a:t>
            </a:r>
          </a:p>
          <a:p>
            <a:pPr>
              <a:lnSpc>
                <a:spcPct val="108000"/>
              </a:lnSpc>
              <a:spcBef>
                <a:spcPts val="0"/>
              </a:spcBef>
              <a:spcAft>
                <a:spcPts val="0"/>
              </a:spcAft>
            </a:pPr>
            <a:r>
              <a:rPr sz="1700" b="0" i="0">
                <a:solidFill>
                  <a:srgbClr val="62707E"/>
                </a:solidFill>
                <a:latin typeface="Calibri"/>
              </a:rPr>
              <a:t>Material de apoyo para el turno de preguntas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prep_2600_diagrama_topologia_rs485.jpg"/>
          <p:cNvPicPr>
            <a:picLocks noChangeAspect="1"/>
          </p:cNvPicPr>
          <p:nvPr/>
        </p:nvPicPr>
        <p:blipFill>
          <a:blip r:embed="rId3"/>
          <a:stretch>
            <a:fillRect/>
          </a:stretch>
        </p:blipFill>
        <p:spPr>
          <a:xfrm>
            <a:off x="0" y="976495"/>
            <a:ext cx="12191695" cy="4905010"/>
          </a:xfrm>
          <a:prstGeom prst="rect">
            <a:avLst/>
          </a:prstGeom>
        </p:spPr>
      </p:pic>
      <p:sp>
        <p:nvSpPr>
          <p:cNvPr id="4" name="Rectangle 3"/>
          <p:cNvSpPr/>
          <p:nvPr/>
        </p:nvSpPr>
        <p:spPr>
          <a:xfrm>
            <a:off x="384048" y="6016752"/>
            <a:ext cx="3544208"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016752"/>
            <a:ext cx="3178448"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Bus A de la placa serie: 7 nodos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prep_2600_diagrama_topologia_rs422.jpg"/>
          <p:cNvPicPr>
            <a:picLocks noChangeAspect="1"/>
          </p:cNvPicPr>
          <p:nvPr/>
        </p:nvPicPr>
        <p:blipFill>
          <a:blip r:embed="rId3"/>
          <a:stretch>
            <a:fillRect/>
          </a:stretch>
        </p:blipFill>
        <p:spPr>
          <a:xfrm>
            <a:off x="0" y="532319"/>
            <a:ext cx="12191695" cy="5793362"/>
          </a:xfrm>
          <a:prstGeom prst="rect">
            <a:avLst/>
          </a:prstGeom>
        </p:spPr>
      </p:pic>
      <p:sp>
        <p:nvSpPr>
          <p:cNvPr id="4" name="Rectangle 3"/>
          <p:cNvSpPr/>
          <p:nvPr/>
        </p:nvSpPr>
        <p:spPr>
          <a:xfrm>
            <a:off x="384048" y="6016752"/>
            <a:ext cx="3247943" cy="420624"/>
          </a:xfrm>
          <a:prstGeom prst="rect">
            <a:avLst/>
          </a:prstGeom>
          <a:solidFill>
            <a:srgbClr val="0B1E36">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016752"/>
            <a:ext cx="2882183" cy="420624"/>
          </a:xfrm>
          <a:prstGeom prst="rect">
            <a:avLst/>
          </a:prstGeom>
          <a:noFill/>
        </p:spPr>
        <p:txBody>
          <a:bodyPr wrap="square" lIns="0" tIns="0" rIns="0" bIns="0" anchor="ctr">
            <a:spAutoFit/>
          </a:bodyPr>
          <a:lstStyle/>
          <a:p>
            <a:pPr algn="l">
              <a:lnSpc>
                <a:spcPct val="108000"/>
              </a:lnSpc>
              <a:spcBef>
                <a:spcPts val="0"/>
              </a:spcBef>
              <a:spcAft>
                <a:spcPts val="0"/>
              </a:spcAft>
            </a:pPr>
            <a:r>
              <a:rPr sz="1500" b="1" i="0">
                <a:solidFill>
                  <a:srgbClr val="FFFFFF"/>
                </a:solidFill>
                <a:latin typeface="Calibri"/>
              </a:rPr>
              <a:t>Buses B y C de la placa serie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RESERVA</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Coste de software y latencia por variante</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700784"/>
            <a:ext cx="10874959"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00784"/>
            <a:ext cx="1670143"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Variante</a:t>
            </a:r>
          </a:p>
        </p:txBody>
      </p:sp>
      <p:sp>
        <p:nvSpPr>
          <p:cNvPr id="7" name="TextBox 6"/>
          <p:cNvSpPr txBox="1"/>
          <p:nvPr/>
        </p:nvSpPr>
        <p:spPr>
          <a:xfrm>
            <a:off x="2685127" y="1700784"/>
            <a:ext cx="1574749"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Código</a:t>
            </a:r>
          </a:p>
        </p:txBody>
      </p:sp>
      <p:sp>
        <p:nvSpPr>
          <p:cNvPr id="8" name="TextBox 7"/>
          <p:cNvSpPr txBox="1"/>
          <p:nvPr/>
        </p:nvSpPr>
        <p:spPr>
          <a:xfrm>
            <a:off x="4497620" y="1700784"/>
            <a:ext cx="1956326"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RAM driver</a:t>
            </a:r>
          </a:p>
        </p:txBody>
      </p:sp>
      <p:sp>
        <p:nvSpPr>
          <p:cNvPr id="9" name="TextBox 8"/>
          <p:cNvSpPr txBox="1"/>
          <p:nvPr/>
        </p:nvSpPr>
        <p:spPr>
          <a:xfrm>
            <a:off x="6691690" y="1700784"/>
            <a:ext cx="1479354"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Líneas IRQ</a:t>
            </a:r>
          </a:p>
        </p:txBody>
      </p:sp>
      <p:sp>
        <p:nvSpPr>
          <p:cNvPr id="10" name="TextBox 9"/>
          <p:cNvSpPr txBox="1"/>
          <p:nvPr/>
        </p:nvSpPr>
        <p:spPr>
          <a:xfrm>
            <a:off x="8408788" y="1700784"/>
            <a:ext cx="1288566"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Tareas</a:t>
            </a:r>
          </a:p>
        </p:txBody>
      </p:sp>
      <p:sp>
        <p:nvSpPr>
          <p:cNvPr id="11" name="TextBox 10"/>
          <p:cNvSpPr txBox="1"/>
          <p:nvPr/>
        </p:nvSpPr>
        <p:spPr>
          <a:xfrm>
            <a:off x="9935098" y="1700784"/>
            <a:ext cx="1479354"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Semáforos</a:t>
            </a:r>
          </a:p>
        </p:txBody>
      </p:sp>
      <p:sp>
        <p:nvSpPr>
          <p:cNvPr id="12" name="Rectangle 11"/>
          <p:cNvSpPr/>
          <p:nvPr/>
        </p:nvSpPr>
        <p:spPr>
          <a:xfrm>
            <a:off x="658368" y="2066544"/>
            <a:ext cx="1087495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066544"/>
            <a:ext cx="1670143"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GPIO</a:t>
            </a:r>
          </a:p>
        </p:txBody>
      </p:sp>
      <p:sp>
        <p:nvSpPr>
          <p:cNvPr id="14" name="TextBox 13"/>
          <p:cNvSpPr txBox="1"/>
          <p:nvPr/>
        </p:nvSpPr>
        <p:spPr>
          <a:xfrm>
            <a:off x="2685127" y="2066544"/>
            <a:ext cx="1574749"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3.099 B</a:t>
            </a:r>
          </a:p>
        </p:txBody>
      </p:sp>
      <p:sp>
        <p:nvSpPr>
          <p:cNvPr id="15" name="TextBox 14"/>
          <p:cNvSpPr txBox="1"/>
          <p:nvPr/>
        </p:nvSpPr>
        <p:spPr>
          <a:xfrm>
            <a:off x="4497620" y="2066544"/>
            <a:ext cx="195632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114.688 B</a:t>
            </a:r>
          </a:p>
        </p:txBody>
      </p:sp>
      <p:sp>
        <p:nvSpPr>
          <p:cNvPr id="16" name="TextBox 15"/>
          <p:cNvSpPr txBox="1"/>
          <p:nvPr/>
        </p:nvSpPr>
        <p:spPr>
          <a:xfrm>
            <a:off x="6691690" y="2066544"/>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a:t>
            </a:r>
          </a:p>
        </p:txBody>
      </p:sp>
      <p:sp>
        <p:nvSpPr>
          <p:cNvPr id="17" name="TextBox 16"/>
          <p:cNvSpPr txBox="1"/>
          <p:nvPr/>
        </p:nvSpPr>
        <p:spPr>
          <a:xfrm>
            <a:off x="8408788" y="2066544"/>
            <a:ext cx="128856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14</a:t>
            </a:r>
          </a:p>
        </p:txBody>
      </p:sp>
      <p:sp>
        <p:nvSpPr>
          <p:cNvPr id="18" name="TextBox 17"/>
          <p:cNvSpPr txBox="1"/>
          <p:nvPr/>
        </p:nvSpPr>
        <p:spPr>
          <a:xfrm>
            <a:off x="9935098" y="2066544"/>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28</a:t>
            </a:r>
          </a:p>
        </p:txBody>
      </p:sp>
      <p:sp>
        <p:nvSpPr>
          <p:cNvPr id="19" name="Rectangle 18"/>
          <p:cNvSpPr/>
          <p:nvPr/>
        </p:nvSpPr>
        <p:spPr>
          <a:xfrm>
            <a:off x="658368" y="2450592"/>
            <a:ext cx="1087495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2450592"/>
            <a:ext cx="1670143"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F2933"/>
                </a:solidFill>
                <a:latin typeface="Calibri"/>
              </a:rPr>
              <a:t>DMA14</a:t>
            </a:r>
          </a:p>
        </p:txBody>
      </p:sp>
      <p:sp>
        <p:nvSpPr>
          <p:cNvPr id="21" name="TextBox 20"/>
          <p:cNvSpPr txBox="1"/>
          <p:nvPr/>
        </p:nvSpPr>
        <p:spPr>
          <a:xfrm>
            <a:off x="2685127" y="2450592"/>
            <a:ext cx="1574749"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3.036 B</a:t>
            </a:r>
          </a:p>
        </p:txBody>
      </p:sp>
      <p:sp>
        <p:nvSpPr>
          <p:cNvPr id="22" name="TextBox 21"/>
          <p:cNvSpPr txBox="1"/>
          <p:nvPr/>
        </p:nvSpPr>
        <p:spPr>
          <a:xfrm>
            <a:off x="4497620" y="2450592"/>
            <a:ext cx="195632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115.584 B</a:t>
            </a:r>
          </a:p>
        </p:txBody>
      </p:sp>
      <p:sp>
        <p:nvSpPr>
          <p:cNvPr id="23" name="TextBox 22"/>
          <p:cNvSpPr txBox="1"/>
          <p:nvPr/>
        </p:nvSpPr>
        <p:spPr>
          <a:xfrm>
            <a:off x="6691690" y="2450592"/>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2</a:t>
            </a:r>
          </a:p>
        </p:txBody>
      </p:sp>
      <p:sp>
        <p:nvSpPr>
          <p:cNvPr id="24" name="TextBox 23"/>
          <p:cNvSpPr txBox="1"/>
          <p:nvPr/>
        </p:nvSpPr>
        <p:spPr>
          <a:xfrm>
            <a:off x="8408788" y="2450592"/>
            <a:ext cx="128856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a:t>
            </a:r>
          </a:p>
        </p:txBody>
      </p:sp>
      <p:sp>
        <p:nvSpPr>
          <p:cNvPr id="25" name="TextBox 24"/>
          <p:cNvSpPr txBox="1"/>
          <p:nvPr/>
        </p:nvSpPr>
        <p:spPr>
          <a:xfrm>
            <a:off x="9935098" y="2450592"/>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0" i="0">
                <a:solidFill>
                  <a:srgbClr val="1F2933"/>
                </a:solidFill>
                <a:latin typeface="Calibri"/>
              </a:rPr>
              <a:t>15</a:t>
            </a:r>
          </a:p>
        </p:txBody>
      </p:sp>
      <p:sp>
        <p:nvSpPr>
          <p:cNvPr id="26" name="Rectangle 25"/>
          <p:cNvSpPr/>
          <p:nvPr/>
        </p:nvSpPr>
        <p:spPr>
          <a:xfrm>
            <a:off x="658368" y="2834640"/>
            <a:ext cx="10874959" cy="384048"/>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58368" y="2834640"/>
            <a:ext cx="40640" cy="384048"/>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2834640"/>
            <a:ext cx="1670143" cy="384048"/>
          </a:xfrm>
          <a:prstGeom prst="rect">
            <a:avLst/>
          </a:prstGeom>
          <a:noFill/>
        </p:spPr>
        <p:txBody>
          <a:bodyPr wrap="square" lIns="0" tIns="0" rIns="0" bIns="0" anchor="ctr">
            <a:spAutoFit/>
          </a:bodyPr>
          <a:lstStyle/>
          <a:p>
            <a:pPr algn="l">
              <a:lnSpc>
                <a:spcPct val="108000"/>
              </a:lnSpc>
              <a:spcBef>
                <a:spcPts val="0"/>
              </a:spcBef>
              <a:spcAft>
                <a:spcPts val="0"/>
              </a:spcAft>
            </a:pPr>
            <a:r>
              <a:rPr sz="1350" b="1" i="0">
                <a:solidFill>
                  <a:srgbClr val="1E63A8"/>
                </a:solidFill>
                <a:latin typeface="Calibri"/>
              </a:rPr>
              <a:t>MCDMA</a:t>
            </a:r>
          </a:p>
        </p:txBody>
      </p:sp>
      <p:sp>
        <p:nvSpPr>
          <p:cNvPr id="29" name="TextBox 28"/>
          <p:cNvSpPr txBox="1"/>
          <p:nvPr/>
        </p:nvSpPr>
        <p:spPr>
          <a:xfrm>
            <a:off x="2685127" y="2834640"/>
            <a:ext cx="1574749"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3.884 B</a:t>
            </a:r>
          </a:p>
        </p:txBody>
      </p:sp>
      <p:sp>
        <p:nvSpPr>
          <p:cNvPr id="30" name="TextBox 29"/>
          <p:cNvSpPr txBox="1"/>
          <p:nvPr/>
        </p:nvSpPr>
        <p:spPr>
          <a:xfrm>
            <a:off x="4497620" y="2834640"/>
            <a:ext cx="195632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122.434 B</a:t>
            </a:r>
          </a:p>
        </p:txBody>
      </p:sp>
      <p:sp>
        <p:nvSpPr>
          <p:cNvPr id="31" name="TextBox 30"/>
          <p:cNvSpPr txBox="1"/>
          <p:nvPr/>
        </p:nvSpPr>
        <p:spPr>
          <a:xfrm>
            <a:off x="6691690" y="2834640"/>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3</a:t>
            </a:r>
          </a:p>
        </p:txBody>
      </p:sp>
      <p:sp>
        <p:nvSpPr>
          <p:cNvPr id="32" name="TextBox 31"/>
          <p:cNvSpPr txBox="1"/>
          <p:nvPr/>
        </p:nvSpPr>
        <p:spPr>
          <a:xfrm>
            <a:off x="8408788" y="2834640"/>
            <a:ext cx="1288566"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1</a:t>
            </a:r>
          </a:p>
        </p:txBody>
      </p:sp>
      <p:sp>
        <p:nvSpPr>
          <p:cNvPr id="33" name="TextBox 32"/>
          <p:cNvSpPr txBox="1"/>
          <p:nvPr/>
        </p:nvSpPr>
        <p:spPr>
          <a:xfrm>
            <a:off x="9935098" y="2834640"/>
            <a:ext cx="1479354" cy="384048"/>
          </a:xfrm>
          <a:prstGeom prst="rect">
            <a:avLst/>
          </a:prstGeom>
          <a:noFill/>
        </p:spPr>
        <p:txBody>
          <a:bodyPr wrap="square" lIns="0" tIns="0" rIns="0" bIns="0" anchor="ctr">
            <a:spAutoFit/>
          </a:bodyPr>
          <a:lstStyle/>
          <a:p>
            <a:pPr algn="ctr">
              <a:lnSpc>
                <a:spcPct val="108000"/>
              </a:lnSpc>
              <a:spcBef>
                <a:spcPts val="0"/>
              </a:spcBef>
              <a:spcAft>
                <a:spcPts val="0"/>
              </a:spcAft>
            </a:pPr>
            <a:r>
              <a:rPr sz="1350" b="1" i="0">
                <a:solidFill>
                  <a:srgbClr val="1E63A8"/>
                </a:solidFill>
                <a:latin typeface="Calibri"/>
              </a:rPr>
              <a:t>17</a:t>
            </a:r>
          </a:p>
        </p:txBody>
      </p:sp>
      <p:sp>
        <p:nvSpPr>
          <p:cNvPr id="34" name="TextBox 33"/>
          <p:cNvSpPr txBox="1"/>
          <p:nvPr/>
        </p:nvSpPr>
        <p:spPr>
          <a:xfrm>
            <a:off x="658368" y="3621024"/>
            <a:ext cx="10874959" cy="914400"/>
          </a:xfrm>
          <a:prstGeom prst="rect">
            <a:avLst/>
          </a:prstGeom>
          <a:noFill/>
        </p:spPr>
        <p:txBody>
          <a:bodyPr wrap="square" lIns="0" tIns="0" rIns="0" bIns="0" anchor="t">
            <a:spAutoFit/>
          </a:bodyPr>
          <a:lstStyle/>
          <a:p>
            <a:pPr algn="l">
              <a:lnSpc>
                <a:spcPct val="110000"/>
              </a:lnSpc>
              <a:spcBef>
                <a:spcPts val="0"/>
              </a:spcBef>
              <a:spcAft>
                <a:spcPts val="1000"/>
              </a:spcAft>
            </a:pPr>
            <a:r>
              <a:rPr sz="1400" b="1" i="0">
                <a:solidFill>
                  <a:srgbClr val="E09B2D"/>
                </a:solidFill>
                <a:latin typeface="Calibri"/>
              </a:rPr>
              <a:t>▪  </a:t>
            </a:r>
            <a:r>
              <a:rPr sz="1400" b="1" i="0">
                <a:solidFill>
                  <a:srgbClr val="12345C"/>
                </a:solidFill>
                <a:latin typeface="Calibri"/>
              </a:rPr>
              <a:t>Memoria total similar · </a:t>
            </a:r>
            <a:r>
              <a:rPr sz="1400" b="0" i="0">
                <a:solidFill>
                  <a:srgbClr val="1F2933"/>
                </a:solidFill>
                <a:latin typeface="Calibri"/>
              </a:rPr>
              <a:t>112–120 KB, dominada por los buffers de 4 KB por canal.</a:t>
            </a:r>
          </a:p>
          <a:p>
            <a:pPr>
              <a:lnSpc>
                <a:spcPct val="110000"/>
              </a:lnSpc>
              <a:spcBef>
                <a:spcPts val="0"/>
              </a:spcBef>
              <a:spcAft>
                <a:spcPts val="1000"/>
              </a:spcAft>
            </a:pPr>
            <a:r>
              <a:rPr sz="1400" b="1" i="0">
                <a:solidFill>
                  <a:srgbClr val="E09B2D"/>
                </a:solidFill>
                <a:latin typeface="Calibri"/>
              </a:rPr>
              <a:t>▪  </a:t>
            </a:r>
            <a:r>
              <a:rPr sz="1400" b="1" i="0">
                <a:solidFill>
                  <a:srgbClr val="12345C"/>
                </a:solidFill>
                <a:latin typeface="Calibri"/>
              </a:rPr>
              <a:t>Diferencia clave · </a:t>
            </a:r>
            <a:r>
              <a:rPr sz="1400" b="0" i="0">
                <a:solidFill>
                  <a:srgbClr val="1F2933"/>
                </a:solidFill>
                <a:latin typeface="Calibri"/>
              </a:rPr>
              <a:t>GPIO necesita una tarea de recepción por canal (14 tareas, 28 semáforos); las variantes con DMA operan con una sola tarea de despacho.</a:t>
            </a:r>
          </a:p>
        </p:txBody>
      </p:sp>
      <p:pic>
        <p:nvPicPr>
          <p:cNvPr id="35" name="Picture 34" descr="chart_latencia.png"/>
          <p:cNvPicPr>
            <a:picLocks noChangeAspect="1"/>
          </p:cNvPicPr>
          <p:nvPr/>
        </p:nvPicPr>
        <p:blipFill>
          <a:blip r:embed="rId3"/>
          <a:stretch>
            <a:fillRect/>
          </a:stretch>
        </p:blipFill>
        <p:spPr>
          <a:xfrm>
            <a:off x="3368487" y="4334256"/>
            <a:ext cx="5454720" cy="1874519"/>
          </a:xfrm>
          <a:prstGeom prst="rect">
            <a:avLst/>
          </a:prstGeom>
        </p:spPr>
      </p:pic>
      <p:sp>
        <p:nvSpPr>
          <p:cNvPr id="36" name="TextBox 35"/>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Reserva  ·  trama de 11 B, 50 muestras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420624"/>
            <a:ext cx="10874959" cy="256032"/>
          </a:xfrm>
          <a:prstGeom prst="rect">
            <a:avLst/>
          </a:prstGeom>
          <a:noFill/>
        </p:spPr>
        <p:txBody>
          <a:bodyPr wrap="square" lIns="0" tIns="0" rIns="0" bIns="0" anchor="t">
            <a:spAutoFit/>
          </a:bodyPr>
          <a:lstStyle/>
          <a:p>
            <a:pPr algn="l">
              <a:lnSpc>
                <a:spcPct val="108000"/>
              </a:lnSpc>
              <a:spcBef>
                <a:spcPts val="0"/>
              </a:spcBef>
              <a:spcAft>
                <a:spcPts val="0"/>
              </a:spcAft>
            </a:pPr>
            <a:r>
              <a:rPr sz="1250" b="1" i="0">
                <a:solidFill>
                  <a:srgbClr val="E09B2D"/>
                </a:solidFill>
                <a:latin typeface="Calibri"/>
              </a:rPr>
              <a:t>RESERVA</a:t>
            </a:r>
          </a:p>
        </p:txBody>
      </p:sp>
      <p:sp>
        <p:nvSpPr>
          <p:cNvPr id="3" name="TextBox 2"/>
          <p:cNvSpPr txBox="1"/>
          <p:nvPr/>
        </p:nvSpPr>
        <p:spPr>
          <a:xfrm>
            <a:off x="658368" y="713232"/>
            <a:ext cx="10051999" cy="566928"/>
          </a:xfrm>
          <a:prstGeom prst="rect">
            <a:avLst/>
          </a:prstGeom>
          <a:noFill/>
        </p:spPr>
        <p:txBody>
          <a:bodyPr wrap="square" lIns="0" tIns="0" rIns="0" bIns="0" anchor="t">
            <a:spAutoFit/>
          </a:bodyPr>
          <a:lstStyle/>
          <a:p>
            <a:pPr algn="l">
              <a:lnSpc>
                <a:spcPct val="108000"/>
              </a:lnSpc>
              <a:spcBef>
                <a:spcPts val="0"/>
              </a:spcBef>
              <a:spcAft>
                <a:spcPts val="0"/>
              </a:spcAft>
            </a:pPr>
            <a:r>
              <a:rPr sz="3000" b="1" i="0">
                <a:solidFill>
                  <a:srgbClr val="12345C"/>
                </a:solidFill>
                <a:latin typeface="Calibri"/>
              </a:rPr>
              <a:t>Presupuesto y coste energético</a:t>
            </a:r>
          </a:p>
        </p:txBody>
      </p:sp>
      <p:sp>
        <p:nvSpPr>
          <p:cNvPr id="4" name="Rectangle 3"/>
          <p:cNvSpPr/>
          <p:nvPr/>
        </p:nvSpPr>
        <p:spPr>
          <a:xfrm>
            <a:off x="658368" y="1389888"/>
            <a:ext cx="1005840" cy="40640"/>
          </a:xfrm>
          <a:prstGeom prst="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700784"/>
            <a:ext cx="5669280"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0078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Partida</a:t>
            </a:r>
          </a:p>
        </p:txBody>
      </p:sp>
      <p:sp>
        <p:nvSpPr>
          <p:cNvPr id="7" name="TextBox 6"/>
          <p:cNvSpPr txBox="1"/>
          <p:nvPr/>
        </p:nvSpPr>
        <p:spPr>
          <a:xfrm>
            <a:off x="4421777" y="170078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Importe</a:t>
            </a:r>
          </a:p>
        </p:txBody>
      </p:sp>
      <p:sp>
        <p:nvSpPr>
          <p:cNvPr id="8" name="Rectangle 7"/>
          <p:cNvSpPr/>
          <p:nvPr/>
        </p:nvSpPr>
        <p:spPr>
          <a:xfrm>
            <a:off x="658368" y="2066544"/>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06654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Mano de obra (beca real)</a:t>
            </a:r>
          </a:p>
        </p:txBody>
      </p:sp>
      <p:sp>
        <p:nvSpPr>
          <p:cNvPr id="10" name="TextBox 9"/>
          <p:cNvSpPr txBox="1"/>
          <p:nvPr/>
        </p:nvSpPr>
        <p:spPr>
          <a:xfrm>
            <a:off x="4421777" y="206654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5.000,00 €</a:t>
            </a:r>
          </a:p>
        </p:txBody>
      </p:sp>
      <p:sp>
        <p:nvSpPr>
          <p:cNvPr id="11" name="Rectangle 10"/>
          <p:cNvSpPr/>
          <p:nvPr/>
        </p:nvSpPr>
        <p:spPr>
          <a:xfrm>
            <a:off x="658368" y="2432304"/>
            <a:ext cx="5669280" cy="3657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43230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Recursos materiales amortizados</a:t>
            </a:r>
          </a:p>
        </p:txBody>
      </p:sp>
      <p:sp>
        <p:nvSpPr>
          <p:cNvPr id="13" name="TextBox 12"/>
          <p:cNvSpPr txBox="1"/>
          <p:nvPr/>
        </p:nvSpPr>
        <p:spPr>
          <a:xfrm>
            <a:off x="4421777" y="243230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4.002,72 €</a:t>
            </a:r>
          </a:p>
        </p:txBody>
      </p:sp>
      <p:sp>
        <p:nvSpPr>
          <p:cNvPr id="14" name="Rectangle 13"/>
          <p:cNvSpPr/>
          <p:nvPr/>
        </p:nvSpPr>
        <p:spPr>
          <a:xfrm>
            <a:off x="658368" y="2798064"/>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79806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Gastos generales (15 % s/ CD)</a:t>
            </a:r>
          </a:p>
        </p:txBody>
      </p:sp>
      <p:sp>
        <p:nvSpPr>
          <p:cNvPr id="16" name="TextBox 15"/>
          <p:cNvSpPr txBox="1"/>
          <p:nvPr/>
        </p:nvSpPr>
        <p:spPr>
          <a:xfrm>
            <a:off x="4421777" y="279806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1.350,41 €</a:t>
            </a:r>
          </a:p>
        </p:txBody>
      </p:sp>
      <p:sp>
        <p:nvSpPr>
          <p:cNvPr id="17" name="Rectangle 16"/>
          <p:cNvSpPr/>
          <p:nvPr/>
        </p:nvSpPr>
        <p:spPr>
          <a:xfrm>
            <a:off x="658368" y="3163824"/>
            <a:ext cx="5669280" cy="3657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16382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Beneficio industrial (6 %)</a:t>
            </a:r>
          </a:p>
        </p:txBody>
      </p:sp>
      <p:sp>
        <p:nvSpPr>
          <p:cNvPr id="19" name="TextBox 18"/>
          <p:cNvSpPr txBox="1"/>
          <p:nvPr/>
        </p:nvSpPr>
        <p:spPr>
          <a:xfrm>
            <a:off x="4421777" y="316382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621,19 €</a:t>
            </a:r>
          </a:p>
        </p:txBody>
      </p:sp>
      <p:sp>
        <p:nvSpPr>
          <p:cNvPr id="20" name="Rectangle 19"/>
          <p:cNvSpPr/>
          <p:nvPr/>
        </p:nvSpPr>
        <p:spPr>
          <a:xfrm>
            <a:off x="658368" y="3529584"/>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52958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Material fungible</a:t>
            </a:r>
          </a:p>
        </p:txBody>
      </p:sp>
      <p:sp>
        <p:nvSpPr>
          <p:cNvPr id="22" name="TextBox 21"/>
          <p:cNvSpPr txBox="1"/>
          <p:nvPr/>
        </p:nvSpPr>
        <p:spPr>
          <a:xfrm>
            <a:off x="4421777" y="352958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1.442,92 €</a:t>
            </a:r>
          </a:p>
        </p:txBody>
      </p:sp>
      <p:sp>
        <p:nvSpPr>
          <p:cNvPr id="23" name="Rectangle 22"/>
          <p:cNvSpPr/>
          <p:nvPr/>
        </p:nvSpPr>
        <p:spPr>
          <a:xfrm>
            <a:off x="658368" y="3895344"/>
            <a:ext cx="5669280" cy="3657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389534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IVA (21 %)</a:t>
            </a:r>
          </a:p>
        </p:txBody>
      </p:sp>
      <p:sp>
        <p:nvSpPr>
          <p:cNvPr id="25" name="TextBox 24"/>
          <p:cNvSpPr txBox="1"/>
          <p:nvPr/>
        </p:nvSpPr>
        <p:spPr>
          <a:xfrm>
            <a:off x="4421777" y="389534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2.607,62 €</a:t>
            </a:r>
          </a:p>
        </p:txBody>
      </p:sp>
      <p:sp>
        <p:nvSpPr>
          <p:cNvPr id="26" name="Rectangle 25"/>
          <p:cNvSpPr/>
          <p:nvPr/>
        </p:nvSpPr>
        <p:spPr>
          <a:xfrm>
            <a:off x="658368" y="4261104"/>
            <a:ext cx="5669280" cy="36576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58368" y="4261104"/>
            <a:ext cx="40640" cy="365760"/>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4261104"/>
            <a:ext cx="3406793" cy="365760"/>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E63A8"/>
                </a:solidFill>
                <a:latin typeface="Calibri"/>
              </a:rPr>
              <a:t>TOTAL</a:t>
            </a:r>
          </a:p>
        </p:txBody>
      </p:sp>
      <p:sp>
        <p:nvSpPr>
          <p:cNvPr id="29" name="TextBox 28"/>
          <p:cNvSpPr txBox="1"/>
          <p:nvPr/>
        </p:nvSpPr>
        <p:spPr>
          <a:xfrm>
            <a:off x="4421777" y="4261104"/>
            <a:ext cx="1786998" cy="365760"/>
          </a:xfrm>
          <a:prstGeom prst="rect">
            <a:avLst/>
          </a:prstGeom>
          <a:noFill/>
        </p:spPr>
        <p:txBody>
          <a:bodyPr wrap="square" lIns="0" tIns="0" rIns="0" bIns="0" anchor="ctr">
            <a:spAutoFit/>
          </a:bodyPr>
          <a:lstStyle/>
          <a:p>
            <a:pPr algn="ctr">
              <a:lnSpc>
                <a:spcPct val="108000"/>
              </a:lnSpc>
              <a:spcBef>
                <a:spcPts val="0"/>
              </a:spcBef>
              <a:spcAft>
                <a:spcPts val="0"/>
              </a:spcAft>
            </a:pPr>
            <a:r>
              <a:rPr sz="1300" b="1" i="0">
                <a:solidFill>
                  <a:srgbClr val="1E63A8"/>
                </a:solidFill>
                <a:latin typeface="Calibri"/>
              </a:rPr>
              <a:t>15.024,86 €</a:t>
            </a:r>
          </a:p>
        </p:txBody>
      </p:sp>
      <p:sp>
        <p:nvSpPr>
          <p:cNvPr id="30" name="TextBox 29"/>
          <p:cNvSpPr txBox="1"/>
          <p:nvPr/>
        </p:nvSpPr>
        <p:spPr>
          <a:xfrm>
            <a:off x="658368" y="4764024"/>
            <a:ext cx="5669280" cy="822960"/>
          </a:xfrm>
          <a:prstGeom prst="rect">
            <a:avLst/>
          </a:prstGeom>
          <a:noFill/>
        </p:spPr>
        <p:txBody>
          <a:bodyPr wrap="square" lIns="0" tIns="0" rIns="0" bIns="0" anchor="t">
            <a:spAutoFit/>
          </a:bodyPr>
          <a:lstStyle/>
          <a:p>
            <a:pPr algn="l">
              <a:lnSpc>
                <a:spcPct val="114000"/>
              </a:lnSpc>
              <a:spcBef>
                <a:spcPts val="0"/>
              </a:spcBef>
              <a:spcAft>
                <a:spcPts val="0"/>
              </a:spcAft>
            </a:pPr>
            <a:r>
              <a:rPr sz="1300" b="0" i="1">
                <a:solidFill>
                  <a:srgbClr val="62707E"/>
                </a:solidFill>
                <a:latin typeface="Calibri"/>
              </a:rPr>
              <a:t>Con tarifa de mercado de ingeniero junior (30 €/h sobre 800 h equivalentes) el total rondaría los 43.000 €.</a:t>
            </a:r>
          </a:p>
        </p:txBody>
      </p:sp>
      <p:sp>
        <p:nvSpPr>
          <p:cNvPr id="31" name="TextBox 30"/>
          <p:cNvSpPr txBox="1"/>
          <p:nvPr/>
        </p:nvSpPr>
        <p:spPr>
          <a:xfrm>
            <a:off x="6693408" y="1627632"/>
            <a:ext cx="4839919" cy="292608"/>
          </a:xfrm>
          <a:prstGeom prst="rect">
            <a:avLst/>
          </a:prstGeom>
          <a:noFill/>
        </p:spPr>
        <p:txBody>
          <a:bodyPr wrap="square" lIns="0" tIns="0" rIns="0" bIns="0" anchor="t">
            <a:spAutoFit/>
          </a:bodyPr>
          <a:lstStyle/>
          <a:p>
            <a:pPr algn="l">
              <a:lnSpc>
                <a:spcPct val="108000"/>
              </a:lnSpc>
              <a:spcBef>
                <a:spcPts val="0"/>
              </a:spcBef>
              <a:spcAft>
                <a:spcPts val="0"/>
              </a:spcAft>
            </a:pPr>
            <a:r>
              <a:rPr sz="1200" b="1" i="0">
                <a:solidFill>
                  <a:srgbClr val="E09B2D"/>
                </a:solidFill>
                <a:latin typeface="Calibri"/>
              </a:rPr>
              <a:t>ENERGÍA POR BYTE ÚTIL · 6 RECEPTORES SIMULTÁNEOS</a:t>
            </a:r>
          </a:p>
        </p:txBody>
      </p:sp>
      <p:sp>
        <p:nvSpPr>
          <p:cNvPr id="32" name="Rectangle 31"/>
          <p:cNvSpPr/>
          <p:nvPr/>
        </p:nvSpPr>
        <p:spPr>
          <a:xfrm>
            <a:off x="6693408" y="1975104"/>
            <a:ext cx="4839919" cy="365760"/>
          </a:xfrm>
          <a:prstGeom prst="rect">
            <a:avLst/>
          </a:prstGeom>
          <a:solidFill>
            <a:srgbClr val="123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12280" y="1975104"/>
            <a:ext cx="908552" cy="365760"/>
          </a:xfrm>
          <a:prstGeom prst="rect">
            <a:avLst/>
          </a:prstGeom>
          <a:noFill/>
        </p:spPr>
        <p:txBody>
          <a:bodyPr wrap="square" lIns="0" tIns="0" rIns="0" bIns="0" anchor="ctr">
            <a:spAutoFit/>
          </a:bodyPr>
          <a:lstStyle/>
          <a:p>
            <a:pPr algn="l">
              <a:lnSpc>
                <a:spcPct val="108000"/>
              </a:lnSpc>
              <a:spcBef>
                <a:spcPts val="0"/>
              </a:spcBef>
              <a:spcAft>
                <a:spcPts val="0"/>
              </a:spcAft>
            </a:pPr>
            <a:r>
              <a:rPr sz="1200" b="1" i="0">
                <a:solidFill>
                  <a:srgbClr val="FFFFFF"/>
                </a:solidFill>
                <a:latin typeface="Calibri"/>
              </a:rPr>
              <a:t>Variante</a:t>
            </a:r>
          </a:p>
        </p:txBody>
      </p:sp>
      <p:sp>
        <p:nvSpPr>
          <p:cNvPr id="34" name="TextBox 33"/>
          <p:cNvSpPr txBox="1"/>
          <p:nvPr/>
        </p:nvSpPr>
        <p:spPr>
          <a:xfrm>
            <a:off x="7958576" y="1975104"/>
            <a:ext cx="908552"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Potencia</a:t>
            </a:r>
          </a:p>
        </p:txBody>
      </p:sp>
      <p:sp>
        <p:nvSpPr>
          <p:cNvPr id="35" name="TextBox 34"/>
          <p:cNvSpPr txBox="1"/>
          <p:nvPr/>
        </p:nvSpPr>
        <p:spPr>
          <a:xfrm>
            <a:off x="9104872" y="1975104"/>
            <a:ext cx="1163285"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Caudal</a:t>
            </a:r>
          </a:p>
        </p:txBody>
      </p:sp>
      <p:sp>
        <p:nvSpPr>
          <p:cNvPr id="36" name="TextBox 35"/>
          <p:cNvSpPr txBox="1"/>
          <p:nvPr/>
        </p:nvSpPr>
        <p:spPr>
          <a:xfrm>
            <a:off x="10505901" y="1975104"/>
            <a:ext cx="908552" cy="365760"/>
          </a:xfrm>
          <a:prstGeom prst="rect">
            <a:avLst/>
          </a:prstGeom>
          <a:noFill/>
        </p:spPr>
        <p:txBody>
          <a:bodyPr wrap="square" lIns="0" tIns="0" rIns="0" bIns="0" anchor="ctr">
            <a:spAutoFit/>
          </a:bodyPr>
          <a:lstStyle/>
          <a:p>
            <a:pPr algn="ctr">
              <a:lnSpc>
                <a:spcPct val="108000"/>
              </a:lnSpc>
              <a:spcBef>
                <a:spcPts val="0"/>
              </a:spcBef>
              <a:spcAft>
                <a:spcPts val="0"/>
              </a:spcAft>
            </a:pPr>
            <a:r>
              <a:rPr sz="1200" b="1" i="0">
                <a:solidFill>
                  <a:srgbClr val="FFFFFF"/>
                </a:solidFill>
                <a:latin typeface="Calibri"/>
              </a:rPr>
              <a:t>E/byte</a:t>
            </a:r>
          </a:p>
        </p:txBody>
      </p:sp>
      <p:sp>
        <p:nvSpPr>
          <p:cNvPr id="37" name="Rectangle 36"/>
          <p:cNvSpPr/>
          <p:nvPr/>
        </p:nvSpPr>
        <p:spPr>
          <a:xfrm>
            <a:off x="6693408" y="2340864"/>
            <a:ext cx="483991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12280" y="2340864"/>
            <a:ext cx="908552" cy="384048"/>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F2933"/>
                </a:solidFill>
                <a:latin typeface="Calibri"/>
              </a:rPr>
              <a:t>GPIO</a:t>
            </a:r>
          </a:p>
        </p:txBody>
      </p:sp>
      <p:sp>
        <p:nvSpPr>
          <p:cNvPr id="39" name="TextBox 38"/>
          <p:cNvSpPr txBox="1"/>
          <p:nvPr/>
        </p:nvSpPr>
        <p:spPr>
          <a:xfrm>
            <a:off x="7958576" y="2340864"/>
            <a:ext cx="90855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3,52 W</a:t>
            </a:r>
          </a:p>
        </p:txBody>
      </p:sp>
      <p:sp>
        <p:nvSpPr>
          <p:cNvPr id="40" name="TextBox 39"/>
          <p:cNvSpPr txBox="1"/>
          <p:nvPr/>
        </p:nvSpPr>
        <p:spPr>
          <a:xfrm>
            <a:off x="9104872" y="2340864"/>
            <a:ext cx="1163285"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20.838 B/s</a:t>
            </a:r>
          </a:p>
        </p:txBody>
      </p:sp>
      <p:sp>
        <p:nvSpPr>
          <p:cNvPr id="41" name="TextBox 40"/>
          <p:cNvSpPr txBox="1"/>
          <p:nvPr/>
        </p:nvSpPr>
        <p:spPr>
          <a:xfrm>
            <a:off x="10505901" y="2340864"/>
            <a:ext cx="90855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0" i="0">
                <a:solidFill>
                  <a:srgbClr val="1F2933"/>
                </a:solidFill>
                <a:latin typeface="Calibri"/>
              </a:rPr>
              <a:t>169 µJ</a:t>
            </a:r>
          </a:p>
        </p:txBody>
      </p:sp>
      <p:sp>
        <p:nvSpPr>
          <p:cNvPr id="42" name="Rectangle 41"/>
          <p:cNvSpPr/>
          <p:nvPr/>
        </p:nvSpPr>
        <p:spPr>
          <a:xfrm>
            <a:off x="6693408" y="2724912"/>
            <a:ext cx="4839919" cy="384048"/>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693408" y="2724912"/>
            <a:ext cx="40640" cy="384048"/>
          </a:xfrm>
          <a:prstGeom prst="rect">
            <a:avLst/>
          </a:prstGeom>
          <a:solidFill>
            <a:srgbClr val="1E6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12280" y="2724912"/>
            <a:ext cx="908552" cy="384048"/>
          </a:xfrm>
          <a:prstGeom prst="rect">
            <a:avLst/>
          </a:prstGeom>
          <a:noFill/>
        </p:spPr>
        <p:txBody>
          <a:bodyPr wrap="square" lIns="0" tIns="0" rIns="0" bIns="0" anchor="ctr">
            <a:spAutoFit/>
          </a:bodyPr>
          <a:lstStyle/>
          <a:p>
            <a:pPr algn="l">
              <a:lnSpc>
                <a:spcPct val="108000"/>
              </a:lnSpc>
              <a:spcBef>
                <a:spcPts val="0"/>
              </a:spcBef>
              <a:spcAft>
                <a:spcPts val="0"/>
              </a:spcAft>
            </a:pPr>
            <a:r>
              <a:rPr sz="1300" b="1" i="0">
                <a:solidFill>
                  <a:srgbClr val="1E63A8"/>
                </a:solidFill>
                <a:latin typeface="Calibri"/>
              </a:rPr>
              <a:t>MCDMA</a:t>
            </a:r>
          </a:p>
        </p:txBody>
      </p:sp>
      <p:sp>
        <p:nvSpPr>
          <p:cNvPr id="45" name="TextBox 44"/>
          <p:cNvSpPr txBox="1"/>
          <p:nvPr/>
        </p:nvSpPr>
        <p:spPr>
          <a:xfrm>
            <a:off x="7958576" y="2724912"/>
            <a:ext cx="90855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1" i="0">
                <a:solidFill>
                  <a:srgbClr val="1E63A8"/>
                </a:solidFill>
                <a:latin typeface="Calibri"/>
              </a:rPr>
              <a:t>3,62 W</a:t>
            </a:r>
          </a:p>
        </p:txBody>
      </p:sp>
      <p:sp>
        <p:nvSpPr>
          <p:cNvPr id="46" name="TextBox 45"/>
          <p:cNvSpPr txBox="1"/>
          <p:nvPr/>
        </p:nvSpPr>
        <p:spPr>
          <a:xfrm>
            <a:off x="9104872" y="2724912"/>
            <a:ext cx="1163285"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1" i="0">
                <a:solidFill>
                  <a:srgbClr val="1E63A8"/>
                </a:solidFill>
                <a:latin typeface="Calibri"/>
              </a:rPr>
              <a:t>68.504 B/s</a:t>
            </a:r>
          </a:p>
        </p:txBody>
      </p:sp>
      <p:sp>
        <p:nvSpPr>
          <p:cNvPr id="47" name="TextBox 46"/>
          <p:cNvSpPr txBox="1"/>
          <p:nvPr/>
        </p:nvSpPr>
        <p:spPr>
          <a:xfrm>
            <a:off x="10505901" y="2724912"/>
            <a:ext cx="908552" cy="384048"/>
          </a:xfrm>
          <a:prstGeom prst="rect">
            <a:avLst/>
          </a:prstGeom>
          <a:noFill/>
        </p:spPr>
        <p:txBody>
          <a:bodyPr wrap="square" lIns="0" tIns="0" rIns="0" bIns="0" anchor="ctr">
            <a:spAutoFit/>
          </a:bodyPr>
          <a:lstStyle/>
          <a:p>
            <a:pPr algn="ctr">
              <a:lnSpc>
                <a:spcPct val="108000"/>
              </a:lnSpc>
              <a:spcBef>
                <a:spcPts val="0"/>
              </a:spcBef>
              <a:spcAft>
                <a:spcPts val="0"/>
              </a:spcAft>
            </a:pPr>
            <a:r>
              <a:rPr sz="1300" b="1" i="0">
                <a:solidFill>
                  <a:srgbClr val="1E63A8"/>
                </a:solidFill>
                <a:latin typeface="Calibri"/>
              </a:rPr>
              <a:t>52,8 µJ</a:t>
            </a:r>
          </a:p>
        </p:txBody>
      </p:sp>
      <p:sp>
        <p:nvSpPr>
          <p:cNvPr id="48" name="TextBox 47"/>
          <p:cNvSpPr txBox="1"/>
          <p:nvPr/>
        </p:nvSpPr>
        <p:spPr>
          <a:xfrm>
            <a:off x="6693408" y="3392424"/>
            <a:ext cx="4839919" cy="2011680"/>
          </a:xfrm>
          <a:prstGeom prst="rect">
            <a:avLst/>
          </a:prstGeom>
          <a:noFill/>
        </p:spPr>
        <p:txBody>
          <a:bodyPr wrap="square" lIns="0" tIns="0" rIns="0" bIns="0" anchor="t">
            <a:spAutoFit/>
          </a:bodyPr>
          <a:lstStyle/>
          <a:p>
            <a:pPr algn="l">
              <a:lnSpc>
                <a:spcPct val="110000"/>
              </a:lnSpc>
              <a:spcBef>
                <a:spcPts val="0"/>
              </a:spcBef>
              <a:spcAft>
                <a:spcPts val="1100"/>
              </a:spcAft>
            </a:pPr>
            <a:r>
              <a:rPr sz="1300" b="1" i="0">
                <a:solidFill>
                  <a:srgbClr val="E09B2D"/>
                </a:solidFill>
                <a:latin typeface="Calibri"/>
              </a:rPr>
              <a:t>▪  </a:t>
            </a:r>
            <a:r>
              <a:rPr sz="1300" b="1" i="0">
                <a:solidFill>
                  <a:srgbClr val="12345C"/>
                </a:solidFill>
                <a:latin typeface="Calibri"/>
              </a:rPr>
              <a:t>3,2× más eficiente por byte </a:t>
            </a:r>
            <a:r>
              <a:rPr sz="1300" b="0" i="0">
                <a:solidFill>
                  <a:srgbClr val="1F2933"/>
                </a:solidFill>
                <a:latin typeface="Calibri"/>
              </a:rPr>
              <a:t>consumiendo sólo 0,10 W más (+2,8 %).</a:t>
            </a:r>
          </a:p>
          <a:p>
            <a:pPr>
              <a:lnSpc>
                <a:spcPct val="110000"/>
              </a:lnSpc>
              <a:spcBef>
                <a:spcPts val="0"/>
              </a:spcBef>
              <a:spcAft>
                <a:spcPts val="1100"/>
              </a:spcAft>
            </a:pPr>
            <a:r>
              <a:rPr sz="1300" b="1" i="0">
                <a:solidFill>
                  <a:srgbClr val="E09B2D"/>
                </a:solidFill>
                <a:latin typeface="Calibri"/>
              </a:rPr>
              <a:t>▪  </a:t>
            </a:r>
            <a:r>
              <a:rPr sz="1300" b="1" i="0">
                <a:solidFill>
                  <a:srgbClr val="12345C"/>
                </a:solidFill>
                <a:latin typeface="Calibri"/>
              </a:rPr>
              <a:t>Margen doble · </a:t>
            </a:r>
            <a:r>
              <a:rPr sz="1300" b="0" i="0">
                <a:solidFill>
                  <a:srgbClr val="1F2933"/>
                </a:solidFill>
                <a:latin typeface="Calibri"/>
              </a:rPr>
              <a:t>CPU liberada y área liberada; en un satélite con presupuesto de potencia cerrado, cada vatio de aviónica no está disponible para la carga de pago.</a:t>
            </a:r>
          </a:p>
          <a:p>
            <a:pPr>
              <a:lnSpc>
                <a:spcPct val="110000"/>
              </a:lnSpc>
              <a:spcBef>
                <a:spcPts val="0"/>
              </a:spcBef>
              <a:spcAft>
                <a:spcPts val="1100"/>
              </a:spcAft>
            </a:pPr>
            <a:r>
              <a:rPr sz="1300" b="1" i="0">
                <a:solidFill>
                  <a:srgbClr val="E09B2D"/>
                </a:solidFill>
                <a:latin typeface="Calibri"/>
              </a:rPr>
              <a:t>▪  </a:t>
            </a:r>
            <a:r>
              <a:rPr sz="1300" b="1" i="0">
                <a:solidFill>
                  <a:srgbClr val="12345C"/>
                </a:solidFill>
                <a:latin typeface="Calibri"/>
              </a:rPr>
              <a:t>Limitación · </a:t>
            </a:r>
            <a:r>
              <a:rPr sz="1300" b="0" i="0">
                <a:solidFill>
                  <a:srgbClr val="1F2933"/>
                </a:solidFill>
                <a:latin typeface="Calibri"/>
              </a:rPr>
              <a:t>cifras de potencia estimadas por el implementador de Vivado, válidas para comparar variantes entre sí, no medidas en carril.</a:t>
            </a:r>
          </a:p>
        </p:txBody>
      </p:sp>
      <p:sp>
        <p:nvSpPr>
          <p:cNvPr id="49" name="TextBox 48"/>
          <p:cNvSpPr txBox="1"/>
          <p:nvPr/>
        </p:nvSpPr>
        <p:spPr>
          <a:xfrm>
            <a:off x="658368" y="6382512"/>
            <a:ext cx="10326319" cy="256032"/>
          </a:xfrm>
          <a:prstGeom prst="rect">
            <a:avLst/>
          </a:prstGeom>
          <a:noFill/>
        </p:spPr>
        <p:txBody>
          <a:bodyPr wrap="square" lIns="0" tIns="0" rIns="0" bIns="0" anchor="t">
            <a:spAutoFit/>
          </a:bodyPr>
          <a:lstStyle/>
          <a:p>
            <a:pPr algn="l">
              <a:lnSpc>
                <a:spcPct val="108000"/>
              </a:lnSpc>
              <a:spcBef>
                <a:spcPts val="0"/>
              </a:spcBef>
              <a:spcAft>
                <a:spcPts val="0"/>
              </a:spcAft>
            </a:pPr>
            <a:r>
              <a:rPr sz="1050" b="0" i="0">
                <a:solidFill>
                  <a:srgbClr val="62707E"/>
                </a:solidFill>
                <a:latin typeface="Calibri"/>
              </a:rPr>
              <a:t>Reserva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6193</Words>
  <Application>Microsoft Office PowerPoint</Application>
  <PresentationFormat>Panorámica</PresentationFormat>
  <Paragraphs>663</Paragraphs>
  <Slides>48</Slides>
  <Notes>48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48</vt:i4>
      </vt:variant>
    </vt:vector>
  </HeadingPairs>
  <TitlesOfParts>
    <vt:vector size="52"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una plataforma de comunicación con periféricos sobre MPSoC de altas prestaciones para Ordenadores de a Bordo en sistemas espaciales</dc:title>
  <dc:subject>Trabajo Fin de Máster · ETSIT-UPM · Proyecto LINCE</dc:subject>
  <dc:creator>Jorge Alejandro Estefanía Hidalgo</dc:creator>
  <cp:keywords/>
  <dc:description>generated using python-pptx</dc:description>
  <cp:lastModifiedBy>Jorge Estefania</cp:lastModifiedBy>
  <cp:revision>1</cp:revision>
  <dcterms:created xsi:type="dcterms:W3CDTF">2013-01-27T09:14:16Z</dcterms:created>
  <dcterms:modified xsi:type="dcterms:W3CDTF">2026-09-17T21:28:20Z</dcterms:modified>
  <cp:category/>
</cp:coreProperties>
</file>